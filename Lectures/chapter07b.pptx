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82" r:id="rId2"/>
    <p:sldId id="384" r:id="rId3"/>
    <p:sldId id="385" r:id="rId4"/>
    <p:sldId id="386" r:id="rId5"/>
    <p:sldId id="387" r:id="rId6"/>
    <p:sldId id="388" r:id="rId7"/>
    <p:sldId id="389" r:id="rId8"/>
    <p:sldId id="390" r:id="rId9"/>
    <p:sldId id="394" r:id="rId10"/>
    <p:sldId id="391" r:id="rId11"/>
    <p:sldId id="392" r:id="rId12"/>
    <p:sldId id="395" r:id="rId13"/>
    <p:sldId id="396" r:id="rId14"/>
    <p:sldId id="397" r:id="rId15"/>
    <p:sldId id="398" r:id="rId16"/>
    <p:sldId id="399" r:id="rId17"/>
    <p:sldId id="4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2" d="100"/>
          <a:sy n="92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gif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DB831A-91D0-4768-AB1B-6898AFFAA49A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4EEAF3-BB5F-4EFD-83FA-A1E9BB84F7FF}">
      <dgm:prSet/>
      <dgm:spPr/>
      <dgm:t>
        <a:bodyPr/>
        <a:lstStyle/>
        <a:p>
          <a:r>
            <a:rPr lang="en-US" b="1" dirty="0"/>
            <a:t>Nonlinear</a:t>
          </a:r>
          <a:r>
            <a:rPr lang="en-US" dirty="0"/>
            <a:t>: The effect of one variable changes as a function of itself.</a:t>
          </a:r>
        </a:p>
      </dgm:t>
    </dgm:pt>
    <dgm:pt modelId="{9FF129FE-E155-4606-B1C2-5BEBA79D3AD7}" type="parTrans" cxnId="{2B9E98DA-9C7C-41B1-85E0-9F1E1C097586}">
      <dgm:prSet/>
      <dgm:spPr/>
      <dgm:t>
        <a:bodyPr/>
        <a:lstStyle/>
        <a:p>
          <a:endParaRPr lang="en-US"/>
        </a:p>
      </dgm:t>
    </dgm:pt>
    <dgm:pt modelId="{9868DB63-58FB-4054-A2ED-A8D587089FD6}" type="sibTrans" cxnId="{2B9E98DA-9C7C-41B1-85E0-9F1E1C097586}">
      <dgm:prSet/>
      <dgm:spPr/>
      <dgm:t>
        <a:bodyPr/>
        <a:lstStyle/>
        <a:p>
          <a:endParaRPr lang="en-US"/>
        </a:p>
      </dgm:t>
    </dgm:pt>
    <dgm:pt modelId="{50443389-1196-448C-935A-04FBCF0DE2BA}">
      <dgm:prSet/>
      <dgm:spPr/>
      <dgm:t>
        <a:bodyPr/>
        <a:lstStyle/>
        <a:p>
          <a:r>
            <a:rPr lang="en-US" b="1" dirty="0"/>
            <a:t>Moderated</a:t>
          </a:r>
          <a:r>
            <a:rPr lang="en-US" dirty="0"/>
            <a:t>: The effect of one variable changes as a function of another variable.</a:t>
          </a:r>
        </a:p>
      </dgm:t>
    </dgm:pt>
    <dgm:pt modelId="{D04C4AEB-9EA1-4FA9-8675-40B5692EC8DB}" type="parTrans" cxnId="{CB8C6900-B0BB-4325-8A63-C47EFE47B665}">
      <dgm:prSet/>
      <dgm:spPr/>
      <dgm:t>
        <a:bodyPr/>
        <a:lstStyle/>
        <a:p>
          <a:endParaRPr lang="en-US"/>
        </a:p>
      </dgm:t>
    </dgm:pt>
    <dgm:pt modelId="{F1E092B4-FBA4-4D6C-9A0A-D79F7F193DF8}" type="sibTrans" cxnId="{CB8C6900-B0BB-4325-8A63-C47EFE47B665}">
      <dgm:prSet/>
      <dgm:spPr/>
      <dgm:t>
        <a:bodyPr/>
        <a:lstStyle/>
        <a:p>
          <a:endParaRPr lang="en-US"/>
        </a:p>
      </dgm:t>
    </dgm:pt>
    <dgm:pt modelId="{FC0AF3BB-C192-43FF-B322-757DC95FAC33}" type="pres">
      <dgm:prSet presAssocID="{7EDB831A-91D0-4768-AB1B-6898AFFAA49A}" presName="root" presStyleCnt="0">
        <dgm:presLayoutVars>
          <dgm:dir/>
          <dgm:resizeHandles val="exact"/>
        </dgm:presLayoutVars>
      </dgm:prSet>
      <dgm:spPr/>
    </dgm:pt>
    <dgm:pt modelId="{F86FF1E2-40FF-4A67-AC24-78FDFE0FC4C2}" type="pres">
      <dgm:prSet presAssocID="{CE4EEAF3-BB5F-4EFD-83FA-A1E9BB84F7FF}" presName="compNode" presStyleCnt="0"/>
      <dgm:spPr/>
    </dgm:pt>
    <dgm:pt modelId="{451449B9-B0E7-40F0-8162-269F90845E02}" type="pres">
      <dgm:prSet presAssocID="{CE4EEAF3-BB5F-4EFD-83FA-A1E9BB84F7FF}" presName="bgRect" presStyleLbl="bgShp" presStyleIdx="0" presStyleCnt="2" custLinFactY="34181" custLinFactNeighborX="0" custLinFactNeighborY="100000"/>
      <dgm:spPr/>
    </dgm:pt>
    <dgm:pt modelId="{D43C83E6-6B4C-49C2-9EE5-533542E86D3F}" type="pres">
      <dgm:prSet presAssocID="{CE4EEAF3-BB5F-4EFD-83FA-A1E9BB84F7FF}" presName="iconRect" presStyleLbl="node1" presStyleIdx="0" presStyleCnt="2" custLinFactY="100000" custLinFactNeighborX="0" custLinFactNeighborY="14396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>
          <a:noFill/>
        </a:ln>
      </dgm:spPr>
      <dgm:extLst/>
    </dgm:pt>
    <dgm:pt modelId="{D9D64A20-2AA0-4ED7-B04C-C14EBFCA8077}" type="pres">
      <dgm:prSet presAssocID="{CE4EEAF3-BB5F-4EFD-83FA-A1E9BB84F7FF}" presName="spaceRect" presStyleCnt="0"/>
      <dgm:spPr/>
    </dgm:pt>
    <dgm:pt modelId="{D9DE4B46-2CC3-4664-8AC5-BE012378F5DA}" type="pres">
      <dgm:prSet presAssocID="{CE4EEAF3-BB5F-4EFD-83FA-A1E9BB84F7FF}" presName="parTx" presStyleLbl="revTx" presStyleIdx="0" presStyleCnt="2" custLinFactY="34181" custLinFactNeighborX="0" custLinFactNeighborY="100000">
        <dgm:presLayoutVars>
          <dgm:chMax val="0"/>
          <dgm:chPref val="0"/>
        </dgm:presLayoutVars>
      </dgm:prSet>
      <dgm:spPr/>
    </dgm:pt>
    <dgm:pt modelId="{C43596C7-557F-4E08-A0E5-1218B65774B7}" type="pres">
      <dgm:prSet presAssocID="{9868DB63-58FB-4054-A2ED-A8D587089FD6}" presName="sibTrans" presStyleCnt="0"/>
      <dgm:spPr/>
    </dgm:pt>
    <dgm:pt modelId="{4FA17327-4999-40DB-AD23-1136795F3B97}" type="pres">
      <dgm:prSet presAssocID="{50443389-1196-448C-935A-04FBCF0DE2BA}" presName="compNode" presStyleCnt="0"/>
      <dgm:spPr/>
    </dgm:pt>
    <dgm:pt modelId="{EF882030-B143-4CC8-98FB-D915B3E6102A}" type="pres">
      <dgm:prSet presAssocID="{50443389-1196-448C-935A-04FBCF0DE2BA}" presName="bgRect" presStyleLbl="bgShp" presStyleIdx="1" presStyleCnt="2" custLinFactY="-42679" custLinFactNeighborX="0" custLinFactNeighborY="-100000"/>
      <dgm:spPr/>
    </dgm:pt>
    <dgm:pt modelId="{EB298052-6B5C-410F-AB9C-09DBD861FC3B}" type="pres">
      <dgm:prSet presAssocID="{50443389-1196-448C-935A-04FBCF0DE2BA}" presName="iconRect" presStyleLbl="node1" presStyleIdx="1" presStyleCnt="2" custLinFactY="-100000" custLinFactNeighborX="-1855" custLinFactNeighborY="-15854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>
          <a:noFill/>
        </a:ln>
      </dgm:spPr>
      <dgm:extLst/>
    </dgm:pt>
    <dgm:pt modelId="{DAA85479-5207-40FC-AD68-9F3AC79F3A78}" type="pres">
      <dgm:prSet presAssocID="{50443389-1196-448C-935A-04FBCF0DE2BA}" presName="spaceRect" presStyleCnt="0"/>
      <dgm:spPr/>
    </dgm:pt>
    <dgm:pt modelId="{4201A929-F271-45EF-B380-F01BC0CB264D}" type="pres">
      <dgm:prSet presAssocID="{50443389-1196-448C-935A-04FBCF0DE2BA}" presName="parTx" presStyleLbl="revTx" presStyleIdx="1" presStyleCnt="2" custLinFactY="-42679" custLinFactNeighborX="-2090" custLinFactNeighborY="-100000">
        <dgm:presLayoutVars>
          <dgm:chMax val="0"/>
          <dgm:chPref val="0"/>
        </dgm:presLayoutVars>
      </dgm:prSet>
      <dgm:spPr/>
    </dgm:pt>
  </dgm:ptLst>
  <dgm:cxnLst>
    <dgm:cxn modelId="{CB8C6900-B0BB-4325-8A63-C47EFE47B665}" srcId="{7EDB831A-91D0-4768-AB1B-6898AFFAA49A}" destId="{50443389-1196-448C-935A-04FBCF0DE2BA}" srcOrd="1" destOrd="0" parTransId="{D04C4AEB-9EA1-4FA9-8675-40B5692EC8DB}" sibTransId="{F1E092B4-FBA4-4D6C-9A0A-D79F7F193DF8}"/>
    <dgm:cxn modelId="{5B8C2C33-B070-46CE-8D1A-2BEBC125967A}" type="presOf" srcId="{50443389-1196-448C-935A-04FBCF0DE2BA}" destId="{4201A929-F271-45EF-B380-F01BC0CB264D}" srcOrd="0" destOrd="0" presId="urn:microsoft.com/office/officeart/2018/2/layout/IconVerticalSolidList"/>
    <dgm:cxn modelId="{F3A4127D-BF56-466B-972E-93E88B6E4558}" type="presOf" srcId="{7EDB831A-91D0-4768-AB1B-6898AFFAA49A}" destId="{FC0AF3BB-C192-43FF-B322-757DC95FAC33}" srcOrd="0" destOrd="0" presId="urn:microsoft.com/office/officeart/2018/2/layout/IconVerticalSolidList"/>
    <dgm:cxn modelId="{C0E5C192-50CA-4FF5-8710-EA7A3808731F}" type="presOf" srcId="{CE4EEAF3-BB5F-4EFD-83FA-A1E9BB84F7FF}" destId="{D9DE4B46-2CC3-4664-8AC5-BE012378F5DA}" srcOrd="0" destOrd="0" presId="urn:microsoft.com/office/officeart/2018/2/layout/IconVerticalSolidList"/>
    <dgm:cxn modelId="{2B9E98DA-9C7C-41B1-85E0-9F1E1C097586}" srcId="{7EDB831A-91D0-4768-AB1B-6898AFFAA49A}" destId="{CE4EEAF3-BB5F-4EFD-83FA-A1E9BB84F7FF}" srcOrd="0" destOrd="0" parTransId="{9FF129FE-E155-4606-B1C2-5BEBA79D3AD7}" sibTransId="{9868DB63-58FB-4054-A2ED-A8D587089FD6}"/>
    <dgm:cxn modelId="{885576EE-5A90-44D9-88F0-8FF97A9DFD94}" type="presParOf" srcId="{FC0AF3BB-C192-43FF-B322-757DC95FAC33}" destId="{F86FF1E2-40FF-4A67-AC24-78FDFE0FC4C2}" srcOrd="0" destOrd="0" presId="urn:microsoft.com/office/officeart/2018/2/layout/IconVerticalSolidList"/>
    <dgm:cxn modelId="{DC4A7D23-38BA-4540-8742-6832DA8333E3}" type="presParOf" srcId="{F86FF1E2-40FF-4A67-AC24-78FDFE0FC4C2}" destId="{451449B9-B0E7-40F0-8162-269F90845E02}" srcOrd="0" destOrd="0" presId="urn:microsoft.com/office/officeart/2018/2/layout/IconVerticalSolidList"/>
    <dgm:cxn modelId="{E704EBBE-F68B-4241-BAD4-A93AF0DEFD19}" type="presParOf" srcId="{F86FF1E2-40FF-4A67-AC24-78FDFE0FC4C2}" destId="{D43C83E6-6B4C-49C2-9EE5-533542E86D3F}" srcOrd="1" destOrd="0" presId="urn:microsoft.com/office/officeart/2018/2/layout/IconVerticalSolidList"/>
    <dgm:cxn modelId="{592892A7-F4BE-4E2F-8E9B-64778D7CC147}" type="presParOf" srcId="{F86FF1E2-40FF-4A67-AC24-78FDFE0FC4C2}" destId="{D9D64A20-2AA0-4ED7-B04C-C14EBFCA8077}" srcOrd="2" destOrd="0" presId="urn:microsoft.com/office/officeart/2018/2/layout/IconVerticalSolidList"/>
    <dgm:cxn modelId="{BAE0E62E-97AB-49E0-9592-3FD9E436F740}" type="presParOf" srcId="{F86FF1E2-40FF-4A67-AC24-78FDFE0FC4C2}" destId="{D9DE4B46-2CC3-4664-8AC5-BE012378F5DA}" srcOrd="3" destOrd="0" presId="urn:microsoft.com/office/officeart/2018/2/layout/IconVerticalSolidList"/>
    <dgm:cxn modelId="{8607ECB8-2EDB-46F5-B2C1-B99E4D803169}" type="presParOf" srcId="{FC0AF3BB-C192-43FF-B322-757DC95FAC33}" destId="{C43596C7-557F-4E08-A0E5-1218B65774B7}" srcOrd="1" destOrd="0" presId="urn:microsoft.com/office/officeart/2018/2/layout/IconVerticalSolidList"/>
    <dgm:cxn modelId="{2D2BA1CA-CAE2-4127-8809-E499B1126FF6}" type="presParOf" srcId="{FC0AF3BB-C192-43FF-B322-757DC95FAC33}" destId="{4FA17327-4999-40DB-AD23-1136795F3B97}" srcOrd="2" destOrd="0" presId="urn:microsoft.com/office/officeart/2018/2/layout/IconVerticalSolidList"/>
    <dgm:cxn modelId="{15C5337A-4450-4C8E-986A-15D446C9AF95}" type="presParOf" srcId="{4FA17327-4999-40DB-AD23-1136795F3B97}" destId="{EF882030-B143-4CC8-98FB-D915B3E6102A}" srcOrd="0" destOrd="0" presId="urn:microsoft.com/office/officeart/2018/2/layout/IconVerticalSolidList"/>
    <dgm:cxn modelId="{4D51E2D9-A9AA-43D5-8488-0F9C10843638}" type="presParOf" srcId="{4FA17327-4999-40DB-AD23-1136795F3B97}" destId="{EB298052-6B5C-410F-AB9C-09DBD861FC3B}" srcOrd="1" destOrd="0" presId="urn:microsoft.com/office/officeart/2018/2/layout/IconVerticalSolidList"/>
    <dgm:cxn modelId="{0D99AA4B-2889-4A83-B46A-FEE52C6E615C}" type="presParOf" srcId="{4FA17327-4999-40DB-AD23-1136795F3B97}" destId="{DAA85479-5207-40FC-AD68-9F3AC79F3A78}" srcOrd="2" destOrd="0" presId="urn:microsoft.com/office/officeart/2018/2/layout/IconVerticalSolidList"/>
    <dgm:cxn modelId="{787D9401-0197-4FFD-A2BD-8C6EC78A718D}" type="presParOf" srcId="{4FA17327-4999-40DB-AD23-1136795F3B97}" destId="{4201A929-F271-45EF-B380-F01BC0CB26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449B9-B0E7-40F0-8162-269F90845E02}">
      <dsp:nvSpPr>
        <dsp:cNvPr id="0" name=""/>
        <dsp:cNvSpPr/>
      </dsp:nvSpPr>
      <dsp:spPr>
        <a:xfrm>
          <a:off x="0" y="3325518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43C83E6-6B4C-49C2-9EE5-533542E86D3F}">
      <dsp:nvSpPr>
        <dsp:cNvPr id="0" name=""/>
        <dsp:cNvSpPr/>
      </dsp:nvSpPr>
      <dsp:spPr>
        <a:xfrm>
          <a:off x="534102" y="3722780"/>
          <a:ext cx="971095" cy="971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DE4B46-2CC3-4664-8AC5-BE012378F5DA}">
      <dsp:nvSpPr>
        <dsp:cNvPr id="0" name=""/>
        <dsp:cNvSpPr/>
      </dsp:nvSpPr>
      <dsp:spPr>
        <a:xfrm>
          <a:off x="2039300" y="3325518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Nonlinear</a:t>
          </a:r>
          <a:r>
            <a:rPr lang="en-US" sz="2500" kern="1200" dirty="0"/>
            <a:t>: The effect of one variable changes as a function of itself.</a:t>
          </a:r>
        </a:p>
      </dsp:txBody>
      <dsp:txXfrm>
        <a:off x="2039300" y="3325518"/>
        <a:ext cx="4474303" cy="1765627"/>
      </dsp:txXfrm>
    </dsp:sp>
    <dsp:sp modelId="{EF882030-B143-4CC8-98FB-D915B3E6102A}">
      <dsp:nvSpPr>
        <dsp:cNvPr id="0" name=""/>
        <dsp:cNvSpPr/>
      </dsp:nvSpPr>
      <dsp:spPr>
        <a:xfrm>
          <a:off x="0" y="644236"/>
          <a:ext cx="65136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B298052-6B5C-410F-AB9C-09DBD861FC3B}">
      <dsp:nvSpPr>
        <dsp:cNvPr id="0" name=""/>
        <dsp:cNvSpPr/>
      </dsp:nvSpPr>
      <dsp:spPr>
        <a:xfrm>
          <a:off x="516088" y="1050012"/>
          <a:ext cx="971095" cy="97109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01A929-F271-45EF-B380-F01BC0CB264D}">
      <dsp:nvSpPr>
        <dsp:cNvPr id="0" name=""/>
        <dsp:cNvSpPr/>
      </dsp:nvSpPr>
      <dsp:spPr>
        <a:xfrm>
          <a:off x="1945787" y="644236"/>
          <a:ext cx="4474303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Moderated</a:t>
          </a:r>
          <a:r>
            <a:rPr lang="en-US" sz="2500" kern="1200" dirty="0"/>
            <a:t>: The effect of one variable changes as a function of another variable.</a:t>
          </a:r>
        </a:p>
      </dsp:txBody>
      <dsp:txXfrm>
        <a:off x="1945787" y="644236"/>
        <a:ext cx="4474303" cy="1765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2/9/2019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02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02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93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5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41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58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7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5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53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1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6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30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03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3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2/9/2019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2/9/2019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Moderated and Nonlinear Models:</a:t>
            </a:r>
            <a:br>
              <a:rPr lang="en-US" sz="5400" dirty="0"/>
            </a:br>
            <a:r>
              <a:rPr lang="en-US" sz="5400" dirty="0"/>
              <a:t>Part 2.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9382D-9FE7-42EF-A2AD-78CE8FA2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E3C8-86D4-480C-9703-CE1EF377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2293" y="6356350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5547C99B-7F2C-4E84-8128-EB3E64FAD082}" type="datetime1">
              <a:rPr lang="en-US">
                <a:solidFill>
                  <a:prstClr val="black">
                    <a:tint val="75000"/>
                  </a:prstClr>
                </a:solidFill>
              </a:rPr>
              <a:pPr algn="r">
                <a:spcAft>
                  <a:spcPts val="600"/>
                </a:spcAft>
              </a:pPr>
              <a:t>2/9/2019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FC291-8F7A-42B3-8C43-0134D6E5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6220" y="6356350"/>
            <a:ext cx="6275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11FFFE4-4E4B-40A7-A942-4F1B7E93AB5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ED1EB6D-71FE-4DBD-973F-4CA548164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53576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39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AA10-8C4D-46C3-BF41-AA9EAA11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8DD51-E48A-4426-A331-B9668663C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Nonlinear models comprise a wide category of models. This includes what are called curvilinear models and truly non-linear models.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Curvilinear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Truly non-linear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8DD51-E48A-4426-A331-B9668663C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4E2F-F040-442D-817B-7A282241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0954-41D9-426E-B29D-46A718F3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</a:t>
            </a:r>
            <a:r>
              <a:rPr lang="en-US" baseline="-25000" dirty="0"/>
              <a:t>2max</a:t>
            </a:r>
            <a:r>
              <a:rPr lang="en-US" dirty="0"/>
              <a:t> changes as a function of altitude.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14EA8-8100-4D70-BFB0-28A4D2C7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95" y="1594445"/>
            <a:ext cx="4761905" cy="476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390E5-295D-4348-93F0-5ADE64C58F01}"/>
                  </a:ext>
                </a:extLst>
              </p:cNvPr>
              <p:cNvSpPr txBox="1"/>
              <p:nvPr/>
            </p:nvSpPr>
            <p:spPr>
              <a:xfrm>
                <a:off x="838200" y="2349807"/>
                <a:ext cx="4907973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Using the ALTITUDE data, we can see how the VO</a:t>
                </a:r>
                <a:r>
                  <a:rPr lang="en-US" baseline="-25000" dirty="0"/>
                  <a:t>2max</a:t>
                </a:r>
                <a:r>
                  <a:rPr lang="en-US" dirty="0"/>
                  <a:t> of 105 athletes changed as a function of the altitude at which their VO</a:t>
                </a:r>
                <a:r>
                  <a:rPr lang="en-US" baseline="-25000" dirty="0"/>
                  <a:t>2max</a:t>
                </a:r>
                <a:r>
                  <a:rPr lang="en-US" dirty="0"/>
                  <a:t> was assessed.</a:t>
                </a:r>
              </a:p>
              <a:p>
                <a:endParaRPr lang="en-US" dirty="0"/>
              </a:p>
              <a:p>
                <a:r>
                  <a:rPr lang="en-US" dirty="0"/>
                  <a:t>If we wanted to see if the decrease changes as a linear function of altitude, that is something we are equipped to do:</a:t>
                </a:r>
              </a:p>
              <a:p>
                <a:endParaRPr lang="en-US" dirty="0"/>
              </a:p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390E5-295D-4348-93F0-5ADE64C58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9807"/>
                <a:ext cx="4907973" cy="3139321"/>
              </a:xfrm>
              <a:prstGeom prst="rect">
                <a:avLst/>
              </a:prstGeom>
              <a:blipFill>
                <a:blip r:embed="rId4"/>
                <a:stretch>
                  <a:fillRect l="-1118" t="-971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4C1224F-74B7-4436-893A-1C1FA33BC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894" y="1594444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6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-9.5185 -2.1186  0.3748  2.9344  7.2001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 0.9817     </a:t>
            </a:r>
            <a:r>
              <a:rPr lang="en-US" sz="1200" dirty="0">
                <a:latin typeface="Consolas" panose="020B0609020204030204" pitchFamily="49" charset="0"/>
              </a:rPr>
              <a:t>0.8855   1.109     0.27  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-3.4376     </a:t>
            </a:r>
            <a:r>
              <a:rPr lang="en-US" sz="1200" dirty="0">
                <a:latin typeface="Consolas" panose="020B0609020204030204" pitchFamily="49" charset="0"/>
              </a:rPr>
              <a:t>0.2616 -13.143   &lt;2e-16 ***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3.786 on 103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0.6264,	Adjusted R-squared:  0.6228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172.7 on 1 and 103 DF,  p-value: &lt; 2.2e-16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4F282A-3CBD-48BC-A726-626B7CA30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95" y="1538514"/>
            <a:ext cx="4761905" cy="4761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</a:t>
            </a:r>
            <a:r>
              <a:rPr lang="en-US" baseline="-25000" dirty="0"/>
              <a:t>2max</a:t>
            </a:r>
            <a:r>
              <a:rPr lang="en-US" dirty="0"/>
              <a:t> changes as a function of altitude.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8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VO</a:t>
            </a:r>
            <a:r>
              <a:rPr lang="en-US" baseline="-25000" dirty="0"/>
              <a:t>2max</a:t>
            </a:r>
            <a:r>
              <a:rPr lang="en-US" dirty="0"/>
              <a:t> change curvilinear?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14EA8-8100-4D70-BFB0-28A4D2C7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95" y="1594445"/>
            <a:ext cx="4761905" cy="476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390E5-295D-4348-93F0-5ADE64C58F01}"/>
                  </a:ext>
                </a:extLst>
              </p:cNvPr>
              <p:cNvSpPr txBox="1"/>
              <p:nvPr/>
            </p:nvSpPr>
            <p:spPr>
              <a:xfrm>
                <a:off x="838200" y="2349807"/>
                <a:ext cx="4907973" cy="2343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That is, is the change in VO</a:t>
                </a:r>
                <a:r>
                  <a:rPr lang="en-US" baseline="-25000" dirty="0"/>
                  <a:t>2max</a:t>
                </a:r>
                <a:r>
                  <a:rPr lang="en-US" dirty="0"/>
                  <a:t> max constant? </a:t>
                </a:r>
              </a:p>
              <a:p>
                <a:endParaRPr lang="en-US" dirty="0"/>
              </a:p>
              <a:p>
                <a:r>
                  <a:rPr lang="en-US" dirty="0"/>
                  <a:t>Or is the difference between 1 and 2km different than the different between 4 and 5km?</a:t>
                </a:r>
              </a:p>
              <a:p>
                <a:endParaRPr lang="en-US" dirty="0"/>
              </a:p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1390E5-295D-4348-93F0-5ADE64C58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9807"/>
                <a:ext cx="4907973" cy="2343975"/>
              </a:xfrm>
              <a:prstGeom prst="rect">
                <a:avLst/>
              </a:prstGeom>
              <a:blipFill>
                <a:blip r:embed="rId4"/>
                <a:stretch>
                  <a:fillRect l="-1118" t="-1299" b="-3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92B5149-C187-485E-8E6C-00A621ABF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894" y="1538514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9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94.35 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VO</a:t>
            </a:r>
            <a:r>
              <a:rPr lang="en-US" baseline="-25000" dirty="0"/>
              <a:t>2max</a:t>
            </a:r>
            <a:r>
              <a:rPr lang="en-US" dirty="0"/>
              <a:t> change curvilinear?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044A-4FB7-4DFE-BC64-8659B9FD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9" y="1630846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5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F-statistic: 94.35 </a:t>
            </a:r>
            <a:r>
              <a:rPr lang="en-US" sz="1200" dirty="0">
                <a:latin typeface="Consolas" panose="020B0609020204030204" pitchFamily="49" charset="0"/>
              </a:rPr>
              <a:t>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are being compared?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18263" y="5762495"/>
                <a:ext cx="4907973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63" y="5762495"/>
                <a:ext cx="4907973" cy="958980"/>
              </a:xfrm>
              <a:prstGeom prst="rect">
                <a:avLst/>
              </a:prstGeom>
              <a:blipFill>
                <a:blip r:embed="rId3"/>
                <a:stretch>
                  <a:fillRect l="-991" b="-81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7" idx="1"/>
            <a:endCxn id="10" idx="2"/>
          </p:cNvCxnSpPr>
          <p:nvPr/>
        </p:nvCxnSpPr>
        <p:spPr>
          <a:xfrm rot="10800000">
            <a:off x="3028765" y="5627627"/>
            <a:ext cx="1089498" cy="614358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643866" y="5283007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92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F-statistic: 94.35 </a:t>
            </a:r>
            <a:r>
              <a:rPr lang="en-US" sz="1200" dirty="0">
                <a:latin typeface="Consolas" panose="020B0609020204030204" pitchFamily="49" charset="0"/>
              </a:rPr>
              <a:t>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are being compared?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18263" y="5762495"/>
                <a:ext cx="4907973" cy="994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63" y="5762495"/>
                <a:ext cx="4907973" cy="994631"/>
              </a:xfrm>
              <a:prstGeom prst="rect">
                <a:avLst/>
              </a:prstGeom>
              <a:blipFill>
                <a:blip r:embed="rId3"/>
                <a:stretch>
                  <a:fillRect l="-991" b="-7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7" idx="1"/>
            <a:endCxn id="10" idx="2"/>
          </p:cNvCxnSpPr>
          <p:nvPr/>
        </p:nvCxnSpPr>
        <p:spPr>
          <a:xfrm rot="10800000">
            <a:off x="3028765" y="5627627"/>
            <a:ext cx="1089498" cy="63218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643866" y="5283007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1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F-statistic: 94.35 </a:t>
            </a:r>
            <a:r>
              <a:rPr lang="en-US" sz="1200" dirty="0">
                <a:latin typeface="Consolas" panose="020B0609020204030204" pitchFamily="49" charset="0"/>
              </a:rPr>
              <a:t>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are being compared?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18263" y="5762495"/>
                <a:ext cx="4907973" cy="994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63" y="5762495"/>
                <a:ext cx="4907973" cy="994631"/>
              </a:xfrm>
              <a:prstGeom prst="rect">
                <a:avLst/>
              </a:prstGeom>
              <a:blipFill>
                <a:blip r:embed="rId3"/>
                <a:stretch>
                  <a:fillRect l="-991" b="-7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7" idx="1"/>
            <a:endCxn id="10" idx="2"/>
          </p:cNvCxnSpPr>
          <p:nvPr/>
        </p:nvCxnSpPr>
        <p:spPr>
          <a:xfrm rot="10800000">
            <a:off x="3028765" y="5627627"/>
            <a:ext cx="1089498" cy="63218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643866" y="5283007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71F2E-8EE0-43F5-ACD9-04D287377AB6}"/>
                  </a:ext>
                </a:extLst>
              </p:cNvPr>
              <p:cNvSpPr txBox="1"/>
              <p:nvPr/>
            </p:nvSpPr>
            <p:spPr>
              <a:xfrm>
                <a:off x="6899563" y="4486084"/>
                <a:ext cx="4907973" cy="7176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𝑨𝑳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71F2E-8EE0-43F5-ACD9-04D28737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3" y="4486084"/>
                <a:ext cx="4907973" cy="717632"/>
              </a:xfrm>
              <a:prstGeom prst="rect">
                <a:avLst/>
              </a:prstGeom>
              <a:blipFill>
                <a:blip r:embed="rId4"/>
                <a:stretch>
                  <a:fillRect l="-991" t="-833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F819AD6-EFF9-49DC-8CE0-DA17C98FDB6E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rot="10800000">
            <a:off x="5413665" y="4378374"/>
            <a:ext cx="1485899" cy="46652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7A91B-624B-4573-8E3D-90B6F1B9BDEB}"/>
              </a:ext>
            </a:extLst>
          </p:cNvPr>
          <p:cNvSpPr/>
          <p:nvPr/>
        </p:nvSpPr>
        <p:spPr>
          <a:xfrm>
            <a:off x="643866" y="4270664"/>
            <a:ext cx="4769798" cy="2154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65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F-statistic: 94.35 </a:t>
            </a:r>
            <a:r>
              <a:rPr lang="en-US" sz="1200" dirty="0">
                <a:latin typeface="Consolas" panose="020B0609020204030204" pitchFamily="49" charset="0"/>
              </a:rPr>
              <a:t>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are being compared?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18263" y="5762495"/>
                <a:ext cx="4907973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63" y="5762495"/>
                <a:ext cx="4907973" cy="958980"/>
              </a:xfrm>
              <a:prstGeom prst="rect">
                <a:avLst/>
              </a:prstGeom>
              <a:blipFill>
                <a:blip r:embed="rId3"/>
                <a:stretch>
                  <a:fillRect l="-991" b="-81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7" idx="1"/>
            <a:endCxn id="10" idx="2"/>
          </p:cNvCxnSpPr>
          <p:nvPr/>
        </p:nvCxnSpPr>
        <p:spPr>
          <a:xfrm rot="10800000">
            <a:off x="3028765" y="5627627"/>
            <a:ext cx="1089498" cy="614358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643866" y="5283007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71F2E-8EE0-43F5-ACD9-04D287377AB6}"/>
                  </a:ext>
                </a:extLst>
              </p:cNvPr>
              <p:cNvSpPr txBox="1"/>
              <p:nvPr/>
            </p:nvSpPr>
            <p:spPr>
              <a:xfrm>
                <a:off x="6899563" y="4486084"/>
                <a:ext cx="4907973" cy="7176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𝑨𝑳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71F2E-8EE0-43F5-ACD9-04D28737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3" y="4486084"/>
                <a:ext cx="4907973" cy="717632"/>
              </a:xfrm>
              <a:prstGeom prst="rect">
                <a:avLst/>
              </a:prstGeom>
              <a:blipFill>
                <a:blip r:embed="rId4"/>
                <a:stretch>
                  <a:fillRect l="-991" t="-833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F819AD6-EFF9-49DC-8CE0-DA17C98FDB6E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rot="10800000">
            <a:off x="5413665" y="4378374"/>
            <a:ext cx="1485899" cy="46652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7A91B-624B-4573-8E3D-90B6F1B9BDEB}"/>
              </a:ext>
            </a:extLst>
          </p:cNvPr>
          <p:cNvSpPr/>
          <p:nvPr/>
        </p:nvSpPr>
        <p:spPr>
          <a:xfrm>
            <a:off x="643866" y="4270664"/>
            <a:ext cx="4769798" cy="2154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EE2DEE-DFDF-4574-BB13-6B503BF87980}"/>
                  </a:ext>
                </a:extLst>
              </p:cNvPr>
              <p:cNvSpPr txBox="1"/>
              <p:nvPr/>
            </p:nvSpPr>
            <p:spPr>
              <a:xfrm>
                <a:off x="6899562" y="3768452"/>
                <a:ext cx="4907973" cy="7176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𝑨𝑳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EE2DEE-DFDF-4574-BB13-6B503BF87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2" y="3768452"/>
                <a:ext cx="4907973" cy="717632"/>
              </a:xfrm>
              <a:prstGeom prst="rect">
                <a:avLst/>
              </a:prstGeom>
              <a:blipFill>
                <a:blip r:embed="rId5"/>
                <a:stretch>
                  <a:fillRect l="-991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729385F-06A7-40E3-BA27-69D34A3FE51D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rot="10800000" flipV="1">
            <a:off x="5413664" y="4127268"/>
            <a:ext cx="1485899" cy="4138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3ED0C4-5114-4EDA-BB0C-DEA26B2ADDEF}"/>
              </a:ext>
            </a:extLst>
          </p:cNvPr>
          <p:cNvSpPr/>
          <p:nvPr/>
        </p:nvSpPr>
        <p:spPr>
          <a:xfrm>
            <a:off x="643865" y="4060942"/>
            <a:ext cx="4769798" cy="2154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2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395972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F-statistic: 94.35 </a:t>
            </a:r>
            <a:r>
              <a:rPr lang="en-US" sz="1200" dirty="0">
                <a:latin typeface="Consolas" panose="020B0609020204030204" pitchFamily="49" charset="0"/>
              </a:rPr>
              <a:t>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models are being compared?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/>
              <p:nvPr/>
            </p:nvSpPr>
            <p:spPr>
              <a:xfrm>
                <a:off x="4118263" y="5762495"/>
                <a:ext cx="4907973" cy="9589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B4B6A-7D0C-4383-A316-96194774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263" y="5762495"/>
                <a:ext cx="4907973" cy="958980"/>
              </a:xfrm>
              <a:prstGeom prst="rect">
                <a:avLst/>
              </a:prstGeom>
              <a:blipFill>
                <a:blip r:embed="rId3"/>
                <a:stretch>
                  <a:fillRect l="-991" b="-81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5A3EC5-3311-48DE-989B-F73E0244E92A}"/>
              </a:ext>
            </a:extLst>
          </p:cNvPr>
          <p:cNvCxnSpPr>
            <a:cxnSpLocks/>
            <a:stCxn id="7" idx="1"/>
            <a:endCxn id="10" idx="2"/>
          </p:cNvCxnSpPr>
          <p:nvPr/>
        </p:nvCxnSpPr>
        <p:spPr>
          <a:xfrm rot="10800000">
            <a:off x="3028765" y="5627627"/>
            <a:ext cx="1089498" cy="614358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52CA4A6-5635-4D35-8B05-B9FB5FEA11FC}"/>
              </a:ext>
            </a:extLst>
          </p:cNvPr>
          <p:cNvSpPr/>
          <p:nvPr/>
        </p:nvSpPr>
        <p:spPr>
          <a:xfrm>
            <a:off x="643866" y="5283007"/>
            <a:ext cx="4769798" cy="3446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71F2E-8EE0-43F5-ACD9-04D287377AB6}"/>
                  </a:ext>
                </a:extLst>
              </p:cNvPr>
              <p:cNvSpPr txBox="1"/>
              <p:nvPr/>
            </p:nvSpPr>
            <p:spPr>
              <a:xfrm>
                <a:off x="6899563" y="4486084"/>
                <a:ext cx="4907973" cy="7176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𝑨𝑳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F71F2E-8EE0-43F5-ACD9-04D28737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3" y="4486084"/>
                <a:ext cx="4907973" cy="717632"/>
              </a:xfrm>
              <a:prstGeom prst="rect">
                <a:avLst/>
              </a:prstGeom>
              <a:blipFill>
                <a:blip r:embed="rId4"/>
                <a:stretch>
                  <a:fillRect l="-991" t="-833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F819AD6-EFF9-49DC-8CE0-DA17C98FDB6E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rot="10800000">
            <a:off x="5413665" y="4378374"/>
            <a:ext cx="1485899" cy="46652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7A91B-624B-4573-8E3D-90B6F1B9BDEB}"/>
              </a:ext>
            </a:extLst>
          </p:cNvPr>
          <p:cNvSpPr/>
          <p:nvPr/>
        </p:nvSpPr>
        <p:spPr>
          <a:xfrm>
            <a:off x="643866" y="4270664"/>
            <a:ext cx="4769798" cy="2154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EE2DEE-DFDF-4574-BB13-6B503BF87980}"/>
                  </a:ext>
                </a:extLst>
              </p:cNvPr>
              <p:cNvSpPr txBox="1"/>
              <p:nvPr/>
            </p:nvSpPr>
            <p:spPr>
              <a:xfrm>
                <a:off x="6899562" y="3768452"/>
                <a:ext cx="4907973" cy="7176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𝑨𝑳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EE2DEE-DFDF-4574-BB13-6B503BF87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2" y="3768452"/>
                <a:ext cx="4907973" cy="717632"/>
              </a:xfrm>
              <a:prstGeom prst="rect">
                <a:avLst/>
              </a:prstGeom>
              <a:blipFill>
                <a:blip r:embed="rId5"/>
                <a:stretch>
                  <a:fillRect l="-991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729385F-06A7-40E3-BA27-69D34A3FE51D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rot="10800000" flipV="1">
            <a:off x="5413664" y="4127268"/>
            <a:ext cx="1485899" cy="4138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3ED0C4-5114-4EDA-BB0C-DEA26B2ADDEF}"/>
              </a:ext>
            </a:extLst>
          </p:cNvPr>
          <p:cNvSpPr/>
          <p:nvPr/>
        </p:nvSpPr>
        <p:spPr>
          <a:xfrm>
            <a:off x="643865" y="4060942"/>
            <a:ext cx="4769798" cy="2154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E288F3-F6F9-4309-8913-9328EA5002DC}"/>
                  </a:ext>
                </a:extLst>
              </p:cNvPr>
              <p:cNvSpPr txBox="1"/>
              <p:nvPr/>
            </p:nvSpPr>
            <p:spPr>
              <a:xfrm>
                <a:off x="6899562" y="3056994"/>
                <a:ext cx="4907973" cy="7176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𝐴𝐿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E288F3-F6F9-4309-8913-9328EA500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562" y="3056994"/>
                <a:ext cx="4907973" cy="717632"/>
              </a:xfrm>
              <a:prstGeom prst="rect">
                <a:avLst/>
              </a:prstGeom>
              <a:blipFill>
                <a:blip r:embed="rId6"/>
                <a:stretch>
                  <a:fillRect l="-991" b="-1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73E1D48-C0F2-4BE5-A09F-A517086B4665}"/>
              </a:ext>
            </a:extLst>
          </p:cNvPr>
          <p:cNvCxnSpPr>
            <a:cxnSpLocks/>
            <a:stCxn id="15" idx="1"/>
            <a:endCxn id="20" idx="3"/>
          </p:cNvCxnSpPr>
          <p:nvPr/>
        </p:nvCxnSpPr>
        <p:spPr>
          <a:xfrm rot="10800000" flipV="1">
            <a:off x="5413664" y="3415810"/>
            <a:ext cx="1485899" cy="54989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FCF9A4-F82C-4A5C-89DC-FB1F0D1F95B9}"/>
              </a:ext>
            </a:extLst>
          </p:cNvPr>
          <p:cNvSpPr/>
          <p:nvPr/>
        </p:nvSpPr>
        <p:spPr>
          <a:xfrm>
            <a:off x="643865" y="3857992"/>
            <a:ext cx="4769798" cy="21542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62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38086F-3CF1-472E-9D6C-54E7E43F43C8}"/>
              </a:ext>
            </a:extLst>
          </p:cNvPr>
          <p:cNvSpPr txBox="1"/>
          <p:nvPr/>
        </p:nvSpPr>
        <p:spPr>
          <a:xfrm>
            <a:off x="643866" y="2717168"/>
            <a:ext cx="5452134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lm</a:t>
            </a:r>
            <a:r>
              <a:rPr lang="en-US" sz="1200" dirty="0">
                <a:latin typeface="Consolas" panose="020B0609020204030204" pitchFamily="49" charset="0"/>
              </a:rPr>
              <a:t>(formula = decrease ~ </a:t>
            </a:r>
            <a:r>
              <a:rPr lang="en-US" sz="1200" dirty="0" err="1">
                <a:latin typeface="Consolas" panose="020B0609020204030204" pitchFamily="49" charset="0"/>
              </a:rPr>
              <a:t>alt_km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alt_km_sq</a:t>
            </a:r>
            <a:r>
              <a:rPr lang="en-US" sz="1200" dirty="0">
                <a:latin typeface="Consolas" panose="020B0609020204030204" pitchFamily="49" charset="0"/>
              </a:rPr>
              <a:t>, data = </a:t>
            </a:r>
            <a:r>
              <a:rPr lang="en-US" sz="1200" dirty="0" err="1">
                <a:latin typeface="Consolas" panose="020B0609020204030204" pitchFamily="49" charset="0"/>
              </a:rPr>
              <a:t>dat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Min      1Q  Median      3Q     Max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-9.3091 -2.4191  0.9296  2.4161  7.0271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        Estimate Std. Error t value </a:t>
            </a:r>
            <a:r>
              <a:rPr lang="en-US" sz="1200" dirty="0" err="1">
                <a:latin typeface="Consolas" panose="020B0609020204030204" pitchFamily="49" charset="0"/>
              </a:rPr>
              <a:t>Pr</a:t>
            </a:r>
            <a:r>
              <a:rPr lang="en-US" sz="1200" dirty="0">
                <a:latin typeface="Consolas" panose="020B0609020204030204" pitchFamily="49" charset="0"/>
              </a:rPr>
              <a:t>(&gt;|t|)  </a:t>
            </a:r>
          </a:p>
          <a:p>
            <a:r>
              <a:rPr lang="en-US" sz="1200" b="1" dirty="0">
                <a:latin typeface="Consolas" panose="020B0609020204030204" pitchFamily="49" charset="0"/>
              </a:rPr>
              <a:t>(Intercept)  -2.2708     </a:t>
            </a:r>
            <a:r>
              <a:rPr lang="en-US" sz="1200" dirty="0">
                <a:latin typeface="Consolas" panose="020B0609020204030204" pitchFamily="49" charset="0"/>
              </a:rPr>
              <a:t>1.5327  -1.482   0.1415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</a:t>
            </a:r>
            <a:r>
              <a:rPr lang="en-US" sz="1200" b="1" dirty="0">
                <a:latin typeface="Consolas" panose="020B0609020204030204" pitchFamily="49" charset="0"/>
              </a:rPr>
              <a:t>       -0.6921     </a:t>
            </a:r>
            <a:r>
              <a:rPr lang="en-US" sz="1200" dirty="0">
                <a:latin typeface="Consolas" panose="020B0609020204030204" pitchFamily="49" charset="0"/>
              </a:rPr>
              <a:t>1.0994  -0.630   0.5304  </a:t>
            </a:r>
          </a:p>
          <a:p>
            <a:r>
              <a:rPr lang="en-US" sz="1200" b="1" dirty="0" err="1">
                <a:latin typeface="Consolas" panose="020B0609020204030204" pitchFamily="49" charset="0"/>
              </a:rPr>
              <a:t>alt_km_sq</a:t>
            </a:r>
            <a:r>
              <a:rPr lang="en-US" sz="1200" b="1" dirty="0">
                <a:latin typeface="Consolas" panose="020B0609020204030204" pitchFamily="49" charset="0"/>
              </a:rPr>
              <a:t>    -0.4532     </a:t>
            </a:r>
            <a:r>
              <a:rPr lang="en-US" sz="1200" dirty="0">
                <a:latin typeface="Consolas" panose="020B0609020204030204" pitchFamily="49" charset="0"/>
              </a:rPr>
              <a:t>0.1766  -2.567   0.0117 *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---</a:t>
            </a:r>
          </a:p>
          <a:p>
            <a:r>
              <a:rPr lang="en-US" sz="1200" dirty="0" err="1">
                <a:latin typeface="Consolas" panose="020B0609020204030204" pitchFamily="49" charset="0"/>
              </a:rPr>
              <a:t>Signif</a:t>
            </a:r>
            <a:r>
              <a:rPr lang="en-US" sz="1200" dirty="0">
                <a:latin typeface="Consolas" panose="020B060902020403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Residual standard error: 3.687 on 102 degrees of freedom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Multiple R-squared:  0.6491,	Adjusted R-squared:  0.6422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F-statistic: 94.35 on 2 and 102 DF,  p-value: &lt; 2.2e-16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interpret the parameters?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044A-4FB7-4DFE-BC64-8659B9FD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9" y="1630846"/>
            <a:ext cx="4761905" cy="476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/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blipFill>
                <a:blip r:embed="rId4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960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interpret the parameters?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044A-4FB7-4DFE-BC64-8659B9FD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9" y="1630846"/>
            <a:ext cx="4761905" cy="476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/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blipFill>
                <a:blip r:embed="rId4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8D3C8-4510-4C6E-9313-4E2A8A812DE9}"/>
                  </a:ext>
                </a:extLst>
              </p:cNvPr>
              <p:cNvSpPr txBox="1"/>
              <p:nvPr/>
            </p:nvSpPr>
            <p:spPr>
              <a:xfrm>
                <a:off x="643866" y="2578668"/>
                <a:ext cx="4587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8D3C8-4510-4C6E-9313-4E2A8A812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66" y="2578668"/>
                <a:ext cx="4587089" cy="276999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EC42-A691-4E04-85F3-5959C169D678}"/>
                  </a:ext>
                </a:extLst>
              </p:cNvPr>
              <p:cNvSpPr txBox="1"/>
              <p:nvPr/>
            </p:nvSpPr>
            <p:spPr>
              <a:xfrm>
                <a:off x="716602" y="3074082"/>
                <a:ext cx="18716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EC42-A691-4E04-85F3-5959C169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2" y="3074082"/>
                <a:ext cx="1871603" cy="276999"/>
              </a:xfrm>
              <a:prstGeom prst="rect">
                <a:avLst/>
              </a:prstGeom>
              <a:blipFill>
                <a:blip r:embed="rId6"/>
                <a:stretch>
                  <a:fillRect l="-2606" r="-97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iamond 10">
            <a:extLst>
              <a:ext uri="{FF2B5EF4-FFF2-40B4-BE49-F238E27FC236}">
                <a16:creationId xmlns:a16="http://schemas.microsoft.com/office/drawing/2014/main" id="{AE72001A-E4E7-472C-91F3-6B9D9E768867}"/>
              </a:ext>
            </a:extLst>
          </p:cNvPr>
          <p:cNvSpPr/>
          <p:nvPr/>
        </p:nvSpPr>
        <p:spPr>
          <a:xfrm>
            <a:off x="7408718" y="2561303"/>
            <a:ext cx="228600" cy="228600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20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interpret the parameters?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044A-4FB7-4DFE-BC64-8659B9FD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9" y="1630846"/>
            <a:ext cx="4761905" cy="476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/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blipFill>
                <a:blip r:embed="rId4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8D3C8-4510-4C6E-9313-4E2A8A812DE9}"/>
                  </a:ext>
                </a:extLst>
              </p:cNvPr>
              <p:cNvSpPr txBox="1"/>
              <p:nvPr/>
            </p:nvSpPr>
            <p:spPr>
              <a:xfrm>
                <a:off x="643866" y="2578668"/>
                <a:ext cx="4587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8D3C8-4510-4C6E-9313-4E2A8A812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66" y="2578668"/>
                <a:ext cx="4587089" cy="276999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EC42-A691-4E04-85F3-5959C169D678}"/>
                  </a:ext>
                </a:extLst>
              </p:cNvPr>
              <p:cNvSpPr txBox="1"/>
              <p:nvPr/>
            </p:nvSpPr>
            <p:spPr>
              <a:xfrm>
                <a:off x="716602" y="3074082"/>
                <a:ext cx="18716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−5.4678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EC42-A691-4E04-85F3-5959C169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2" y="3074082"/>
                <a:ext cx="1871602" cy="276999"/>
              </a:xfrm>
              <a:prstGeom prst="rect">
                <a:avLst/>
              </a:prstGeom>
              <a:blipFill>
                <a:blip r:embed="rId6"/>
                <a:stretch>
                  <a:fillRect l="-2606" r="-97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iamond 10">
            <a:extLst>
              <a:ext uri="{FF2B5EF4-FFF2-40B4-BE49-F238E27FC236}">
                <a16:creationId xmlns:a16="http://schemas.microsoft.com/office/drawing/2014/main" id="{AE72001A-E4E7-472C-91F3-6B9D9E768867}"/>
              </a:ext>
            </a:extLst>
          </p:cNvPr>
          <p:cNvSpPr/>
          <p:nvPr/>
        </p:nvSpPr>
        <p:spPr>
          <a:xfrm>
            <a:off x="8453106" y="2862890"/>
            <a:ext cx="228600" cy="228600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9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C7D4-C5D9-4240-9382-5A54B2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interpret the parameters?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CEC6-3F99-4D44-B553-476A45C6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2/9/2019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F7FFE-9BF9-4CE6-9F9C-217FD5DE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1044A-4FB7-4DFE-BC64-8659B9FD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229" y="1630846"/>
            <a:ext cx="4761905" cy="4761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/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𝐴𝐿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CD9E9-EF06-4AD6-86EB-8777DE58E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66" y="2047603"/>
                <a:ext cx="5292924" cy="312650"/>
              </a:xfrm>
              <a:prstGeom prst="rect">
                <a:avLst/>
              </a:prstGeom>
              <a:blipFill>
                <a:blip r:embed="rId4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8D3C8-4510-4C6E-9313-4E2A8A812DE9}"/>
                  </a:ext>
                </a:extLst>
              </p:cNvPr>
              <p:cNvSpPr txBox="1"/>
              <p:nvPr/>
            </p:nvSpPr>
            <p:spPr>
              <a:xfrm>
                <a:off x="716602" y="2578668"/>
                <a:ext cx="4587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−2.2708−0.6921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−0.4532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38D3C8-4510-4C6E-9313-4E2A8A812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2" y="2578668"/>
                <a:ext cx="4587089" cy="276999"/>
              </a:xfrm>
              <a:prstGeom prst="rect">
                <a:avLst/>
              </a:prstGeom>
              <a:blipFill>
                <a:blip r:embed="rId5"/>
                <a:stretch>
                  <a:fillRect l="-931" r="-26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EC42-A691-4E04-85F3-5959C169D678}"/>
                  </a:ext>
                </a:extLst>
              </p:cNvPr>
              <p:cNvSpPr txBox="1"/>
              <p:nvPr/>
            </p:nvSpPr>
            <p:spPr>
              <a:xfrm>
                <a:off x="716602" y="3074082"/>
                <a:ext cx="19998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−12.2904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EC42-A691-4E04-85F3-5959C169D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02" y="3074082"/>
                <a:ext cx="1999843" cy="276999"/>
              </a:xfrm>
              <a:prstGeom prst="rect">
                <a:avLst/>
              </a:prstGeom>
              <a:blipFill>
                <a:blip r:embed="rId6"/>
                <a:stretch>
                  <a:fillRect l="-2439" r="-915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iamond 10">
            <a:extLst>
              <a:ext uri="{FF2B5EF4-FFF2-40B4-BE49-F238E27FC236}">
                <a16:creationId xmlns:a16="http://schemas.microsoft.com/office/drawing/2014/main" id="{AE72001A-E4E7-472C-91F3-6B9D9E768867}"/>
              </a:ext>
            </a:extLst>
          </p:cNvPr>
          <p:cNvSpPr/>
          <p:nvPr/>
        </p:nvSpPr>
        <p:spPr>
          <a:xfrm>
            <a:off x="9795163" y="3587100"/>
            <a:ext cx="228600" cy="228600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6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4564-4D21-4A04-BA42-86A87BC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 for the full model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232C8C-EC43-4327-8181-28F9CC0674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657301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623427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686214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059849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620309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950512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41151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F_obs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</a:t>
                      </a:r>
                      <a:r>
                        <a:rPr lang="en-US" dirty="0"/>
                        <a:t>(&gt;</a:t>
                      </a:r>
                      <a:r>
                        <a:rPr lang="en-US" dirty="0" err="1"/>
                        <a:t>F_obs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2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0.141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34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Alt 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6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Alt^2 (km^2)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4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Residuals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1386.74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8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1511.56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361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3A449-1D67-44D6-8917-76DB6FDE6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2/9/2019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163DA-0CD0-4019-8994-E9B2C7AB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3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1688</Words>
  <Application>Microsoft Office PowerPoint</Application>
  <PresentationFormat>Widescreen</PresentationFormat>
  <Paragraphs>298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Consolas</vt:lpstr>
      <vt:lpstr>Office Theme</vt:lpstr>
      <vt:lpstr>Moderated and Nonlinear Models: Part 2.</vt:lpstr>
      <vt:lpstr>Definitions</vt:lpstr>
      <vt:lpstr>Nonlinear Models</vt:lpstr>
      <vt:lpstr>VO2max changes as a function of altitude.</vt:lpstr>
      <vt:lpstr>VO2max changes as a function of altitude.</vt:lpstr>
      <vt:lpstr>Is the VO2max change curvilinear?</vt:lpstr>
      <vt:lpstr>Is the VO2max change curvilinear?</vt:lpstr>
      <vt:lpstr>Which models are being compared?</vt:lpstr>
      <vt:lpstr>Which models are being compared?</vt:lpstr>
      <vt:lpstr>Which models are being compared?</vt:lpstr>
      <vt:lpstr>Which models are being compared?</vt:lpstr>
      <vt:lpstr>Which models are being compared?</vt:lpstr>
      <vt:lpstr>How do we interpret the parameters?</vt:lpstr>
      <vt:lpstr>How do we interpret the parameters?</vt:lpstr>
      <vt:lpstr>How do we interpret the parameters?</vt:lpstr>
      <vt:lpstr>How do we interpret the parameters?</vt:lpstr>
      <vt:lpstr>ANOVA table for the full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13</cp:revision>
  <dcterms:created xsi:type="dcterms:W3CDTF">2019-02-09T14:44:07Z</dcterms:created>
  <dcterms:modified xsi:type="dcterms:W3CDTF">2019-02-10T00:34:26Z</dcterms:modified>
</cp:coreProperties>
</file>
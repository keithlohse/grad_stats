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82" r:id="rId2"/>
    <p:sldId id="383" r:id="rId3"/>
    <p:sldId id="384" r:id="rId4"/>
    <p:sldId id="385" r:id="rId5"/>
    <p:sldId id="386" r:id="rId6"/>
    <p:sldId id="387" r:id="rId7"/>
    <p:sldId id="392" r:id="rId8"/>
    <p:sldId id="388" r:id="rId9"/>
    <p:sldId id="389" r:id="rId10"/>
    <p:sldId id="390" r:id="rId11"/>
    <p:sldId id="39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C000"/>
    <a:srgbClr val="FFFFFF"/>
    <a:srgbClr val="4472C4"/>
    <a:srgbClr val="FF9797"/>
    <a:srgbClr val="A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84424" autoAdjust="0"/>
  </p:normalViewPr>
  <p:slideViewPr>
    <p:cSldViewPr snapToGrid="0">
      <p:cViewPr varScale="1">
        <p:scale>
          <a:sx n="54" d="100"/>
          <a:sy n="54" d="100"/>
        </p:scale>
        <p:origin x="612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25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76DDE-75BB-4B04-A0BD-5C17E33DC40E}" type="datetimeFigureOut">
              <a:rPr lang="en-US" smtClean="0"/>
              <a:t>3/22/2020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7B62B-0753-4BDE-90F4-CDED710DE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86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73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35159-1569-4725-8240-147E9051E8B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2494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35159-1569-4725-8240-147E9051E8B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4743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35159-1569-4725-8240-147E9051E8B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197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B63A-1390-4120-94EB-00092381E02F}" type="datetime1">
              <a:rPr lang="en-US" smtClean="0"/>
              <a:t>3/22/2020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65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3/22/2020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30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6FB65-6EAB-49E5-A1DB-3E80C39C53B8}" type="datetime1">
              <a:rPr lang="en-US" smtClean="0"/>
              <a:t>3/22/2020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23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224-D20E-45FC-AB47-7036B7429E06}" type="datetime1">
              <a:rPr lang="en-US" smtClean="0"/>
              <a:t>3/22/2020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35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4B67A-60ED-4797-943A-55D5CD883011}" type="datetime1">
              <a:rPr lang="en-US" smtClean="0"/>
              <a:t>3/22/2020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28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3/22/2020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5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C5B5-E9BF-4312-938F-57F5458B9411}" type="datetime1">
              <a:rPr lang="en-US" smtClean="0"/>
              <a:t>3/22/2020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04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61C03-418D-427D-912F-3A80D46B024B}" type="datetime1">
              <a:rPr lang="en-US" smtClean="0"/>
              <a:t>3/22/2020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93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C2541-89D1-43A5-9247-9C9B7AE89E66}" type="datetime1">
              <a:rPr lang="en-US" smtClean="0"/>
              <a:t>3/22/2020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52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A8DF6-2286-4D85-88A8-00AC199A2C34}" type="datetime1">
              <a:rPr lang="en-US" smtClean="0"/>
              <a:t>3/22/2020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04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0AFB-8BB9-4422-BB79-0EF175454CED}" type="datetime1">
              <a:rPr lang="en-US" smtClean="0"/>
              <a:t>3/22/2020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7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17F07-1C55-41A1-B81A-75CAA13E3CFD}" type="datetime1">
              <a:rPr lang="en-US" smtClean="0"/>
              <a:t>3/22/2020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271849" cy="685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323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22" y="-12033"/>
            <a:ext cx="11916578" cy="478348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5421" y="4120308"/>
            <a:ext cx="11914632" cy="27376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7316" y="1027966"/>
            <a:ext cx="11421410" cy="1771839"/>
          </a:xfrm>
          <a:solidFill>
            <a:srgbClr val="FFFFFF">
              <a:alpha val="50196"/>
            </a:srgbClr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r>
              <a:rPr lang="en-US" sz="5400" dirty="0" smtClean="0"/>
              <a:t>Non-Independence in </a:t>
            </a:r>
            <a:r>
              <a:rPr lang="en-US" sz="5400" smtClean="0"/>
              <a:t>Nested Designs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7316" y="4313760"/>
            <a:ext cx="9144000" cy="2302208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Keith Lohse, PhD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Assistant Professor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Health, Kinesiology, and Recreation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Physical Therapy and Athletic Training</a:t>
            </a:r>
          </a:p>
          <a:p>
            <a:pPr algn="l"/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University of Utah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</a:t>
            </a:fld>
            <a:endParaRPr lang="en-US"/>
          </a:p>
        </p:txBody>
      </p:sp>
      <p:sp>
        <p:nvSpPr>
          <p:cNvPr id="7" name="AutoShape 2" descr="Image result for utah college of health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7336B5-4F30-4282-9AE3-C49F61A3C5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484" y="5747288"/>
            <a:ext cx="2626242" cy="868680"/>
          </a:xfrm>
          <a:prstGeom prst="rect">
            <a:avLst/>
          </a:prstGeom>
        </p:spPr>
      </p:pic>
      <p:pic>
        <p:nvPicPr>
          <p:cNvPr id="12" name="Picture 2" descr="Image result for email logo png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314251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9091581" y="4358185"/>
            <a:ext cx="2960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keith.lohse@health.utah.edu</a:t>
            </a:r>
          </a:p>
        </p:txBody>
      </p:sp>
      <p:pic>
        <p:nvPicPr>
          <p:cNvPr id="14" name="Picture 4" descr="Image result for twitter logo png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815385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9091581" y="4859319"/>
            <a:ext cx="1525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@</a:t>
            </a:r>
            <a:r>
              <a:rPr lang="en-US" dirty="0" err="1"/>
              <a:t>keith_lohse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738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Non-independence in a nested example.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936434" y="2005023"/>
          <a:ext cx="10417365" cy="326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8195">
                  <a:extLst>
                    <a:ext uri="{9D8B030D-6E8A-4147-A177-3AD203B41FA5}">
                      <a16:colId xmlns:a16="http://schemas.microsoft.com/office/drawing/2014/main" val="27676538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3976971883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3706558043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1286376494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3905305623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3455820828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4039945938"/>
                    </a:ext>
                  </a:extLst>
                </a:gridCol>
              </a:tblGrid>
              <a:tr h="316717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Instructions (j)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606265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Competition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No Competition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95036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1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2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3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4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5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6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743855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hij</a:t>
                      </a:r>
                      <a:endParaRPr lang="en-US" sz="16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00791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hij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07945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hij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197495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Group Mean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6.33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7.67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5.67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6.67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4.67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546152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Condition Means</a:t>
                      </a:r>
                      <a:endParaRPr lang="en-US" sz="1600" b="1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7.33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5.67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492614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Grand Mean</a:t>
                      </a:r>
                      <a:endParaRPr lang="en-US" sz="1600" b="1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6.50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86465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1765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Non-independence in a nested example.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936435" y="1443163"/>
          <a:ext cx="10417365" cy="326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8195">
                  <a:extLst>
                    <a:ext uri="{9D8B030D-6E8A-4147-A177-3AD203B41FA5}">
                      <a16:colId xmlns:a16="http://schemas.microsoft.com/office/drawing/2014/main" val="27676538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3976971883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3706558043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1286376494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3905305623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3455820828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4039945938"/>
                    </a:ext>
                  </a:extLst>
                </a:gridCol>
              </a:tblGrid>
              <a:tr h="316717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Instructions (j)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606265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Competition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No Competition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95036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1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2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3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4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5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6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743855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hij</a:t>
                      </a:r>
                      <a:endParaRPr lang="en-US" sz="16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00791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hij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07945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hij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197495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Group Mean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6.33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7.67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5.67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6.67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4.67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546152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Condition Means</a:t>
                      </a:r>
                      <a:endParaRPr lang="en-US" sz="1600" b="1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7.33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5.67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492614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Grand Mean</a:t>
                      </a:r>
                      <a:endParaRPr lang="en-US" sz="1600" b="1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6.50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8646515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936435" y="4776721"/>
          <a:ext cx="587811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0706">
                  <a:extLst>
                    <a:ext uri="{9D8B030D-6E8A-4147-A177-3AD203B41FA5}">
                      <a16:colId xmlns:a16="http://schemas.microsoft.com/office/drawing/2014/main" val="1969666356"/>
                    </a:ext>
                  </a:extLst>
                </a:gridCol>
                <a:gridCol w="1957593">
                  <a:extLst>
                    <a:ext uri="{9D8B030D-6E8A-4147-A177-3AD203B41FA5}">
                      <a16:colId xmlns:a16="http://schemas.microsoft.com/office/drawing/2014/main" val="1615646994"/>
                    </a:ext>
                  </a:extLst>
                </a:gridCol>
                <a:gridCol w="1429811">
                  <a:extLst>
                    <a:ext uri="{9D8B030D-6E8A-4147-A177-3AD203B41FA5}">
                      <a16:colId xmlns:a16="http://schemas.microsoft.com/office/drawing/2014/main" val="2086035278"/>
                    </a:ext>
                  </a:extLst>
                </a:gridCol>
              </a:tblGrid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Source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df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88585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Condition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12.50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188931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Error Between Groups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10.67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22124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 Between Groups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23.17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101678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 Within</a:t>
                      </a:r>
                      <a:r>
                        <a:rPr lang="en-US" sz="1600" baseline="0" dirty="0" smtClean="0"/>
                        <a:t> Group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5.33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12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3471128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28.50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17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12824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987229" y="6191480"/>
            <a:ext cx="3563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Remember, h = </a:t>
            </a:r>
            <a:r>
              <a:rPr lang="en-US" i="1" dirty="0" smtClean="0"/>
              <a:t>individual</a:t>
            </a:r>
            <a:r>
              <a:rPr lang="en-US" dirty="0" smtClean="0"/>
              <a:t>, </a:t>
            </a:r>
            <a:r>
              <a:rPr lang="en-US" dirty="0" err="1" smtClean="0"/>
              <a:t>i</a:t>
            </a:r>
            <a:r>
              <a:rPr lang="en-US" dirty="0" smtClean="0"/>
              <a:t> = </a:t>
            </a:r>
            <a:r>
              <a:rPr lang="en-US" i="1" dirty="0" smtClean="0"/>
              <a:t>group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945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Non-independence in a nested example.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936435" y="1443163"/>
          <a:ext cx="10417365" cy="326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8195">
                  <a:extLst>
                    <a:ext uri="{9D8B030D-6E8A-4147-A177-3AD203B41FA5}">
                      <a16:colId xmlns:a16="http://schemas.microsoft.com/office/drawing/2014/main" val="27676538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3976971883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3706558043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1286376494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3905305623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3455820828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4039945938"/>
                    </a:ext>
                  </a:extLst>
                </a:gridCol>
              </a:tblGrid>
              <a:tr h="316717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Instructions (j)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606265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Competition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No Competition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95036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1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2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3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4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5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6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743855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hij</a:t>
                      </a:r>
                      <a:endParaRPr lang="en-US" sz="16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00791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hij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07945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hij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197495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Group Mean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6.33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7.67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5.67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6.67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4.67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546152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Condition Means</a:t>
                      </a:r>
                      <a:endParaRPr lang="en-US" sz="1600" b="1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7.33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5.67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492614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Grand Mean</a:t>
                      </a:r>
                      <a:endParaRPr lang="en-US" sz="1600" b="1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6.50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8646515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936435" y="4776721"/>
          <a:ext cx="587811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0706">
                  <a:extLst>
                    <a:ext uri="{9D8B030D-6E8A-4147-A177-3AD203B41FA5}">
                      <a16:colId xmlns:a16="http://schemas.microsoft.com/office/drawing/2014/main" val="1969666356"/>
                    </a:ext>
                  </a:extLst>
                </a:gridCol>
                <a:gridCol w="1957593">
                  <a:extLst>
                    <a:ext uri="{9D8B030D-6E8A-4147-A177-3AD203B41FA5}">
                      <a16:colId xmlns:a16="http://schemas.microsoft.com/office/drawing/2014/main" val="1615646994"/>
                    </a:ext>
                  </a:extLst>
                </a:gridCol>
                <a:gridCol w="1429811">
                  <a:extLst>
                    <a:ext uri="{9D8B030D-6E8A-4147-A177-3AD203B41FA5}">
                      <a16:colId xmlns:a16="http://schemas.microsoft.com/office/drawing/2014/main" val="2086035278"/>
                    </a:ext>
                  </a:extLst>
                </a:gridCol>
              </a:tblGrid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Source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df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88585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Condition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188931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Error Between Groups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22124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 Between Groups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101678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 Within</a:t>
                      </a:r>
                      <a:r>
                        <a:rPr lang="en-US" sz="1600" baseline="0" dirty="0" smtClean="0"/>
                        <a:t> Group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3471128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28.50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17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128247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2390660" y="2445745"/>
            <a:ext cx="8963140" cy="101355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6544019" y="4351662"/>
            <a:ext cx="661012" cy="352861"/>
          </a:xfrm>
          <a:prstGeom prst="round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560106" y="4991756"/>
                <a:ext cx="1346010" cy="670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h𝑖𝑗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̿"/>
                                  <m:ctrlP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acc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0106" y="4991756"/>
                <a:ext cx="1346010" cy="6707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7489473" y="5782561"/>
            <a:ext cx="3487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Remember, h = </a:t>
            </a:r>
            <a:r>
              <a:rPr lang="en-US" i="1" dirty="0" smtClean="0"/>
              <a:t>individual,</a:t>
            </a:r>
            <a:r>
              <a:rPr lang="en-US" dirty="0" smtClean="0"/>
              <a:t> i = </a:t>
            </a:r>
            <a:r>
              <a:rPr lang="en-US" i="1" dirty="0" smtClean="0"/>
              <a:t>group, j = instructions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9695961" y="4991756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2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818958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Non-independence in a nested example.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936435" y="1443163"/>
          <a:ext cx="10417365" cy="326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8195">
                  <a:extLst>
                    <a:ext uri="{9D8B030D-6E8A-4147-A177-3AD203B41FA5}">
                      <a16:colId xmlns:a16="http://schemas.microsoft.com/office/drawing/2014/main" val="27676538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3976971883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3706558043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1286376494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3905305623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3455820828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4039945938"/>
                    </a:ext>
                  </a:extLst>
                </a:gridCol>
              </a:tblGrid>
              <a:tr h="316717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Instructions (j)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606265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Competition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No Competition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95036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1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2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3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4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5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6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743855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hij</a:t>
                      </a:r>
                      <a:endParaRPr lang="en-US" sz="16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00791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hij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07945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hij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197495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Group Mean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6.33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7.67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5.67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6.67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4.67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546152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Condition Means</a:t>
                      </a:r>
                      <a:endParaRPr lang="en-US" sz="1600" b="1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7.33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5.67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492614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Grand Mean</a:t>
                      </a:r>
                      <a:endParaRPr lang="en-US" sz="1600" b="1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6.50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8646515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36435" y="4776721"/>
          <a:ext cx="587811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0706">
                  <a:extLst>
                    <a:ext uri="{9D8B030D-6E8A-4147-A177-3AD203B41FA5}">
                      <a16:colId xmlns:a16="http://schemas.microsoft.com/office/drawing/2014/main" val="1969666356"/>
                    </a:ext>
                  </a:extLst>
                </a:gridCol>
                <a:gridCol w="1957593">
                  <a:extLst>
                    <a:ext uri="{9D8B030D-6E8A-4147-A177-3AD203B41FA5}">
                      <a16:colId xmlns:a16="http://schemas.microsoft.com/office/drawing/2014/main" val="1615646994"/>
                    </a:ext>
                  </a:extLst>
                </a:gridCol>
                <a:gridCol w="1429811">
                  <a:extLst>
                    <a:ext uri="{9D8B030D-6E8A-4147-A177-3AD203B41FA5}">
                      <a16:colId xmlns:a16="http://schemas.microsoft.com/office/drawing/2014/main" val="2086035278"/>
                    </a:ext>
                  </a:extLst>
                </a:gridCol>
              </a:tblGrid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Source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df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88585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Condition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188931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Error Between Groups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22124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 Between Groups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101678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 Within</a:t>
                      </a:r>
                      <a:r>
                        <a:rPr lang="en-US" sz="1600" baseline="0" dirty="0" smtClean="0"/>
                        <a:t> Group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5.33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12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3471128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28.50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17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128247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2390660" y="2445745"/>
            <a:ext cx="374574" cy="101355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2390660" y="3450258"/>
            <a:ext cx="661012" cy="352861"/>
          </a:xfrm>
          <a:prstGeom prst="round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560106" y="4991756"/>
                <a:ext cx="1377108" cy="670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h𝑖𝑗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0106" y="4991756"/>
                <a:ext cx="1377108" cy="6707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3844885" y="2445745"/>
            <a:ext cx="374574" cy="101355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5343178" y="2443910"/>
            <a:ext cx="374574" cy="101355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6830457" y="2425369"/>
            <a:ext cx="374574" cy="101355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8295696" y="2438656"/>
            <a:ext cx="374574" cy="101355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9824748" y="2438655"/>
            <a:ext cx="374574" cy="101355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3875490" y="3438920"/>
            <a:ext cx="661012" cy="352861"/>
          </a:xfrm>
          <a:prstGeom prst="round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5343178" y="3452206"/>
            <a:ext cx="661012" cy="352861"/>
          </a:xfrm>
          <a:prstGeom prst="round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6894263" y="3450257"/>
            <a:ext cx="661012" cy="352861"/>
          </a:xfrm>
          <a:prstGeom prst="round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8348489" y="3437726"/>
            <a:ext cx="661012" cy="352861"/>
          </a:xfrm>
          <a:prstGeom prst="round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9846781" y="3437725"/>
            <a:ext cx="661012" cy="352861"/>
          </a:xfrm>
          <a:prstGeom prst="round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9695961" y="4991756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2</a:t>
            </a:r>
            <a:endParaRPr lang="en-US" sz="1200" dirty="0"/>
          </a:p>
        </p:txBody>
      </p:sp>
      <p:sp>
        <p:nvSpPr>
          <p:cNvPr id="20" name="TextBox 19"/>
          <p:cNvSpPr txBox="1"/>
          <p:nvPr/>
        </p:nvSpPr>
        <p:spPr>
          <a:xfrm>
            <a:off x="7489473" y="5782561"/>
            <a:ext cx="3487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Remember, h = </a:t>
            </a:r>
            <a:r>
              <a:rPr lang="en-US" i="1" dirty="0" smtClean="0"/>
              <a:t>individual,</a:t>
            </a:r>
            <a:r>
              <a:rPr lang="en-US" dirty="0" smtClean="0"/>
              <a:t> i = </a:t>
            </a:r>
            <a:r>
              <a:rPr lang="en-US" i="1" dirty="0" smtClean="0"/>
              <a:t>group, j = instructions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457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Non-independence in a nested example.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936435" y="1443163"/>
          <a:ext cx="10417365" cy="326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8195">
                  <a:extLst>
                    <a:ext uri="{9D8B030D-6E8A-4147-A177-3AD203B41FA5}">
                      <a16:colId xmlns:a16="http://schemas.microsoft.com/office/drawing/2014/main" val="27676538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3976971883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3706558043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1286376494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3905305623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3455820828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4039945938"/>
                    </a:ext>
                  </a:extLst>
                </a:gridCol>
              </a:tblGrid>
              <a:tr h="316717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Instructions (j)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606265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Competition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No Competition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95036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1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2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3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4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5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6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743855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hij</a:t>
                      </a:r>
                      <a:endParaRPr lang="en-US" sz="16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00791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hij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07945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hij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197495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Group Mean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6.33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7.67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5.67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6.67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4.67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546152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Condition Means</a:t>
                      </a:r>
                      <a:endParaRPr lang="en-US" sz="1600" b="1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7.33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5.67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492614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Grand Mean</a:t>
                      </a:r>
                      <a:endParaRPr lang="en-US" sz="1600" b="1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6.50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8646515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936435" y="4776721"/>
          <a:ext cx="587811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0706">
                  <a:extLst>
                    <a:ext uri="{9D8B030D-6E8A-4147-A177-3AD203B41FA5}">
                      <a16:colId xmlns:a16="http://schemas.microsoft.com/office/drawing/2014/main" val="1969666356"/>
                    </a:ext>
                  </a:extLst>
                </a:gridCol>
                <a:gridCol w="1957593">
                  <a:extLst>
                    <a:ext uri="{9D8B030D-6E8A-4147-A177-3AD203B41FA5}">
                      <a16:colId xmlns:a16="http://schemas.microsoft.com/office/drawing/2014/main" val="1615646994"/>
                    </a:ext>
                  </a:extLst>
                </a:gridCol>
                <a:gridCol w="1429811">
                  <a:extLst>
                    <a:ext uri="{9D8B030D-6E8A-4147-A177-3AD203B41FA5}">
                      <a16:colId xmlns:a16="http://schemas.microsoft.com/office/drawing/2014/main" val="2086035278"/>
                    </a:ext>
                  </a:extLst>
                </a:gridCol>
              </a:tblGrid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Source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df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88585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Condition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188931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Error Between Groups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22124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 Between Groups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23.17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101678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 Within</a:t>
                      </a:r>
                      <a:r>
                        <a:rPr lang="en-US" sz="1600" baseline="0" dirty="0" smtClean="0"/>
                        <a:t> Group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5.33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12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3471128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28.50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17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128247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2368626" y="3457461"/>
            <a:ext cx="661012" cy="35286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474730" y="5057106"/>
                <a:ext cx="1516762" cy="7254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̿"/>
                                      <m:ctrlPr>
                                        <a:rPr lang="en-US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acc>
                                </m:e>
                              </m:d>
                            </m:e>
                          </m:nary>
                        </m:e>
                        <m: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730" y="5057106"/>
                <a:ext cx="1516762" cy="72545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/>
          <p:cNvSpPr/>
          <p:nvPr/>
        </p:nvSpPr>
        <p:spPr>
          <a:xfrm>
            <a:off x="3875490" y="3438920"/>
            <a:ext cx="661012" cy="35286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5343178" y="3452206"/>
            <a:ext cx="661012" cy="35286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6894263" y="3450257"/>
            <a:ext cx="661012" cy="35286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8348489" y="3437726"/>
            <a:ext cx="661012" cy="35286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9846781" y="3437725"/>
            <a:ext cx="661012" cy="35286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6539124" y="4351325"/>
            <a:ext cx="661012" cy="352861"/>
          </a:xfrm>
          <a:prstGeom prst="round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7489473" y="5782561"/>
            <a:ext cx="3487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Remember, h = </a:t>
            </a:r>
            <a:r>
              <a:rPr lang="en-US" i="1" dirty="0" smtClean="0"/>
              <a:t>individual,</a:t>
            </a:r>
            <a:r>
              <a:rPr lang="en-US" dirty="0" smtClean="0"/>
              <a:t> i = </a:t>
            </a:r>
            <a:r>
              <a:rPr lang="en-US" i="1" dirty="0" smtClean="0"/>
              <a:t>group, j = instructions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658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Non-independence in a nested example.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936435" y="1443163"/>
          <a:ext cx="10417365" cy="326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8195">
                  <a:extLst>
                    <a:ext uri="{9D8B030D-6E8A-4147-A177-3AD203B41FA5}">
                      <a16:colId xmlns:a16="http://schemas.microsoft.com/office/drawing/2014/main" val="27676538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3976971883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3706558043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1286376494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3905305623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3455820828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4039945938"/>
                    </a:ext>
                  </a:extLst>
                </a:gridCol>
              </a:tblGrid>
              <a:tr h="316717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Instructions (j)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606265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Competition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No Competition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95036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1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2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3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4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5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6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743855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hij</a:t>
                      </a:r>
                      <a:endParaRPr lang="en-US" sz="16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00791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hij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07945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hij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197495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Group Mean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6.33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7.67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5.67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6.67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4.67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546152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Condition Means</a:t>
                      </a:r>
                      <a:endParaRPr lang="en-US" sz="1600" b="1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7.33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5.67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492614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Grand Mean</a:t>
                      </a:r>
                      <a:endParaRPr lang="en-US" sz="1600" b="1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6.50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8646515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936435" y="4776721"/>
          <a:ext cx="587811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0706">
                  <a:extLst>
                    <a:ext uri="{9D8B030D-6E8A-4147-A177-3AD203B41FA5}">
                      <a16:colId xmlns:a16="http://schemas.microsoft.com/office/drawing/2014/main" val="1969666356"/>
                    </a:ext>
                  </a:extLst>
                </a:gridCol>
                <a:gridCol w="1957593">
                  <a:extLst>
                    <a:ext uri="{9D8B030D-6E8A-4147-A177-3AD203B41FA5}">
                      <a16:colId xmlns:a16="http://schemas.microsoft.com/office/drawing/2014/main" val="1615646994"/>
                    </a:ext>
                  </a:extLst>
                </a:gridCol>
                <a:gridCol w="1429811">
                  <a:extLst>
                    <a:ext uri="{9D8B030D-6E8A-4147-A177-3AD203B41FA5}">
                      <a16:colId xmlns:a16="http://schemas.microsoft.com/office/drawing/2014/main" val="2086035278"/>
                    </a:ext>
                  </a:extLst>
                </a:gridCol>
              </a:tblGrid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Source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df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88585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Condition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188931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Error Between Groups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22124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 Between Groups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23.17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101678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 Within</a:t>
                      </a:r>
                      <a:r>
                        <a:rPr lang="en-US" sz="1600" baseline="0" dirty="0" smtClean="0"/>
                        <a:t> Group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5.33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12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3471128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28.50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17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128247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2368626" y="3457461"/>
            <a:ext cx="661012" cy="35286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474730" y="5057106"/>
                <a:ext cx="1516762" cy="7254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̿"/>
                                      <m:ctrlPr>
                                        <a:rPr lang="en-US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acc>
                                </m:e>
                              </m:d>
                            </m:e>
                          </m:nary>
                        </m:e>
                        <m: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730" y="5057106"/>
                <a:ext cx="1516762" cy="72545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/>
          <p:cNvSpPr/>
          <p:nvPr/>
        </p:nvSpPr>
        <p:spPr>
          <a:xfrm>
            <a:off x="3875490" y="3438920"/>
            <a:ext cx="661012" cy="35286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5343178" y="3452206"/>
            <a:ext cx="661012" cy="35286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6894263" y="3450257"/>
            <a:ext cx="661012" cy="35286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8348489" y="3437726"/>
            <a:ext cx="661012" cy="35286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9846781" y="3437725"/>
            <a:ext cx="661012" cy="35286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6539124" y="4351325"/>
            <a:ext cx="661012" cy="352861"/>
          </a:xfrm>
          <a:prstGeom prst="round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134643" y="4916384"/>
            <a:ext cx="2196935" cy="866177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224769" y="5923283"/>
            <a:ext cx="4129031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NOTE THAT I ACCIDENTALLY LEFT “n” OUT OF THE SLIDES IN THE VIDEO.</a:t>
            </a:r>
            <a:endParaRPr lang="en-US" dirty="0"/>
          </a:p>
        </p:txBody>
      </p:sp>
      <p:cxnSp>
        <p:nvCxnSpPr>
          <p:cNvPr id="10" name="Curved Connector 9"/>
          <p:cNvCxnSpPr>
            <a:stCxn id="8" idx="3"/>
            <a:endCxn id="5" idx="3"/>
          </p:cNvCxnSpPr>
          <p:nvPr/>
        </p:nvCxnSpPr>
        <p:spPr>
          <a:xfrm flipH="1" flipV="1">
            <a:off x="10331578" y="5349473"/>
            <a:ext cx="1022222" cy="896976"/>
          </a:xfrm>
          <a:prstGeom prst="curvedConnector3">
            <a:avLst>
              <a:gd name="adj1" fmla="val -2236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6452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Non-independence in a nested example.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936435" y="1443163"/>
          <a:ext cx="10417365" cy="326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8195">
                  <a:extLst>
                    <a:ext uri="{9D8B030D-6E8A-4147-A177-3AD203B41FA5}">
                      <a16:colId xmlns:a16="http://schemas.microsoft.com/office/drawing/2014/main" val="27676538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3976971883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3706558043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1286376494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3905305623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3455820828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4039945938"/>
                    </a:ext>
                  </a:extLst>
                </a:gridCol>
              </a:tblGrid>
              <a:tr h="316717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Instructions (j)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606265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Competition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No Competition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95036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1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2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3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4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5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6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743855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hij</a:t>
                      </a:r>
                      <a:endParaRPr lang="en-US" sz="16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00791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hij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07945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hij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197495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Group Mean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6.33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7.67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5.67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6.67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4.67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546152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Condition Means</a:t>
                      </a:r>
                      <a:endParaRPr lang="en-US" sz="1600" b="1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7.33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5.67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492614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Grand Mean</a:t>
                      </a:r>
                      <a:endParaRPr lang="en-US" sz="1600" b="1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6.50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8646515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936435" y="4776721"/>
          <a:ext cx="587811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0706">
                  <a:extLst>
                    <a:ext uri="{9D8B030D-6E8A-4147-A177-3AD203B41FA5}">
                      <a16:colId xmlns:a16="http://schemas.microsoft.com/office/drawing/2014/main" val="1969666356"/>
                    </a:ext>
                  </a:extLst>
                </a:gridCol>
                <a:gridCol w="1957593">
                  <a:extLst>
                    <a:ext uri="{9D8B030D-6E8A-4147-A177-3AD203B41FA5}">
                      <a16:colId xmlns:a16="http://schemas.microsoft.com/office/drawing/2014/main" val="1615646994"/>
                    </a:ext>
                  </a:extLst>
                </a:gridCol>
                <a:gridCol w="1429811">
                  <a:extLst>
                    <a:ext uri="{9D8B030D-6E8A-4147-A177-3AD203B41FA5}">
                      <a16:colId xmlns:a16="http://schemas.microsoft.com/office/drawing/2014/main" val="2086035278"/>
                    </a:ext>
                  </a:extLst>
                </a:gridCol>
              </a:tblGrid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Source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df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88585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Condition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188931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Error Between Groups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10.67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22124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 Between Groups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23.17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101678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 Within</a:t>
                      </a:r>
                      <a:r>
                        <a:rPr lang="en-US" sz="1600" baseline="0" dirty="0" smtClean="0"/>
                        <a:t> Group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5.33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12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3471128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28.50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17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12824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337445" y="5001701"/>
                <a:ext cx="3159776" cy="670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h𝑖𝑗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h𝑖𝑗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h𝑖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7445" y="5001701"/>
                <a:ext cx="3159776" cy="6707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8139630" y="5597895"/>
            <a:ext cx="3563476" cy="64633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Our classic SSE(A), but we have to take </a:t>
            </a:r>
            <a:r>
              <a:rPr lang="en-US" dirty="0" err="1" smtClean="0"/>
              <a:t>SSwithin</a:t>
            </a:r>
            <a:r>
              <a:rPr lang="en-US" dirty="0" smtClean="0"/>
              <a:t> out of the calculation.</a:t>
            </a:r>
            <a:endParaRPr lang="en-US" dirty="0"/>
          </a:p>
        </p:txBody>
      </p:sp>
      <p:sp>
        <p:nvSpPr>
          <p:cNvPr id="21" name="Rounded Rectangle 20"/>
          <p:cNvSpPr/>
          <p:nvPr/>
        </p:nvSpPr>
        <p:spPr>
          <a:xfrm>
            <a:off x="2390660" y="2445745"/>
            <a:ext cx="374574" cy="1013551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3844885" y="2445745"/>
            <a:ext cx="374574" cy="1013551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/>
          <p:cNvSpPr/>
          <p:nvPr/>
        </p:nvSpPr>
        <p:spPr>
          <a:xfrm>
            <a:off x="5343178" y="2443910"/>
            <a:ext cx="374574" cy="1013551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/>
          <p:cNvSpPr/>
          <p:nvPr/>
        </p:nvSpPr>
        <p:spPr>
          <a:xfrm>
            <a:off x="6830457" y="2425369"/>
            <a:ext cx="374574" cy="1013551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8295696" y="2438656"/>
            <a:ext cx="374574" cy="1013551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/>
          <p:cNvSpPr/>
          <p:nvPr/>
        </p:nvSpPr>
        <p:spPr>
          <a:xfrm>
            <a:off x="9824748" y="2438655"/>
            <a:ext cx="374574" cy="1013551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ounded Rectangle 30"/>
          <p:cNvSpPr/>
          <p:nvPr/>
        </p:nvSpPr>
        <p:spPr>
          <a:xfrm>
            <a:off x="4307829" y="3786258"/>
            <a:ext cx="661012" cy="35286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/>
          <p:cNvSpPr/>
          <p:nvPr/>
        </p:nvSpPr>
        <p:spPr>
          <a:xfrm>
            <a:off x="8784099" y="3749385"/>
            <a:ext cx="661012" cy="35286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>
            <a:off x="10093671" y="4991756"/>
            <a:ext cx="1477692" cy="606139"/>
          </a:xfrm>
          <a:prstGeom prst="roundRect">
            <a:avLst/>
          </a:prstGeom>
          <a:noFill/>
          <a:ln w="28575">
            <a:solidFill>
              <a:srgbClr val="E709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/>
          <p:cNvSpPr/>
          <p:nvPr/>
        </p:nvSpPr>
        <p:spPr>
          <a:xfrm>
            <a:off x="3361289" y="6092328"/>
            <a:ext cx="681901" cy="360427"/>
          </a:xfrm>
          <a:prstGeom prst="roundRect">
            <a:avLst/>
          </a:prstGeom>
          <a:noFill/>
          <a:ln w="28575">
            <a:solidFill>
              <a:srgbClr val="E709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9756406" y="4967042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2</a:t>
            </a:r>
            <a:endParaRPr 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11308149" y="4979399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2</a:t>
            </a:r>
            <a:endParaRPr lang="en-US" sz="1200" dirty="0"/>
          </a:p>
        </p:txBody>
      </p:sp>
      <p:sp>
        <p:nvSpPr>
          <p:cNvPr id="22" name="TextBox 21"/>
          <p:cNvSpPr txBox="1"/>
          <p:nvPr/>
        </p:nvSpPr>
        <p:spPr>
          <a:xfrm>
            <a:off x="7044619" y="6358299"/>
            <a:ext cx="514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Remember, h = </a:t>
            </a:r>
            <a:r>
              <a:rPr lang="en-US" i="1" dirty="0" smtClean="0"/>
              <a:t>individual,</a:t>
            </a:r>
            <a:r>
              <a:rPr lang="en-US" dirty="0" smtClean="0"/>
              <a:t> i = </a:t>
            </a:r>
            <a:r>
              <a:rPr lang="en-US" i="1" dirty="0" smtClean="0"/>
              <a:t>group, j = instructions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295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Non-independence in a nested example.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936435" y="1443163"/>
          <a:ext cx="10417365" cy="326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8195">
                  <a:extLst>
                    <a:ext uri="{9D8B030D-6E8A-4147-A177-3AD203B41FA5}">
                      <a16:colId xmlns:a16="http://schemas.microsoft.com/office/drawing/2014/main" val="27676538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3976971883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3706558043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1286376494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3905305623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3455820828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4039945938"/>
                    </a:ext>
                  </a:extLst>
                </a:gridCol>
              </a:tblGrid>
              <a:tr h="316717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Instructions (j)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606265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Competition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No Competition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95036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1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2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3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4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5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6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743855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hij</a:t>
                      </a:r>
                      <a:endParaRPr lang="en-US" sz="16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00791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hij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07945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hij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197495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Group Mean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6.33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7.67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5.67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6.67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4.67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546152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Condition Means</a:t>
                      </a:r>
                      <a:endParaRPr lang="en-US" sz="1600" b="1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7.33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5.67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492614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Grand Mean</a:t>
                      </a:r>
                      <a:endParaRPr lang="en-US" sz="1600" b="1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6.50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8646515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936435" y="4776721"/>
          <a:ext cx="587811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0706">
                  <a:extLst>
                    <a:ext uri="{9D8B030D-6E8A-4147-A177-3AD203B41FA5}">
                      <a16:colId xmlns:a16="http://schemas.microsoft.com/office/drawing/2014/main" val="1969666356"/>
                    </a:ext>
                  </a:extLst>
                </a:gridCol>
                <a:gridCol w="1957593">
                  <a:extLst>
                    <a:ext uri="{9D8B030D-6E8A-4147-A177-3AD203B41FA5}">
                      <a16:colId xmlns:a16="http://schemas.microsoft.com/office/drawing/2014/main" val="1615646994"/>
                    </a:ext>
                  </a:extLst>
                </a:gridCol>
                <a:gridCol w="1429811">
                  <a:extLst>
                    <a:ext uri="{9D8B030D-6E8A-4147-A177-3AD203B41FA5}">
                      <a16:colId xmlns:a16="http://schemas.microsoft.com/office/drawing/2014/main" val="2086035278"/>
                    </a:ext>
                  </a:extLst>
                </a:gridCol>
              </a:tblGrid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Source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df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88585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Condition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12.50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188931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Error Between Groups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10.67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22124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 Between Groups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23.17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101678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 Within</a:t>
                      </a:r>
                      <a:r>
                        <a:rPr lang="en-US" sz="1600" baseline="0" dirty="0" smtClean="0"/>
                        <a:t> Group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5.33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12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3471128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28.50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17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12824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560106" y="4991756"/>
                <a:ext cx="1397306" cy="670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h𝑖𝑗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acc>
                                <m:accPr>
                                  <m:chr m:val="̿"/>
                                  <m:ctrlP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acc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0106" y="4991756"/>
                <a:ext cx="1397306" cy="6707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8139630" y="5597895"/>
            <a:ext cx="3563476" cy="64633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Our classic SSE(A), but we have to take </a:t>
            </a:r>
            <a:r>
              <a:rPr lang="en-US" dirty="0" err="1" smtClean="0"/>
              <a:t>SSwithin</a:t>
            </a:r>
            <a:r>
              <a:rPr lang="en-US" dirty="0" smtClean="0"/>
              <a:t> out of the calculation.</a:t>
            </a:r>
            <a:endParaRPr lang="en-US" dirty="0"/>
          </a:p>
        </p:txBody>
      </p:sp>
      <p:sp>
        <p:nvSpPr>
          <p:cNvPr id="22" name="Rounded Rectangle 21"/>
          <p:cNvSpPr/>
          <p:nvPr/>
        </p:nvSpPr>
        <p:spPr>
          <a:xfrm>
            <a:off x="6544019" y="4340527"/>
            <a:ext cx="661012" cy="352861"/>
          </a:xfrm>
          <a:prstGeom prst="round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/>
          <p:cNvSpPr/>
          <p:nvPr/>
        </p:nvSpPr>
        <p:spPr>
          <a:xfrm>
            <a:off x="4316775" y="3765813"/>
            <a:ext cx="661012" cy="35286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/>
          <p:cNvSpPr/>
          <p:nvPr/>
        </p:nvSpPr>
        <p:spPr>
          <a:xfrm>
            <a:off x="8776770" y="3765812"/>
            <a:ext cx="661012" cy="35286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38"/>
          <p:cNvSpPr/>
          <p:nvPr/>
        </p:nvSpPr>
        <p:spPr>
          <a:xfrm>
            <a:off x="2390660" y="2445745"/>
            <a:ext cx="374574" cy="101355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ounded Rectangle 39"/>
          <p:cNvSpPr/>
          <p:nvPr/>
        </p:nvSpPr>
        <p:spPr>
          <a:xfrm>
            <a:off x="3844885" y="2445745"/>
            <a:ext cx="374574" cy="101355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ounded Rectangle 40"/>
          <p:cNvSpPr/>
          <p:nvPr/>
        </p:nvSpPr>
        <p:spPr>
          <a:xfrm>
            <a:off x="5343178" y="2443910"/>
            <a:ext cx="374574" cy="101355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41"/>
          <p:cNvSpPr/>
          <p:nvPr/>
        </p:nvSpPr>
        <p:spPr>
          <a:xfrm>
            <a:off x="6830457" y="2425369"/>
            <a:ext cx="374574" cy="101355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ounded Rectangle 42"/>
          <p:cNvSpPr/>
          <p:nvPr/>
        </p:nvSpPr>
        <p:spPr>
          <a:xfrm>
            <a:off x="8295696" y="2438656"/>
            <a:ext cx="374574" cy="101355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ounded Rectangle 43"/>
          <p:cNvSpPr/>
          <p:nvPr/>
        </p:nvSpPr>
        <p:spPr>
          <a:xfrm>
            <a:off x="9824748" y="2438655"/>
            <a:ext cx="374574" cy="101355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9812831" y="4991756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2</a:t>
            </a:r>
            <a:endParaRPr lang="en-US" sz="1200" dirty="0"/>
          </a:p>
        </p:txBody>
      </p:sp>
      <p:sp>
        <p:nvSpPr>
          <p:cNvPr id="18" name="TextBox 17"/>
          <p:cNvSpPr txBox="1"/>
          <p:nvPr/>
        </p:nvSpPr>
        <p:spPr>
          <a:xfrm>
            <a:off x="7044619" y="6358299"/>
            <a:ext cx="514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Remember, h = </a:t>
            </a:r>
            <a:r>
              <a:rPr lang="en-US" i="1" dirty="0" smtClean="0"/>
              <a:t>individual,</a:t>
            </a:r>
            <a:r>
              <a:rPr lang="en-US" dirty="0" smtClean="0"/>
              <a:t> i = </a:t>
            </a:r>
            <a:r>
              <a:rPr lang="en-US" i="1" dirty="0" smtClean="0"/>
              <a:t>group, j = instructions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608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Non-independence in a nested example.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936435" y="1443163"/>
          <a:ext cx="10417365" cy="326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8195">
                  <a:extLst>
                    <a:ext uri="{9D8B030D-6E8A-4147-A177-3AD203B41FA5}">
                      <a16:colId xmlns:a16="http://schemas.microsoft.com/office/drawing/2014/main" val="27676538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3976971883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3706558043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1286376494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3905305623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3455820828"/>
                    </a:ext>
                  </a:extLst>
                </a:gridCol>
                <a:gridCol w="1488195">
                  <a:extLst>
                    <a:ext uri="{9D8B030D-6E8A-4147-A177-3AD203B41FA5}">
                      <a16:colId xmlns:a16="http://schemas.microsoft.com/office/drawing/2014/main" val="4039945938"/>
                    </a:ext>
                  </a:extLst>
                </a:gridCol>
              </a:tblGrid>
              <a:tr h="316717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Instructions (j)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606265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Competition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No Competition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95036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1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2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3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4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5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 6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743855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hij</a:t>
                      </a:r>
                      <a:endParaRPr lang="en-US" sz="16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00791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hij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07945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hij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197495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Group Mean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6.33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7.67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5.67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6.67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4.67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546152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Condition Means</a:t>
                      </a:r>
                      <a:endParaRPr lang="en-US" sz="1600" b="1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7.33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5.67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492614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Grand Mean</a:t>
                      </a:r>
                      <a:endParaRPr lang="en-US" sz="1600" b="1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6.50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8646515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36435" y="4776721"/>
          <a:ext cx="587811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0706">
                  <a:extLst>
                    <a:ext uri="{9D8B030D-6E8A-4147-A177-3AD203B41FA5}">
                      <a16:colId xmlns:a16="http://schemas.microsoft.com/office/drawing/2014/main" val="1969666356"/>
                    </a:ext>
                  </a:extLst>
                </a:gridCol>
                <a:gridCol w="1957593">
                  <a:extLst>
                    <a:ext uri="{9D8B030D-6E8A-4147-A177-3AD203B41FA5}">
                      <a16:colId xmlns:a16="http://schemas.microsoft.com/office/drawing/2014/main" val="1615646994"/>
                    </a:ext>
                  </a:extLst>
                </a:gridCol>
                <a:gridCol w="1429811">
                  <a:extLst>
                    <a:ext uri="{9D8B030D-6E8A-4147-A177-3AD203B41FA5}">
                      <a16:colId xmlns:a16="http://schemas.microsoft.com/office/drawing/2014/main" val="2086035278"/>
                    </a:ext>
                  </a:extLst>
                </a:gridCol>
              </a:tblGrid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Source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df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88585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Condition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12.50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188931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Error Between Groups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10.67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22124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 Between Groups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23.17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101678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 Within</a:t>
                      </a:r>
                      <a:r>
                        <a:rPr lang="en-US" sz="1600" baseline="0" dirty="0" smtClean="0"/>
                        <a:t> Group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5.33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12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3471128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28.50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17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128247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181162" y="4956476"/>
            <a:ext cx="4172638" cy="120032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Our calculation of the MSR and MSE, and subsequently the </a:t>
            </a:r>
            <a:r>
              <a:rPr lang="en-US" dirty="0" err="1" smtClean="0"/>
              <a:t>F_observed</a:t>
            </a:r>
            <a:r>
              <a:rPr lang="en-US" dirty="0" smtClean="0"/>
              <a:t>, now relies on this SSE(A) with the within group variation removed.</a:t>
            </a:r>
            <a:endParaRPr lang="en-US" dirty="0"/>
          </a:p>
        </p:txBody>
      </p:sp>
      <p:sp>
        <p:nvSpPr>
          <p:cNvPr id="17" name="Rounded Rectangle 16"/>
          <p:cNvSpPr/>
          <p:nvPr/>
        </p:nvSpPr>
        <p:spPr>
          <a:xfrm>
            <a:off x="3383322" y="4776722"/>
            <a:ext cx="3431223" cy="1005840"/>
          </a:xfrm>
          <a:prstGeom prst="roundRect">
            <a:avLst/>
          </a:prstGeom>
          <a:noFill/>
          <a:ln w="28575">
            <a:solidFill>
              <a:srgbClr val="E709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456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/>
          <p:cNvSpPr/>
          <p:nvPr/>
        </p:nvSpPr>
        <p:spPr>
          <a:xfrm>
            <a:off x="2503062" y="2902165"/>
            <a:ext cx="182880" cy="18288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654563" y="4330365"/>
            <a:ext cx="182880" cy="18288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1952830" y="4090672"/>
            <a:ext cx="182880" cy="18288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3003118" y="4866966"/>
            <a:ext cx="182880" cy="18288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2041910" y="2047118"/>
            <a:ext cx="182880" cy="18288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1806443" y="2932663"/>
            <a:ext cx="182880" cy="18288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2798743" y="2020336"/>
            <a:ext cx="182880" cy="18288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3670165" y="2528682"/>
            <a:ext cx="182880" cy="18288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6424778" y="2721294"/>
            <a:ext cx="182880" cy="18288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5840580" y="2062951"/>
            <a:ext cx="182880" cy="18288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6215068" y="3443164"/>
            <a:ext cx="182880" cy="18288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5538048" y="3178087"/>
            <a:ext cx="182880" cy="18288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4937504" y="4954457"/>
            <a:ext cx="182880" cy="18288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5654437" y="4246770"/>
            <a:ext cx="182880" cy="18288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5710711" y="5399112"/>
            <a:ext cx="182880" cy="18288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6177008" y="4737140"/>
            <a:ext cx="182880" cy="18288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2075976" y="5197093"/>
            <a:ext cx="182880" cy="18288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1387167" y="4640153"/>
            <a:ext cx="182880" cy="18288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5326281" y="2637038"/>
            <a:ext cx="182880" cy="18288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2640474" y="3690702"/>
            <a:ext cx="182880" cy="18288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/>
          <p:cNvCxnSpPr>
            <a:stCxn id="17" idx="4"/>
            <a:endCxn id="5" idx="1"/>
          </p:cNvCxnSpPr>
          <p:nvPr/>
        </p:nvCxnSpPr>
        <p:spPr>
          <a:xfrm>
            <a:off x="3761605" y="2711562"/>
            <a:ext cx="286213" cy="785166"/>
          </a:xfrm>
          <a:prstGeom prst="line">
            <a:avLst/>
          </a:prstGeom>
          <a:ln w="28575">
            <a:solidFill>
              <a:schemeClr val="tx1"/>
            </a:solidFill>
            <a:head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28" idx="3"/>
            <a:endCxn id="5" idx="7"/>
          </p:cNvCxnSpPr>
          <p:nvPr/>
        </p:nvCxnSpPr>
        <p:spPr>
          <a:xfrm flipH="1">
            <a:off x="4177134" y="2793136"/>
            <a:ext cx="1175929" cy="703592"/>
          </a:xfrm>
          <a:prstGeom prst="line">
            <a:avLst/>
          </a:prstGeom>
          <a:ln w="28575">
            <a:solidFill>
              <a:schemeClr val="tx1"/>
            </a:solidFill>
            <a:head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19" idx="3"/>
            <a:endCxn id="5" idx="7"/>
          </p:cNvCxnSpPr>
          <p:nvPr/>
        </p:nvCxnSpPr>
        <p:spPr>
          <a:xfrm flipH="1">
            <a:off x="4177134" y="2219049"/>
            <a:ext cx="1690228" cy="1277679"/>
          </a:xfrm>
          <a:prstGeom prst="line">
            <a:avLst/>
          </a:prstGeom>
          <a:ln w="28575">
            <a:solidFill>
              <a:schemeClr val="tx1"/>
            </a:solidFill>
            <a:head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5" idx="3"/>
            <a:endCxn id="11" idx="0"/>
          </p:cNvCxnSpPr>
          <p:nvPr/>
        </p:nvCxnSpPr>
        <p:spPr>
          <a:xfrm flipH="1">
            <a:off x="3746003" y="3626044"/>
            <a:ext cx="301815" cy="704321"/>
          </a:xfrm>
          <a:prstGeom prst="line">
            <a:avLst/>
          </a:prstGeom>
          <a:ln w="28575">
            <a:solidFill>
              <a:schemeClr val="tx1"/>
            </a:solidFill>
            <a:head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5" idx="7"/>
            <a:endCxn id="21" idx="2"/>
          </p:cNvCxnSpPr>
          <p:nvPr/>
        </p:nvCxnSpPr>
        <p:spPr>
          <a:xfrm flipV="1">
            <a:off x="4177134" y="3269527"/>
            <a:ext cx="1360914" cy="227201"/>
          </a:xfrm>
          <a:prstGeom prst="line">
            <a:avLst/>
          </a:prstGeom>
          <a:ln w="28575">
            <a:solidFill>
              <a:schemeClr val="tx1"/>
            </a:solidFill>
            <a:head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5" idx="5"/>
            <a:endCxn id="22" idx="1"/>
          </p:cNvCxnSpPr>
          <p:nvPr/>
        </p:nvCxnSpPr>
        <p:spPr>
          <a:xfrm>
            <a:off x="4177134" y="3626044"/>
            <a:ext cx="787152" cy="1355195"/>
          </a:xfrm>
          <a:prstGeom prst="line">
            <a:avLst/>
          </a:prstGeom>
          <a:ln w="28575">
            <a:solidFill>
              <a:schemeClr val="tx1"/>
            </a:solidFill>
            <a:head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5" idx="5"/>
            <a:endCxn id="23" idx="1"/>
          </p:cNvCxnSpPr>
          <p:nvPr/>
        </p:nvCxnSpPr>
        <p:spPr>
          <a:xfrm>
            <a:off x="4177134" y="3626044"/>
            <a:ext cx="1504085" cy="647508"/>
          </a:xfrm>
          <a:prstGeom prst="line">
            <a:avLst/>
          </a:prstGeom>
          <a:ln w="28575">
            <a:solidFill>
              <a:schemeClr val="tx1"/>
            </a:solidFill>
            <a:head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5" idx="7"/>
            <a:endCxn id="20" idx="2"/>
          </p:cNvCxnSpPr>
          <p:nvPr/>
        </p:nvCxnSpPr>
        <p:spPr>
          <a:xfrm>
            <a:off x="4177134" y="3496728"/>
            <a:ext cx="2037934" cy="37876"/>
          </a:xfrm>
          <a:prstGeom prst="line">
            <a:avLst/>
          </a:prstGeom>
          <a:ln w="28575">
            <a:solidFill>
              <a:schemeClr val="tx1"/>
            </a:solidFill>
            <a:head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5" idx="3"/>
            <a:endCxn id="13" idx="7"/>
          </p:cNvCxnSpPr>
          <p:nvPr/>
        </p:nvCxnSpPr>
        <p:spPr>
          <a:xfrm flipH="1">
            <a:off x="3159216" y="3626044"/>
            <a:ext cx="888602" cy="1267704"/>
          </a:xfrm>
          <a:prstGeom prst="line">
            <a:avLst/>
          </a:prstGeom>
          <a:ln w="28575">
            <a:solidFill>
              <a:schemeClr val="tx1"/>
            </a:solidFill>
            <a:head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5" idx="3"/>
            <a:endCxn id="29" idx="6"/>
          </p:cNvCxnSpPr>
          <p:nvPr/>
        </p:nvCxnSpPr>
        <p:spPr>
          <a:xfrm flipH="1">
            <a:off x="2823354" y="3626044"/>
            <a:ext cx="1224464" cy="156098"/>
          </a:xfrm>
          <a:prstGeom prst="line">
            <a:avLst/>
          </a:prstGeom>
          <a:ln w="28575">
            <a:solidFill>
              <a:schemeClr val="tx1"/>
            </a:solidFill>
            <a:head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5" idx="1"/>
            <a:endCxn id="10" idx="6"/>
          </p:cNvCxnSpPr>
          <p:nvPr/>
        </p:nvCxnSpPr>
        <p:spPr>
          <a:xfrm flipH="1" flipV="1">
            <a:off x="2685942" y="2993605"/>
            <a:ext cx="1361876" cy="503123"/>
          </a:xfrm>
          <a:prstGeom prst="line">
            <a:avLst/>
          </a:prstGeom>
          <a:ln w="28575">
            <a:solidFill>
              <a:schemeClr val="tx1"/>
            </a:solidFill>
            <a:head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5" idx="1"/>
            <a:endCxn id="16" idx="5"/>
          </p:cNvCxnSpPr>
          <p:nvPr/>
        </p:nvCxnSpPr>
        <p:spPr>
          <a:xfrm flipH="1" flipV="1">
            <a:off x="2954841" y="2176434"/>
            <a:ext cx="1092977" cy="1320294"/>
          </a:xfrm>
          <a:prstGeom prst="line">
            <a:avLst/>
          </a:prstGeom>
          <a:ln w="28575">
            <a:solidFill>
              <a:schemeClr val="tx1"/>
            </a:solidFill>
            <a:head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>
            <a:stCxn id="5" idx="1"/>
            <a:endCxn id="14" idx="5"/>
          </p:cNvCxnSpPr>
          <p:nvPr/>
        </p:nvCxnSpPr>
        <p:spPr>
          <a:xfrm flipH="1" flipV="1">
            <a:off x="2198008" y="2203216"/>
            <a:ext cx="1849810" cy="1293512"/>
          </a:xfrm>
          <a:prstGeom prst="line">
            <a:avLst/>
          </a:prstGeom>
          <a:ln w="28575">
            <a:solidFill>
              <a:schemeClr val="tx1"/>
            </a:solidFill>
            <a:head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5" idx="1"/>
            <a:endCxn id="15" idx="6"/>
          </p:cNvCxnSpPr>
          <p:nvPr/>
        </p:nvCxnSpPr>
        <p:spPr>
          <a:xfrm flipH="1" flipV="1">
            <a:off x="1989323" y="3024103"/>
            <a:ext cx="2058495" cy="472625"/>
          </a:xfrm>
          <a:prstGeom prst="line">
            <a:avLst/>
          </a:prstGeom>
          <a:ln w="28575">
            <a:solidFill>
              <a:schemeClr val="tx1"/>
            </a:solidFill>
            <a:head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>
            <a:stCxn id="5" idx="3"/>
            <a:endCxn id="12" idx="6"/>
          </p:cNvCxnSpPr>
          <p:nvPr/>
        </p:nvCxnSpPr>
        <p:spPr>
          <a:xfrm flipH="1">
            <a:off x="2135710" y="3626044"/>
            <a:ext cx="1912108" cy="556068"/>
          </a:xfrm>
          <a:prstGeom prst="line">
            <a:avLst/>
          </a:prstGeom>
          <a:ln w="28575">
            <a:solidFill>
              <a:schemeClr val="tx1"/>
            </a:solidFill>
            <a:head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>
            <a:stCxn id="18" idx="2"/>
            <a:endCxn id="5" idx="7"/>
          </p:cNvCxnSpPr>
          <p:nvPr/>
        </p:nvCxnSpPr>
        <p:spPr>
          <a:xfrm flipH="1">
            <a:off x="4177134" y="2812734"/>
            <a:ext cx="2247644" cy="683994"/>
          </a:xfrm>
          <a:prstGeom prst="line">
            <a:avLst/>
          </a:prstGeom>
          <a:ln w="28575">
            <a:solidFill>
              <a:schemeClr val="tx1"/>
            </a:solidFill>
            <a:head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25" idx="1"/>
            <a:endCxn id="5" idx="5"/>
          </p:cNvCxnSpPr>
          <p:nvPr/>
        </p:nvCxnSpPr>
        <p:spPr>
          <a:xfrm flipH="1" flipV="1">
            <a:off x="4177134" y="3626044"/>
            <a:ext cx="2026656" cy="1137878"/>
          </a:xfrm>
          <a:prstGeom prst="line">
            <a:avLst/>
          </a:prstGeom>
          <a:ln w="28575">
            <a:solidFill>
              <a:schemeClr val="tx1"/>
            </a:solidFill>
            <a:head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>
            <a:stCxn id="5" idx="3"/>
            <a:endCxn id="26" idx="7"/>
          </p:cNvCxnSpPr>
          <p:nvPr/>
        </p:nvCxnSpPr>
        <p:spPr>
          <a:xfrm flipH="1">
            <a:off x="2232074" y="3626044"/>
            <a:ext cx="1815744" cy="1597831"/>
          </a:xfrm>
          <a:prstGeom prst="line">
            <a:avLst/>
          </a:prstGeom>
          <a:ln w="28575">
            <a:solidFill>
              <a:schemeClr val="tx1"/>
            </a:solidFill>
            <a:head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>
            <a:stCxn id="5" idx="3"/>
            <a:endCxn id="27" idx="6"/>
          </p:cNvCxnSpPr>
          <p:nvPr/>
        </p:nvCxnSpPr>
        <p:spPr>
          <a:xfrm flipH="1">
            <a:off x="1570047" y="3626044"/>
            <a:ext cx="2477771" cy="1105549"/>
          </a:xfrm>
          <a:prstGeom prst="line">
            <a:avLst/>
          </a:prstGeom>
          <a:ln w="28575">
            <a:solidFill>
              <a:schemeClr val="tx1"/>
            </a:solidFill>
            <a:head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>
            <a:stCxn id="5" idx="5"/>
            <a:endCxn id="24" idx="1"/>
          </p:cNvCxnSpPr>
          <p:nvPr/>
        </p:nvCxnSpPr>
        <p:spPr>
          <a:xfrm>
            <a:off x="4177134" y="3626044"/>
            <a:ext cx="1560359" cy="1799850"/>
          </a:xfrm>
          <a:prstGeom prst="line">
            <a:avLst/>
          </a:prstGeom>
          <a:ln w="28575">
            <a:solidFill>
              <a:schemeClr val="tx1"/>
            </a:solidFill>
            <a:head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6" idx="7"/>
            <a:endCxn id="16" idx="3"/>
          </p:cNvCxnSpPr>
          <p:nvPr/>
        </p:nvCxnSpPr>
        <p:spPr>
          <a:xfrm flipV="1">
            <a:off x="2552596" y="2176434"/>
            <a:ext cx="272929" cy="322097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  <a:head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>
            <a:stCxn id="6" idx="1"/>
            <a:endCxn id="14" idx="5"/>
          </p:cNvCxnSpPr>
          <p:nvPr/>
        </p:nvCxnSpPr>
        <p:spPr>
          <a:xfrm flipH="1" flipV="1">
            <a:off x="2198008" y="2203216"/>
            <a:ext cx="225272" cy="295315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  <a:head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>
            <a:stCxn id="10" idx="0"/>
            <a:endCxn id="6" idx="4"/>
          </p:cNvCxnSpPr>
          <p:nvPr/>
        </p:nvCxnSpPr>
        <p:spPr>
          <a:xfrm flipH="1" flipV="1">
            <a:off x="2487938" y="2654629"/>
            <a:ext cx="106564" cy="247536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  <a:head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>
            <a:stCxn id="6" idx="6"/>
            <a:endCxn id="17" idx="2"/>
          </p:cNvCxnSpPr>
          <p:nvPr/>
        </p:nvCxnSpPr>
        <p:spPr>
          <a:xfrm>
            <a:off x="2579378" y="2563189"/>
            <a:ext cx="1090787" cy="56933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  <a:head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>
            <a:stCxn id="15" idx="7"/>
            <a:endCxn id="6" idx="3"/>
          </p:cNvCxnSpPr>
          <p:nvPr/>
        </p:nvCxnSpPr>
        <p:spPr>
          <a:xfrm flipV="1">
            <a:off x="1962541" y="2627847"/>
            <a:ext cx="460739" cy="331598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  <a:head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/>
          <p:cNvCxnSpPr>
            <a:stCxn id="8" idx="1"/>
            <a:endCxn id="12" idx="6"/>
          </p:cNvCxnSpPr>
          <p:nvPr/>
        </p:nvCxnSpPr>
        <p:spPr>
          <a:xfrm flipH="1" flipV="1">
            <a:off x="2135710" y="4182112"/>
            <a:ext cx="443668" cy="223712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  <a:head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>
            <a:stCxn id="8" idx="2"/>
            <a:endCxn id="27" idx="6"/>
          </p:cNvCxnSpPr>
          <p:nvPr/>
        </p:nvCxnSpPr>
        <p:spPr>
          <a:xfrm flipH="1">
            <a:off x="1570047" y="4470482"/>
            <a:ext cx="982549" cy="261111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  <a:head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>
            <a:stCxn id="26" idx="7"/>
            <a:endCxn id="8" idx="3"/>
          </p:cNvCxnSpPr>
          <p:nvPr/>
        </p:nvCxnSpPr>
        <p:spPr>
          <a:xfrm flipV="1">
            <a:off x="2232074" y="4535140"/>
            <a:ext cx="347304" cy="688735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  <a:head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/>
          <p:cNvCxnSpPr>
            <a:stCxn id="8" idx="0"/>
            <a:endCxn id="29" idx="4"/>
          </p:cNvCxnSpPr>
          <p:nvPr/>
        </p:nvCxnSpPr>
        <p:spPr>
          <a:xfrm flipV="1">
            <a:off x="2644036" y="3873582"/>
            <a:ext cx="87878" cy="50546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  <a:head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/>
          <p:cNvCxnSpPr>
            <a:stCxn id="11" idx="2"/>
            <a:endCxn id="8" idx="6"/>
          </p:cNvCxnSpPr>
          <p:nvPr/>
        </p:nvCxnSpPr>
        <p:spPr>
          <a:xfrm flipH="1">
            <a:off x="2735476" y="4421805"/>
            <a:ext cx="919087" cy="48677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  <a:head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/>
          <p:cNvCxnSpPr>
            <a:stCxn id="13" idx="1"/>
            <a:endCxn id="8" idx="5"/>
          </p:cNvCxnSpPr>
          <p:nvPr/>
        </p:nvCxnSpPr>
        <p:spPr>
          <a:xfrm flipH="1" flipV="1">
            <a:off x="2708694" y="4535140"/>
            <a:ext cx="321206" cy="358608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  <a:head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/>
          <p:cNvCxnSpPr>
            <a:stCxn id="7" idx="0"/>
            <a:endCxn id="23" idx="4"/>
          </p:cNvCxnSpPr>
          <p:nvPr/>
        </p:nvCxnSpPr>
        <p:spPr>
          <a:xfrm flipV="1">
            <a:off x="5677580" y="4429650"/>
            <a:ext cx="68297" cy="35321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  <a:head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/>
          <p:cNvCxnSpPr>
            <a:stCxn id="7" idx="2"/>
            <a:endCxn id="22" idx="6"/>
          </p:cNvCxnSpPr>
          <p:nvPr/>
        </p:nvCxnSpPr>
        <p:spPr>
          <a:xfrm flipH="1">
            <a:off x="5120384" y="4874300"/>
            <a:ext cx="465756" cy="171597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  <a:head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/>
          <p:cNvCxnSpPr>
            <a:stCxn id="20" idx="1"/>
            <a:endCxn id="9" idx="5"/>
          </p:cNvCxnSpPr>
          <p:nvPr/>
        </p:nvCxnSpPr>
        <p:spPr>
          <a:xfrm flipH="1" flipV="1">
            <a:off x="6014433" y="2854159"/>
            <a:ext cx="227417" cy="615787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  <a:head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>
            <a:stCxn id="25" idx="2"/>
            <a:endCxn id="7" idx="6"/>
          </p:cNvCxnSpPr>
          <p:nvPr/>
        </p:nvCxnSpPr>
        <p:spPr>
          <a:xfrm flipH="1">
            <a:off x="5769020" y="4828580"/>
            <a:ext cx="407988" cy="4572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  <a:head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/>
          <p:cNvCxnSpPr>
            <a:stCxn id="7" idx="4"/>
            <a:endCxn id="24" idx="0"/>
          </p:cNvCxnSpPr>
          <p:nvPr/>
        </p:nvCxnSpPr>
        <p:spPr>
          <a:xfrm>
            <a:off x="5677580" y="4965740"/>
            <a:ext cx="124571" cy="433372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  <a:head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/>
          <p:cNvCxnSpPr>
            <a:stCxn id="9" idx="2"/>
            <a:endCxn id="28" idx="6"/>
          </p:cNvCxnSpPr>
          <p:nvPr/>
        </p:nvCxnSpPr>
        <p:spPr>
          <a:xfrm flipH="1" flipV="1">
            <a:off x="5509161" y="2728478"/>
            <a:ext cx="349174" cy="61023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  <a:head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/>
          <p:cNvCxnSpPr>
            <a:stCxn id="21" idx="7"/>
            <a:endCxn id="9" idx="3"/>
          </p:cNvCxnSpPr>
          <p:nvPr/>
        </p:nvCxnSpPr>
        <p:spPr>
          <a:xfrm flipV="1">
            <a:off x="5694146" y="2854159"/>
            <a:ext cx="190971" cy="35071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  <a:head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/>
          <p:cNvCxnSpPr>
            <a:stCxn id="18" idx="2"/>
            <a:endCxn id="9" idx="6"/>
          </p:cNvCxnSpPr>
          <p:nvPr/>
        </p:nvCxnSpPr>
        <p:spPr>
          <a:xfrm flipH="1" flipV="1">
            <a:off x="6041215" y="2789501"/>
            <a:ext cx="383563" cy="23233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  <a:head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/>
          <p:cNvCxnSpPr>
            <a:stCxn id="9" idx="0"/>
            <a:endCxn id="19" idx="4"/>
          </p:cNvCxnSpPr>
          <p:nvPr/>
        </p:nvCxnSpPr>
        <p:spPr>
          <a:xfrm flipH="1" flipV="1">
            <a:off x="5932020" y="2245831"/>
            <a:ext cx="17755" cy="45223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  <a:head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/>
          <p:cNvCxnSpPr>
            <a:stCxn id="5" idx="1"/>
            <a:endCxn id="6" idx="5"/>
          </p:cNvCxnSpPr>
          <p:nvPr/>
        </p:nvCxnSpPr>
        <p:spPr>
          <a:xfrm flipH="1" flipV="1">
            <a:off x="2552596" y="2627847"/>
            <a:ext cx="1495222" cy="868881"/>
          </a:xfrm>
          <a:prstGeom prst="line">
            <a:avLst/>
          </a:prstGeom>
          <a:ln w="28575">
            <a:solidFill>
              <a:srgbClr val="00B050"/>
            </a:solidFill>
            <a:head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>
            <a:stCxn id="5" idx="3"/>
            <a:endCxn id="8" idx="7"/>
          </p:cNvCxnSpPr>
          <p:nvPr/>
        </p:nvCxnSpPr>
        <p:spPr>
          <a:xfrm flipH="1">
            <a:off x="2708694" y="3626044"/>
            <a:ext cx="1339124" cy="779780"/>
          </a:xfrm>
          <a:prstGeom prst="line">
            <a:avLst/>
          </a:prstGeom>
          <a:ln w="28575">
            <a:solidFill>
              <a:srgbClr val="00B050"/>
            </a:solidFill>
            <a:head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/>
          <p:cNvCxnSpPr>
            <a:stCxn id="9" idx="2"/>
            <a:endCxn id="5" idx="7"/>
          </p:cNvCxnSpPr>
          <p:nvPr/>
        </p:nvCxnSpPr>
        <p:spPr>
          <a:xfrm flipH="1">
            <a:off x="4177134" y="2789501"/>
            <a:ext cx="1681201" cy="707227"/>
          </a:xfrm>
          <a:prstGeom prst="line">
            <a:avLst/>
          </a:prstGeom>
          <a:ln w="28575">
            <a:solidFill>
              <a:srgbClr val="00B050"/>
            </a:solidFill>
            <a:head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/>
          <p:cNvCxnSpPr>
            <a:stCxn id="7" idx="1"/>
            <a:endCxn id="5" idx="5"/>
          </p:cNvCxnSpPr>
          <p:nvPr/>
        </p:nvCxnSpPr>
        <p:spPr>
          <a:xfrm flipH="1" flipV="1">
            <a:off x="4177134" y="3626044"/>
            <a:ext cx="1435788" cy="1183598"/>
          </a:xfrm>
          <a:prstGeom prst="line">
            <a:avLst/>
          </a:prstGeom>
          <a:ln w="28575">
            <a:solidFill>
              <a:srgbClr val="00B050"/>
            </a:solidFill>
            <a:head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188"/>
          <p:cNvGrpSpPr/>
          <p:nvPr/>
        </p:nvGrpSpPr>
        <p:grpSpPr>
          <a:xfrm>
            <a:off x="7595225" y="1800427"/>
            <a:ext cx="2895520" cy="523220"/>
            <a:chOff x="6192772" y="2987526"/>
            <a:chExt cx="2895520" cy="523220"/>
          </a:xfrm>
        </p:grpSpPr>
        <p:sp>
          <p:nvSpPr>
            <p:cNvPr id="186" name="TextBox 185"/>
            <p:cNvSpPr txBox="1"/>
            <p:nvPr/>
          </p:nvSpPr>
          <p:spPr>
            <a:xfrm>
              <a:off x="6192772" y="2987526"/>
              <a:ext cx="289552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i="1" dirty="0" err="1">
                  <a:latin typeface="Times New Roman"/>
                  <a:cs typeface="Times New Roman"/>
                </a:rPr>
                <a:t>SS</a:t>
              </a:r>
              <a:r>
                <a:rPr lang="en-US" sz="2800" baseline="-25000" dirty="0" err="1">
                  <a:latin typeface="Times New Roman"/>
                  <a:cs typeface="Times New Roman"/>
                </a:rPr>
                <a:t>total</a:t>
              </a:r>
              <a:r>
                <a:rPr lang="en-US" sz="2800" dirty="0">
                  <a:latin typeface="Times New Roman"/>
                  <a:cs typeface="Times New Roman"/>
                </a:rPr>
                <a:t> = </a:t>
              </a:r>
              <a:r>
                <a:rPr lang="en-US" sz="2800" dirty="0">
                  <a:latin typeface="Symbol" charset="2"/>
                  <a:cs typeface="Symbol" charset="2"/>
                </a:rPr>
                <a:t>S</a:t>
              </a:r>
              <a:r>
                <a:rPr lang="en-US" sz="2800" dirty="0">
                  <a:latin typeface="Times New Roman"/>
                  <a:cs typeface="Times New Roman"/>
                </a:rPr>
                <a:t>(</a:t>
              </a:r>
              <a:r>
                <a:rPr lang="en-US" sz="2800" i="1" dirty="0">
                  <a:solidFill>
                    <a:schemeClr val="accent1"/>
                  </a:solidFill>
                  <a:latin typeface="Times New Roman"/>
                  <a:cs typeface="Times New Roman"/>
                </a:rPr>
                <a:t>X</a:t>
              </a:r>
              <a:r>
                <a:rPr lang="en-US" sz="2800" dirty="0">
                  <a:solidFill>
                    <a:schemeClr val="accent1"/>
                  </a:solidFill>
                  <a:latin typeface="Times New Roman"/>
                  <a:cs typeface="Times New Roman"/>
                </a:rPr>
                <a:t> </a:t>
              </a:r>
              <a:r>
                <a:rPr lang="en-US" sz="2800" dirty="0">
                  <a:latin typeface="Times New Roman"/>
                  <a:cs typeface="Times New Roman"/>
                </a:rPr>
                <a:t>–</a:t>
              </a:r>
              <a:r>
                <a:rPr lang="en-US" sz="2800" dirty="0">
                  <a:solidFill>
                    <a:schemeClr val="accent1"/>
                  </a:solidFill>
                  <a:latin typeface="Times New Roman"/>
                  <a:cs typeface="Times New Roman"/>
                </a:rPr>
                <a:t> </a:t>
              </a:r>
              <a:r>
                <a:rPr lang="en-US" sz="2800" i="1" dirty="0">
                  <a:solidFill>
                    <a:srgbClr val="FF0000"/>
                  </a:solidFill>
                  <a:latin typeface="Times New Roman"/>
                  <a:cs typeface="Times New Roman"/>
                </a:rPr>
                <a:t>M</a:t>
              </a:r>
              <a:r>
                <a:rPr lang="en-US" sz="2800" dirty="0">
                  <a:latin typeface="Times New Roman"/>
                  <a:cs typeface="Times New Roman"/>
                </a:rPr>
                <a:t>)</a:t>
              </a:r>
              <a:r>
                <a:rPr lang="en-US" sz="2800" baseline="30000" dirty="0">
                  <a:latin typeface="Times New Roman"/>
                  <a:cs typeface="Times New Roman"/>
                </a:rPr>
                <a:t>2</a:t>
              </a:r>
              <a:endParaRPr lang="en-US" sz="2800" i="1" dirty="0">
                <a:latin typeface="Times New Roman"/>
                <a:cs typeface="Times New Roman"/>
              </a:endParaRPr>
            </a:p>
          </p:txBody>
        </p:sp>
        <p:cxnSp>
          <p:nvCxnSpPr>
            <p:cNvPr id="188" name="Straight Connector 187"/>
            <p:cNvCxnSpPr/>
            <p:nvPr/>
          </p:nvCxnSpPr>
          <p:spPr>
            <a:xfrm>
              <a:off x="8391525" y="3124200"/>
              <a:ext cx="254000" cy="1588"/>
            </a:xfrm>
            <a:prstGeom prst="line">
              <a:avLst/>
            </a:prstGeom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0" name="TextBox 189"/>
          <p:cNvSpPr txBox="1"/>
          <p:nvPr/>
        </p:nvSpPr>
        <p:spPr>
          <a:xfrm>
            <a:off x="7591723" y="2861031"/>
            <a:ext cx="3752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err="1" smtClean="0">
                <a:latin typeface="Times New Roman"/>
                <a:cs typeface="Times New Roman"/>
              </a:rPr>
              <a:t>SS</a:t>
            </a:r>
            <a:r>
              <a:rPr lang="en-US" sz="2800" baseline="-25000" dirty="0" err="1" smtClean="0">
                <a:latin typeface="Times New Roman"/>
                <a:cs typeface="Times New Roman"/>
              </a:rPr>
              <a:t>within</a:t>
            </a:r>
            <a:r>
              <a:rPr lang="en-US" sz="2800" dirty="0" smtClean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= </a:t>
            </a:r>
            <a:r>
              <a:rPr lang="en-US" sz="2800" dirty="0">
                <a:latin typeface="Symbol" charset="2"/>
                <a:cs typeface="Symbol" charset="2"/>
              </a:rPr>
              <a:t>S</a:t>
            </a:r>
            <a:r>
              <a:rPr lang="en-US" sz="2800" i="1" baseline="-25000" dirty="0">
                <a:latin typeface="Times New Roman"/>
                <a:cs typeface="Times New Roman"/>
              </a:rPr>
              <a:t>i</a:t>
            </a:r>
            <a:r>
              <a:rPr lang="en-US" sz="2800" dirty="0">
                <a:latin typeface="Times New Roman"/>
                <a:cs typeface="Times New Roman"/>
              </a:rPr>
              <a:t>(</a:t>
            </a:r>
            <a:r>
              <a:rPr lang="en-US" sz="2800" dirty="0">
                <a:latin typeface="Symbol" charset="2"/>
                <a:cs typeface="Symbol" charset="2"/>
              </a:rPr>
              <a:t>S</a:t>
            </a:r>
            <a:r>
              <a:rPr lang="en-US" sz="2800" dirty="0">
                <a:latin typeface="Times New Roman"/>
                <a:cs typeface="Times New Roman"/>
              </a:rPr>
              <a:t>(</a:t>
            </a:r>
            <a:r>
              <a:rPr lang="en-US" sz="2800" i="1" dirty="0">
                <a:solidFill>
                  <a:schemeClr val="accent1"/>
                </a:solidFill>
                <a:latin typeface="Times New Roman"/>
                <a:cs typeface="Times New Roman"/>
              </a:rPr>
              <a:t>X</a:t>
            </a:r>
            <a:r>
              <a:rPr lang="en-US" sz="2800" i="1" baseline="-25000" dirty="0">
                <a:solidFill>
                  <a:schemeClr val="accent1"/>
                </a:solidFill>
                <a:latin typeface="Times New Roman"/>
                <a:cs typeface="Times New Roman"/>
              </a:rPr>
              <a:t>i</a:t>
            </a:r>
            <a:r>
              <a:rPr lang="en-US" sz="2800" dirty="0">
                <a:solidFill>
                  <a:schemeClr val="accent1"/>
                </a:solidFill>
                <a:latin typeface="Times New Roman"/>
                <a:cs typeface="Times New Roman"/>
              </a:rPr>
              <a:t>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–</a:t>
            </a:r>
            <a:r>
              <a:rPr lang="en-US" sz="2800" dirty="0">
                <a:solidFill>
                  <a:schemeClr val="accent1"/>
                </a:solidFill>
                <a:latin typeface="Times New Roman"/>
                <a:cs typeface="Times New Roman"/>
              </a:rPr>
              <a:t> </a:t>
            </a:r>
            <a:r>
              <a:rPr lang="en-US" sz="2800" i="1" dirty="0">
                <a:solidFill>
                  <a:srgbClr val="00B050"/>
                </a:solidFill>
                <a:latin typeface="Times New Roman"/>
                <a:cs typeface="Times New Roman"/>
              </a:rPr>
              <a:t>M</a:t>
            </a:r>
            <a:r>
              <a:rPr lang="en-US" sz="2800" i="1" baseline="-25000" dirty="0">
                <a:solidFill>
                  <a:srgbClr val="00B050"/>
                </a:solidFill>
                <a:latin typeface="Times New Roman"/>
                <a:cs typeface="Times New Roman"/>
              </a:rPr>
              <a:t>i</a:t>
            </a:r>
            <a:r>
              <a:rPr lang="en-US" sz="2800" dirty="0">
                <a:latin typeface="Times New Roman"/>
                <a:cs typeface="Times New Roman"/>
              </a:rPr>
              <a:t>)</a:t>
            </a:r>
            <a:r>
              <a:rPr lang="en-US" sz="2800" baseline="30000" dirty="0">
                <a:latin typeface="Times New Roman"/>
                <a:cs typeface="Times New Roman"/>
              </a:rPr>
              <a:t>2</a:t>
            </a:r>
            <a:r>
              <a:rPr lang="en-US" sz="2800" dirty="0">
                <a:latin typeface="Times New Roman"/>
                <a:cs typeface="Times New Roman"/>
              </a:rPr>
              <a:t>)</a:t>
            </a:r>
            <a:endParaRPr lang="en-US" sz="2800" i="1" dirty="0">
              <a:latin typeface="Times New Roman"/>
              <a:cs typeface="Times New Roman"/>
            </a:endParaRPr>
          </a:p>
        </p:txBody>
      </p:sp>
      <p:grpSp>
        <p:nvGrpSpPr>
          <p:cNvPr id="30" name="Group 191"/>
          <p:cNvGrpSpPr/>
          <p:nvPr/>
        </p:nvGrpSpPr>
        <p:grpSpPr>
          <a:xfrm>
            <a:off x="7595226" y="3929191"/>
            <a:ext cx="3679725" cy="523220"/>
            <a:chOff x="6192772" y="2987526"/>
            <a:chExt cx="3679725" cy="523220"/>
          </a:xfrm>
        </p:grpSpPr>
        <p:sp>
          <p:nvSpPr>
            <p:cNvPr id="193" name="TextBox 192"/>
            <p:cNvSpPr txBox="1"/>
            <p:nvPr/>
          </p:nvSpPr>
          <p:spPr>
            <a:xfrm>
              <a:off x="6192772" y="2987526"/>
              <a:ext cx="367972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i="1" dirty="0" err="1" smtClean="0">
                  <a:latin typeface="Times New Roman"/>
                  <a:cs typeface="Times New Roman"/>
                </a:rPr>
                <a:t>SS</a:t>
              </a:r>
              <a:r>
                <a:rPr lang="en-US" sz="2800" baseline="-25000" dirty="0" err="1" smtClean="0">
                  <a:latin typeface="Times New Roman"/>
                  <a:cs typeface="Times New Roman"/>
                </a:rPr>
                <a:t>effect</a:t>
              </a:r>
              <a:r>
                <a:rPr lang="en-US" sz="2800" dirty="0" smtClean="0">
                  <a:latin typeface="Times New Roman"/>
                  <a:cs typeface="Times New Roman"/>
                </a:rPr>
                <a:t> </a:t>
              </a:r>
              <a:r>
                <a:rPr lang="en-US" sz="2800" dirty="0">
                  <a:latin typeface="Times New Roman"/>
                  <a:cs typeface="Times New Roman"/>
                </a:rPr>
                <a:t>= </a:t>
              </a:r>
              <a:r>
                <a:rPr lang="en-US" sz="2800" dirty="0">
                  <a:latin typeface="Symbol" charset="2"/>
                  <a:cs typeface="Symbol" charset="2"/>
                </a:rPr>
                <a:t>S</a:t>
              </a:r>
              <a:r>
                <a:rPr lang="en-US" sz="2800" i="1" baseline="-25000" dirty="0">
                  <a:latin typeface="Times New Roman"/>
                  <a:cs typeface="Times New Roman"/>
                </a:rPr>
                <a:t>i</a:t>
              </a:r>
              <a:r>
                <a:rPr lang="en-US" sz="2800" dirty="0">
                  <a:latin typeface="Times New Roman"/>
                  <a:cs typeface="Times New Roman"/>
                </a:rPr>
                <a:t>(</a:t>
              </a:r>
              <a:r>
                <a:rPr lang="en-US" sz="2800" i="1" dirty="0" err="1">
                  <a:solidFill>
                    <a:srgbClr val="00B050"/>
                  </a:solidFill>
                  <a:latin typeface="Times New Roman"/>
                  <a:cs typeface="Times New Roman"/>
                </a:rPr>
                <a:t>n</a:t>
              </a:r>
              <a:r>
                <a:rPr lang="en-US" sz="2800" i="1" baseline="-25000" dirty="0" err="1">
                  <a:solidFill>
                    <a:srgbClr val="00B050"/>
                  </a:solidFill>
                  <a:latin typeface="Times New Roman"/>
                  <a:cs typeface="Times New Roman"/>
                </a:rPr>
                <a:t>i</a:t>
              </a:r>
              <a:r>
                <a:rPr lang="en-US" sz="2800" dirty="0">
                  <a:latin typeface="Times New Roman"/>
                  <a:cs typeface="Times New Roman"/>
                </a:rPr>
                <a:t>(</a:t>
              </a:r>
              <a:r>
                <a:rPr lang="en-US" sz="2800" i="1" dirty="0" err="1">
                  <a:solidFill>
                    <a:srgbClr val="00B050"/>
                  </a:solidFill>
                  <a:latin typeface="Times New Roman"/>
                  <a:cs typeface="Times New Roman"/>
                </a:rPr>
                <a:t>M</a:t>
              </a:r>
              <a:r>
                <a:rPr lang="en-US" sz="2800" i="1" baseline="-25000" dirty="0" err="1">
                  <a:solidFill>
                    <a:srgbClr val="00B050"/>
                  </a:solidFill>
                  <a:latin typeface="Times New Roman"/>
                  <a:cs typeface="Times New Roman"/>
                </a:rPr>
                <a:t>i</a:t>
              </a:r>
              <a:r>
                <a:rPr lang="en-US" sz="2800" dirty="0">
                  <a:solidFill>
                    <a:srgbClr val="9BBB59"/>
                  </a:solidFill>
                  <a:latin typeface="Times New Roman"/>
                  <a:cs typeface="Times New Roman"/>
                </a:rPr>
                <a:t> </a:t>
              </a:r>
              <a:r>
                <a:rPr lang="en-US" sz="2800" dirty="0">
                  <a:solidFill>
                    <a:srgbClr val="77933C"/>
                  </a:solidFill>
                  <a:latin typeface="Times New Roman"/>
                  <a:cs typeface="Times New Roman"/>
                </a:rPr>
                <a:t>–</a:t>
              </a:r>
              <a:r>
                <a:rPr lang="en-US" sz="2800" dirty="0">
                  <a:solidFill>
                    <a:schemeClr val="accent1"/>
                  </a:solidFill>
                  <a:latin typeface="Times New Roman"/>
                  <a:cs typeface="Times New Roman"/>
                </a:rPr>
                <a:t> </a:t>
              </a:r>
              <a:r>
                <a:rPr lang="en-US" sz="2800" i="1" dirty="0">
                  <a:solidFill>
                    <a:srgbClr val="FF0000"/>
                  </a:solidFill>
                  <a:latin typeface="Times New Roman"/>
                  <a:cs typeface="Times New Roman"/>
                </a:rPr>
                <a:t>M</a:t>
              </a:r>
              <a:r>
                <a:rPr lang="en-US" sz="2800" dirty="0">
                  <a:latin typeface="Times New Roman"/>
                  <a:cs typeface="Times New Roman"/>
                </a:rPr>
                <a:t>)</a:t>
              </a:r>
              <a:r>
                <a:rPr lang="en-US" sz="2800" baseline="30000" dirty="0">
                  <a:latin typeface="Times New Roman"/>
                  <a:cs typeface="Times New Roman"/>
                </a:rPr>
                <a:t>2</a:t>
              </a:r>
              <a:r>
                <a:rPr lang="en-US" sz="2800" dirty="0">
                  <a:latin typeface="Times New Roman"/>
                  <a:cs typeface="Times New Roman"/>
                </a:rPr>
                <a:t>)</a:t>
              </a:r>
              <a:endParaRPr lang="en-US" sz="2800" i="1" dirty="0">
                <a:latin typeface="Times New Roman"/>
                <a:cs typeface="Times New Roman"/>
              </a:endParaRPr>
            </a:p>
          </p:txBody>
        </p:sp>
        <p:cxnSp>
          <p:nvCxnSpPr>
            <p:cNvPr id="194" name="Straight Connector 193"/>
            <p:cNvCxnSpPr/>
            <p:nvPr/>
          </p:nvCxnSpPr>
          <p:spPr>
            <a:xfrm>
              <a:off x="9438126" y="3124200"/>
              <a:ext cx="254000" cy="1588"/>
            </a:xfrm>
            <a:prstGeom prst="line">
              <a:avLst/>
            </a:prstGeom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Oval 4"/>
          <p:cNvSpPr/>
          <p:nvPr/>
        </p:nvSpPr>
        <p:spPr>
          <a:xfrm>
            <a:off x="4021036" y="3469946"/>
            <a:ext cx="182880" cy="18288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/>
          <p:cNvSpPr/>
          <p:nvPr/>
        </p:nvSpPr>
        <p:spPr>
          <a:xfrm>
            <a:off x="3923712" y="3395614"/>
            <a:ext cx="365760" cy="36576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396498" y="2471749"/>
            <a:ext cx="182880" cy="182880"/>
          </a:xfrm>
          <a:prstGeom prst="ellipse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858335" y="2698061"/>
            <a:ext cx="182880" cy="182880"/>
          </a:xfrm>
          <a:prstGeom prst="ellipse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5586140" y="4782860"/>
            <a:ext cx="182880" cy="182880"/>
          </a:xfrm>
          <a:prstGeom prst="ellipse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552596" y="4379042"/>
            <a:ext cx="182880" cy="182880"/>
          </a:xfrm>
          <a:prstGeom prst="ellipse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Oval 207"/>
          <p:cNvSpPr/>
          <p:nvPr/>
        </p:nvSpPr>
        <p:spPr>
          <a:xfrm>
            <a:off x="2345106" y="2443281"/>
            <a:ext cx="274320" cy="274320"/>
          </a:xfrm>
          <a:prstGeom prst="ellipse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" name="Oval 220"/>
          <p:cNvSpPr/>
          <p:nvPr/>
        </p:nvSpPr>
        <p:spPr>
          <a:xfrm>
            <a:off x="2489693" y="4338210"/>
            <a:ext cx="274320" cy="274320"/>
          </a:xfrm>
          <a:prstGeom prst="ellipse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" name="Oval 221"/>
          <p:cNvSpPr/>
          <p:nvPr/>
        </p:nvSpPr>
        <p:spPr>
          <a:xfrm>
            <a:off x="5528372" y="4737140"/>
            <a:ext cx="274320" cy="274320"/>
          </a:xfrm>
          <a:prstGeom prst="ellipse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Oval 222"/>
          <p:cNvSpPr/>
          <p:nvPr/>
        </p:nvSpPr>
        <p:spPr>
          <a:xfrm>
            <a:off x="5827206" y="2619666"/>
            <a:ext cx="274320" cy="274320"/>
          </a:xfrm>
          <a:prstGeom prst="ellipse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smtClean="0"/>
              <a:t>The magic of squares!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402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190" grpId="0"/>
      <p:bldP spid="5" grpId="0" animBg="1"/>
      <p:bldP spid="85" grpId="0" animBg="1"/>
      <p:bldP spid="6" grpId="0" animBg="1"/>
      <p:bldP spid="9" grpId="0" animBg="1"/>
      <p:bldP spid="7" grpId="0" animBg="1"/>
      <p:bldP spid="8" grpId="0" animBg="1"/>
      <p:bldP spid="208" grpId="0" animBg="1"/>
      <p:bldP spid="221" grpId="0" animBg="1"/>
      <p:bldP spid="222" grpId="0" animBg="1"/>
      <p:bldP spid="22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527</TotalTime>
  <Words>1080</Words>
  <Application>Microsoft Office PowerPoint</Application>
  <PresentationFormat>Widescreen</PresentationFormat>
  <Paragraphs>545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Symbol</vt:lpstr>
      <vt:lpstr>Times New Roman</vt:lpstr>
      <vt:lpstr>Office Theme</vt:lpstr>
      <vt:lpstr>Non-Independence in Nested Designs</vt:lpstr>
      <vt:lpstr>Non-independence in a nested example.</vt:lpstr>
      <vt:lpstr>Non-independence in a nested example.</vt:lpstr>
      <vt:lpstr>Non-independence in a nested example.</vt:lpstr>
      <vt:lpstr>Non-independence in a nested example.</vt:lpstr>
      <vt:lpstr>Non-independence in a nested example.</vt:lpstr>
      <vt:lpstr>Non-independence in a nested example.</vt:lpstr>
      <vt:lpstr>Non-independence in a nested example.</vt:lpstr>
      <vt:lpstr>Non-independence in a nested example.</vt:lpstr>
      <vt:lpstr>Non-independence in a nested example.</vt:lpstr>
      <vt:lpstr>The magic of squares!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Nonlinear and Moderated Models.</dc:title>
  <dc:creator>Keith Lohse</dc:creator>
  <cp:lastModifiedBy>Keith Lohse</cp:lastModifiedBy>
  <cp:revision>34</cp:revision>
  <dcterms:created xsi:type="dcterms:W3CDTF">2019-02-09T14:44:07Z</dcterms:created>
  <dcterms:modified xsi:type="dcterms:W3CDTF">2020-03-22T20:56:25Z</dcterms:modified>
</cp:coreProperties>
</file>
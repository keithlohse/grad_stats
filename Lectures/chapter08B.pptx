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82" r:id="rId2"/>
    <p:sldId id="384" r:id="rId3"/>
    <p:sldId id="385" r:id="rId4"/>
    <p:sldId id="386" r:id="rId5"/>
    <p:sldId id="388" r:id="rId6"/>
    <p:sldId id="389" r:id="rId7"/>
    <p:sldId id="3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35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1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36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2/24/2019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2/24/2019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Estimating Coefficients with Contrast-Coded Predictors.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Contrast Codes in Practice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373894"/>
          <a:ext cx="3704304" cy="525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768">
                  <a:extLst>
                    <a:ext uri="{9D8B030D-6E8A-4147-A177-3AD203B41FA5}">
                      <a16:colId xmlns:a16="http://schemas.microsoft.com/office/drawing/2014/main" val="1656743320"/>
                    </a:ext>
                  </a:extLst>
                </a:gridCol>
                <a:gridCol w="1234768">
                  <a:extLst>
                    <a:ext uri="{9D8B030D-6E8A-4147-A177-3AD203B41FA5}">
                      <a16:colId xmlns:a16="http://schemas.microsoft.com/office/drawing/2014/main" val="3292088974"/>
                    </a:ext>
                  </a:extLst>
                </a:gridCol>
                <a:gridCol w="1234768">
                  <a:extLst>
                    <a:ext uri="{9D8B030D-6E8A-4147-A177-3AD203B41FA5}">
                      <a16:colId xmlns:a16="http://schemas.microsoft.com/office/drawing/2014/main" val="3934472060"/>
                    </a:ext>
                  </a:extLst>
                </a:gridCol>
              </a:tblGrid>
              <a:tr h="24978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88157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3196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22898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802165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7999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9315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51558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9844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47236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71470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36256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120356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2952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183123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36515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814990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128994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21554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89508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107792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r>
                        <a:rPr lang="en-US" sz="1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986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149644" y="1599483"/>
                <a:ext cx="6422923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If we want to test the efficacy of an SAT prep course, we would have a model comparison:</a:t>
                </a:r>
              </a:p>
              <a:p>
                <a:pPr lvl="1"/>
                <a:r>
                  <a:rPr lang="en-US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in Model C we are hypothesizing there is no effect of an SAT prep course. </a:t>
                </a:r>
              </a:p>
              <a:p>
                <a:pPr lvl="1"/>
                <a:r>
                  <a:rPr lang="en-US" dirty="0"/>
                  <a:t>In Model A, we are allowing for a non-zero effect.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49644" y="1599483"/>
                <a:ext cx="6422923" cy="4351338"/>
              </a:xfrm>
              <a:blipFill>
                <a:blip r:embed="rId3"/>
                <a:stretch>
                  <a:fillRect l="-1709" t="-3081" r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0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769"/>
          </a:xfrm>
        </p:spPr>
        <p:txBody>
          <a:bodyPr/>
          <a:lstStyle/>
          <a:p>
            <a:r>
              <a:rPr lang="en-US" dirty="0"/>
              <a:t>Error and ‘Fitting’ Model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49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Student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Group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</a:t>
                          </a:r>
                          <a:r>
                            <a:rPr lang="en-US" sz="1100" baseline="-25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10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𝒄𝒊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𝒄𝒊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𝒄𝒊</m:t>
                                    </m:r>
                                  </m:sub>
                                  <m:sup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4761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841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49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2401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841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3721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361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3721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81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712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Student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Group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SAT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X</a:t>
                          </a:r>
                          <a:r>
                            <a:rPr lang="en-US" sz="1100" baseline="-25000" dirty="0" smtClean="0"/>
                            <a:t>1</a:t>
                          </a:r>
                          <a:endParaRPr lang="en-US" sz="11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222" r="-2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2222" r="-1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0000" t="-2222" r="-3252" b="-1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-31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961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4761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841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640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49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2401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841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-61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3721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550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361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-61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3721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81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7541342" y="1442589"/>
                <a:ext cx="2743200" cy="62205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541342" y="1442589"/>
                <a:ext cx="2743200" cy="622054"/>
              </a:xfrm>
              <a:blipFill>
                <a:blip r:embed="rId4"/>
                <a:stretch>
                  <a:fillRect t="-16667" b="-4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541341" y="2826575"/>
                <a:ext cx="2269917" cy="832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341" y="2826575"/>
                <a:ext cx="2269917" cy="8329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7541341" y="4544666"/>
                <a:ext cx="2743201" cy="4988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 smtClean="0"/>
                  <a:t>C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=591+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341" y="4544666"/>
                <a:ext cx="2743201" cy="498881"/>
              </a:xfrm>
              <a:prstGeom prst="rect">
                <a:avLst/>
              </a:prstGeom>
              <a:blipFill>
                <a:blip r:embed="rId6"/>
                <a:stretch>
                  <a:fillRect l="-2000" t="-20988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urved Connector 8"/>
          <p:cNvCxnSpPr>
            <a:stCxn id="4" idx="1"/>
            <a:endCxn id="3" idx="1"/>
          </p:cNvCxnSpPr>
          <p:nvPr/>
        </p:nvCxnSpPr>
        <p:spPr>
          <a:xfrm rot="10800000" flipV="1">
            <a:off x="7541342" y="1753616"/>
            <a:ext cx="1" cy="148945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>
            <a:stCxn id="3" idx="3"/>
            <a:endCxn id="8" idx="3"/>
          </p:cNvCxnSpPr>
          <p:nvPr/>
        </p:nvCxnSpPr>
        <p:spPr>
          <a:xfrm>
            <a:off x="9811258" y="3243068"/>
            <a:ext cx="473284" cy="1551039"/>
          </a:xfrm>
          <a:prstGeom prst="curvedConnector3">
            <a:avLst>
              <a:gd name="adj1" fmla="val 1483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51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769"/>
          </a:xfrm>
        </p:spPr>
        <p:txBody>
          <a:bodyPr/>
          <a:lstStyle/>
          <a:p>
            <a:r>
              <a:rPr lang="en-US" dirty="0"/>
              <a:t>Error and ‘Fitting’ Model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  <p:extLst/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49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Student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Group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</a:t>
                          </a:r>
                          <a:r>
                            <a:rPr lang="en-US" sz="1100" baseline="-25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10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𝒂𝒊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𝒂𝒊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𝒂𝒊</m:t>
                                    </m:r>
                                  </m:sub>
                                  <m:sup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2025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3025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729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1089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482828565"/>
                  </p:ext>
                </p:extLst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712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Student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Group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SAT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X</a:t>
                          </a:r>
                          <a:r>
                            <a:rPr lang="en-US" sz="1100" baseline="-25000" dirty="0" smtClean="0"/>
                            <a:t>1</a:t>
                          </a:r>
                          <a:endParaRPr lang="en-US" sz="11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222" r="-2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2222" r="-1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0000" t="-2222" r="-3252" b="-1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2025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3025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640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2209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550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729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1089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2209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479458" y="1373894"/>
                <a:ext cx="3529782" cy="50406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79458" y="1373894"/>
                <a:ext cx="3529782" cy="504067"/>
              </a:xfrm>
              <a:blipFill>
                <a:blip r:embed="rId4"/>
                <a:stretch>
                  <a:fillRect l="-1900" t="-19277" b="-28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6479457" y="5606080"/>
                <a:ext cx="4188543" cy="5593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 smtClean="0"/>
                  <a:t>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=591+14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457" y="5606080"/>
                <a:ext cx="4188543" cy="559394"/>
              </a:xfrm>
              <a:prstGeom prst="rect">
                <a:avLst/>
              </a:prstGeom>
              <a:blipFill>
                <a:blip r:embed="rId5"/>
                <a:stretch>
                  <a:fillRect l="-2183" t="-18681" b="-17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631405" y="2578079"/>
                <a:ext cx="1722395" cy="808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b="0" i="1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405" y="2578079"/>
                <a:ext cx="1722395" cy="808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479458" y="4120251"/>
                <a:ext cx="4953472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577+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605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458" y="4120251"/>
                <a:ext cx="4953472" cy="7689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urved Connector 4"/>
          <p:cNvCxnSpPr>
            <a:stCxn id="4" idx="3"/>
            <a:endCxn id="9" idx="0"/>
          </p:cNvCxnSpPr>
          <p:nvPr/>
        </p:nvCxnSpPr>
        <p:spPr>
          <a:xfrm>
            <a:off x="10009240" y="1625928"/>
            <a:ext cx="483363" cy="95215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>
            <a:stCxn id="9" idx="1"/>
            <a:endCxn id="10" idx="0"/>
          </p:cNvCxnSpPr>
          <p:nvPr/>
        </p:nvCxnSpPr>
        <p:spPr>
          <a:xfrm rot="10800000" flipV="1">
            <a:off x="8956195" y="2982389"/>
            <a:ext cx="675211" cy="113786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10" idx="3"/>
            <a:endCxn id="8" idx="3"/>
          </p:cNvCxnSpPr>
          <p:nvPr/>
        </p:nvCxnSpPr>
        <p:spPr>
          <a:xfrm flipH="1">
            <a:off x="10668000" y="4504748"/>
            <a:ext cx="764930" cy="1381029"/>
          </a:xfrm>
          <a:prstGeom prst="curvedConnector3">
            <a:avLst>
              <a:gd name="adj1" fmla="val -298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8769"/>
          </a:xfrm>
        </p:spPr>
        <p:txBody>
          <a:bodyPr/>
          <a:lstStyle/>
          <a:p>
            <a:r>
              <a:rPr lang="en-US" dirty="0"/>
              <a:t>Error and ‘Fitting’ Model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  <p:extLst/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497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Student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Group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SAT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X</a:t>
                          </a:r>
                          <a:r>
                            <a:rPr lang="en-US" sz="1100" baseline="-25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10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100" b="1" i="1" baseline="0" smtClean="0">
                                            <a:latin typeface="Cambria Math" panose="02040503050406030204" pitchFamily="18" charset="0"/>
                                          </a:rPr>
                                          <m:t>𝒂𝒊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𝒂𝒊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𝒂𝒊</m:t>
                                    </m:r>
                                  </m:sub>
                                  <m:sup>
                                    <m:r>
                                      <a:rPr lang="en-US" sz="1100" b="1" i="1" baseline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2025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3025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729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1089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2209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169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/>
                            <a:t>No Course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/>
                            <a:t>529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482828565"/>
                  </p:ext>
                </p:extLst>
              </p:nvPr>
            </p:nvGraphicFramePr>
            <p:xfrm>
              <a:off x="838198" y="1373894"/>
              <a:ext cx="5238135" cy="52669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305">
                      <a:extLst>
                        <a:ext uri="{9D8B030D-6E8A-4147-A177-3AD203B41FA5}">
                          <a16:colId xmlns:a16="http://schemas.microsoft.com/office/drawing/2014/main" val="165674332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292088974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34472060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21621219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990455921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1257797985"/>
                        </a:ext>
                      </a:extLst>
                    </a:gridCol>
                    <a:gridCol w="748305">
                      <a:extLst>
                        <a:ext uri="{9D8B030D-6E8A-4147-A177-3AD203B41FA5}">
                          <a16:colId xmlns:a16="http://schemas.microsoft.com/office/drawing/2014/main" val="3528653587"/>
                        </a:ext>
                      </a:extLst>
                    </a:gridCol>
                  </a:tblGrid>
                  <a:tr h="2712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Student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Group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SAT</a:t>
                          </a:r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 smtClean="0"/>
                            <a:t>X</a:t>
                          </a:r>
                          <a:r>
                            <a:rPr lang="en-US" sz="1100" baseline="-25000" dirty="0" smtClean="0"/>
                            <a:t>1</a:t>
                          </a:r>
                          <a:endParaRPr lang="en-US" sz="1100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222" r="-2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2222" r="-103252" b="-18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0000" t="-2222" r="-3252" b="-18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488157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373196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2025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22898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660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3025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802165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577999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99315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51558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9844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640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472361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0714708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25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36256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580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6120356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12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2209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2952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2183123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14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550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-27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729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1365159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15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610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33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1089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814990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16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6128994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15547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18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530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-47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2209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89508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19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590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169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9107792"/>
                      </a:ext>
                    </a:extLst>
                  </a:tr>
                  <a:tr h="249786"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20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000" dirty="0" smtClean="0"/>
                            <a:t>No Course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600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-1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577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23</a:t>
                          </a:r>
                          <a:endParaRPr lang="en-US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529</a:t>
                          </a:r>
                          <a:endParaRPr lang="en-US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22986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479458" y="1373894"/>
                <a:ext cx="3529782" cy="50406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79458" y="1373894"/>
                <a:ext cx="3529782" cy="504067"/>
              </a:xfrm>
              <a:blipFill>
                <a:blip r:embed="rId4"/>
                <a:stretch>
                  <a:fillRect l="-1900" t="-19277" b="-28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6479457" y="5606080"/>
                <a:ext cx="4188543" cy="5593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 smtClean="0"/>
                  <a:t>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=591+14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457" y="5606080"/>
                <a:ext cx="4188543" cy="559394"/>
              </a:xfrm>
              <a:prstGeom prst="rect">
                <a:avLst/>
              </a:prstGeom>
              <a:blipFill>
                <a:blip r:embed="rId5"/>
                <a:stretch>
                  <a:fillRect l="-2183" t="-18681" b="-17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631405" y="2578079"/>
                <a:ext cx="1722395" cy="808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405" y="2578079"/>
                <a:ext cx="1722395" cy="808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urved Connector 4"/>
          <p:cNvCxnSpPr>
            <a:stCxn id="4" idx="2"/>
            <a:endCxn id="13" idx="0"/>
          </p:cNvCxnSpPr>
          <p:nvPr/>
        </p:nvCxnSpPr>
        <p:spPr>
          <a:xfrm rot="5400000">
            <a:off x="7410900" y="1741534"/>
            <a:ext cx="697022" cy="9698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>
            <a:stCxn id="13" idx="3"/>
            <a:endCxn id="14" idx="0"/>
          </p:cNvCxnSpPr>
          <p:nvPr/>
        </p:nvCxnSpPr>
        <p:spPr>
          <a:xfrm>
            <a:off x="7986077" y="2932036"/>
            <a:ext cx="142539" cy="105067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14" idx="2"/>
            <a:endCxn id="8" idx="0"/>
          </p:cNvCxnSpPr>
          <p:nvPr/>
        </p:nvCxnSpPr>
        <p:spPr>
          <a:xfrm rot="16200000" flipH="1">
            <a:off x="7888973" y="4921324"/>
            <a:ext cx="924398" cy="4451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562867" y="2574983"/>
                <a:ext cx="1423210" cy="714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867" y="2574983"/>
                <a:ext cx="1423210" cy="7141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562867" y="3982708"/>
                <a:ext cx="3131498" cy="698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605+577 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=591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867" y="3982708"/>
                <a:ext cx="3131498" cy="6989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55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Least Squares Estimates for Categorical Predictors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practice, we get statistical programs to obtain these parameters estimates for us.</a:t>
            </a:r>
          </a:p>
          <a:p>
            <a:endParaRPr lang="en-US" dirty="0"/>
          </a:p>
          <a:p>
            <a:r>
              <a:rPr lang="en-US" dirty="0" smtClean="0"/>
              <a:t>However, it is important to understand how these parameter estimates are obtained and how we should interpret them based on the coding of our variables.</a:t>
            </a:r>
          </a:p>
          <a:p>
            <a:pPr lvl="1"/>
            <a:r>
              <a:rPr lang="en-US" dirty="0" smtClean="0"/>
              <a:t>Treatment/ ‘dummy’-codes are certainly valid, but contrast-codes offer a number of computational and interpretational advantages.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1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 t-test versus “the t-test”?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Often, </a:t>
            </a:r>
            <a:r>
              <a:rPr lang="en-US" dirty="0" smtClean="0"/>
              <a:t>especially in undergraduate </a:t>
            </a:r>
            <a:r>
              <a:rPr lang="en-US" dirty="0"/>
              <a:t>courses, ‘ the t-test’ might be taught as a specific test *only* for comparing </a:t>
            </a:r>
            <a:r>
              <a:rPr lang="en-US" dirty="0" smtClean="0"/>
              <a:t>two group-means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Either implicitly or explicitly, students learn that t-tests are some thing different and distinct from regression.</a:t>
            </a:r>
            <a:endParaRPr lang="en-US" dirty="0"/>
          </a:p>
          <a:p>
            <a:endParaRPr lang="en-US" b="1" dirty="0" smtClean="0"/>
          </a:p>
          <a:p>
            <a:r>
              <a:rPr lang="en-US" dirty="0" smtClean="0"/>
              <a:t>In the general linear modeling framework, however, we have shown that we can conduct a t-test in any situation in which we have a single degree of freedom in the numerator (i.e., PA – PC = 1).</a:t>
            </a:r>
          </a:p>
          <a:p>
            <a:pPr lvl="1"/>
            <a:r>
              <a:rPr lang="en-US" dirty="0" smtClean="0"/>
              <a:t>We can conduct a t-test for an intercept,</a:t>
            </a:r>
          </a:p>
          <a:p>
            <a:pPr lvl="1"/>
            <a:r>
              <a:rPr lang="en-US" dirty="0" smtClean="0"/>
              <a:t>for the slope of a continuous variable,</a:t>
            </a:r>
          </a:p>
          <a:p>
            <a:pPr lvl="1"/>
            <a:r>
              <a:rPr lang="en-US" dirty="0" smtClean="0"/>
              <a:t>for the slope of a categorical variable (i.e., difference between group-means). 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2/24/2019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2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894</Words>
  <Application>Microsoft Office PowerPoint</Application>
  <PresentationFormat>Widescreen</PresentationFormat>
  <Paragraphs>561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Estimating Coefficients with Contrast-Coded Predictors.</vt:lpstr>
      <vt:lpstr>Using Contrast Codes in Practice</vt:lpstr>
      <vt:lpstr>Error and ‘Fitting’ Model C</vt:lpstr>
      <vt:lpstr>Error and ‘Fitting’ Model A</vt:lpstr>
      <vt:lpstr>Error and ‘Fitting’ Model A</vt:lpstr>
      <vt:lpstr>Least Squares Estimates for Categorical Predictors</vt:lpstr>
      <vt:lpstr>A t-test versus “the t-test”?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20</cp:revision>
  <dcterms:created xsi:type="dcterms:W3CDTF">2019-02-09T14:44:07Z</dcterms:created>
  <dcterms:modified xsi:type="dcterms:W3CDTF">2019-02-24T22:48:29Z</dcterms:modified>
</cp:coreProperties>
</file>
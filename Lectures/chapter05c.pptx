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0"/>
  </p:notesMasterIdLst>
  <p:sldIdLst>
    <p:sldId id="382" r:id="rId2"/>
    <p:sldId id="383" r:id="rId3"/>
    <p:sldId id="385" r:id="rId4"/>
    <p:sldId id="394" r:id="rId5"/>
    <p:sldId id="395" r:id="rId6"/>
    <p:sldId id="384" r:id="rId7"/>
    <p:sldId id="387" r:id="rId8"/>
    <p:sldId id="386" r:id="rId9"/>
    <p:sldId id="388" r:id="rId10"/>
    <p:sldId id="390" r:id="rId11"/>
    <p:sldId id="389" r:id="rId12"/>
    <p:sldId id="391" r:id="rId13"/>
    <p:sldId id="392" r:id="rId14"/>
    <p:sldId id="393" r:id="rId15"/>
    <p:sldId id="396" r:id="rId16"/>
    <p:sldId id="397" r:id="rId17"/>
    <p:sldId id="398" r:id="rId18"/>
    <p:sldId id="3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Statistical Inferences About Parameters.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224B-3E0A-4A4C-A747-F70427EB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F31C19-B088-4909-B214-FF3EE5F18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 the previous lectures, we showed how to calculate estimates for our two linear parameters (slope and intercept).</a:t>
                </a:r>
              </a:p>
              <a:p>
                <a:endParaRPr lang="en-US" dirty="0"/>
              </a:p>
              <a:p>
                <a:r>
                  <a:rPr lang="en-US" dirty="0"/>
                  <a:t>We also showed how to interpret these parameters, especially as the zero-point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was changed or the scale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was changed. </a:t>
                </a:r>
              </a:p>
              <a:p>
                <a:endParaRPr lang="en-US" dirty="0"/>
              </a:p>
              <a:p>
                <a:r>
                  <a:rPr lang="en-US" dirty="0"/>
                  <a:t>Now, we will address how to make statistical inferences about parameters.</a:t>
                </a:r>
              </a:p>
              <a:p>
                <a:pPr lvl="1"/>
                <a:r>
                  <a:rPr lang="en-US" dirty="0"/>
                  <a:t>I.e., given what we observe in the sample, what can we say about the population.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F31C19-B088-4909-B214-FF3EE5F18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62097-6789-4009-9723-823E0495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A4373-71B3-4B9A-A4CE-EA371E23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2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5DBCE-2C82-407A-B108-D6EF620D4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85"/>
          <a:stretch/>
        </p:blipFill>
        <p:spPr>
          <a:xfrm>
            <a:off x="6992277" y="319215"/>
            <a:ext cx="3809524" cy="32805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163180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255896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blipFill>
                <a:blip r:embed="rId5"/>
                <a:stretch>
                  <a:fillRect l="-7031" t="-2174" r="-312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blipFill>
                <a:blip r:embed="rId6"/>
                <a:stretch>
                  <a:fillRect l="-2920" t="-2174" r="-510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52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5DBCE-2C82-407A-B108-D6EF620D4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85"/>
          <a:stretch/>
        </p:blipFill>
        <p:spPr>
          <a:xfrm>
            <a:off x="6992277" y="319215"/>
            <a:ext cx="3809524" cy="32805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3421783" y="3578809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926405" y="5132190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3642803" y="3948141"/>
                <a:ext cx="2331279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803" y="3948141"/>
                <a:ext cx="2331279" cy="584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147426" y="5501522"/>
                <a:ext cx="1339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26" y="5501522"/>
                <a:ext cx="1339020" cy="276999"/>
              </a:xfrm>
              <a:prstGeom prst="rect">
                <a:avLst/>
              </a:prstGeom>
              <a:blipFill>
                <a:blip r:embed="rId4"/>
                <a:stretch>
                  <a:fillRect l="-4091" r="-2409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163180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255896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blipFill>
                <a:blip r:embed="rId5"/>
                <a:stretch>
                  <a:fillRect l="-7031" t="-2174" r="-312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blipFill>
                <a:blip r:embed="rId6"/>
                <a:stretch>
                  <a:fillRect l="-2920" t="-2174" r="-510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endCxn id="7" idx="0"/>
          </p:cNvCxnSpPr>
          <p:nvPr/>
        </p:nvCxnSpPr>
        <p:spPr>
          <a:xfrm flipH="1">
            <a:off x="1484667" y="3374604"/>
            <a:ext cx="123796" cy="1757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1"/>
          </p:cNvCxnSpPr>
          <p:nvPr/>
        </p:nvCxnSpPr>
        <p:spPr>
          <a:xfrm>
            <a:off x="2190776" y="3303398"/>
            <a:ext cx="1231007" cy="460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48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5DBCE-2C82-407A-B108-D6EF620D4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85"/>
          <a:stretch/>
        </p:blipFill>
        <p:spPr>
          <a:xfrm>
            <a:off x="6992277" y="319215"/>
            <a:ext cx="3809524" cy="32805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15257B-1042-419E-B359-C7978F1957DE}"/>
              </a:ext>
            </a:extLst>
          </p:cNvPr>
          <p:cNvSpPr txBox="1"/>
          <p:nvPr/>
        </p:nvSpPr>
        <p:spPr>
          <a:xfrm>
            <a:off x="7238572" y="3953589"/>
            <a:ext cx="331693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Comparison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3421783" y="3578809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926405" y="5132190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3642803" y="3948141"/>
                <a:ext cx="2331279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803" y="3948141"/>
                <a:ext cx="2331279" cy="584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147426" y="5501522"/>
                <a:ext cx="1339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26" y="5501522"/>
                <a:ext cx="1339020" cy="276999"/>
              </a:xfrm>
              <a:prstGeom prst="rect">
                <a:avLst/>
              </a:prstGeom>
              <a:blipFill>
                <a:blip r:embed="rId4"/>
                <a:stretch>
                  <a:fillRect l="-4091" r="-2409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163180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255896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001140"/>
                <a:ext cx="783868" cy="276999"/>
              </a:xfrm>
              <a:prstGeom prst="rect">
                <a:avLst/>
              </a:prstGeom>
              <a:blipFill>
                <a:blip r:embed="rId5"/>
                <a:stretch>
                  <a:fillRect l="-7031" t="-2174" r="-312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2928301"/>
                <a:ext cx="1674561" cy="276999"/>
              </a:xfrm>
              <a:prstGeom prst="rect">
                <a:avLst/>
              </a:prstGeom>
              <a:blipFill>
                <a:blip r:embed="rId6"/>
                <a:stretch>
                  <a:fillRect l="-2920" t="-2174" r="-510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endCxn id="7" idx="0"/>
          </p:cNvCxnSpPr>
          <p:nvPr/>
        </p:nvCxnSpPr>
        <p:spPr>
          <a:xfrm flipH="1">
            <a:off x="1484667" y="3374604"/>
            <a:ext cx="123796" cy="1757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1"/>
          </p:cNvCxnSpPr>
          <p:nvPr/>
        </p:nvCxnSpPr>
        <p:spPr>
          <a:xfrm>
            <a:off x="2190776" y="3303398"/>
            <a:ext cx="1231007" cy="460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3"/>
            <a:endCxn id="10" idx="1"/>
          </p:cNvCxnSpPr>
          <p:nvPr/>
        </p:nvCxnSpPr>
        <p:spPr>
          <a:xfrm flipV="1">
            <a:off x="2486446" y="5246251"/>
            <a:ext cx="4752126" cy="3937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2"/>
            <a:endCxn id="10" idx="1"/>
          </p:cNvCxnSpPr>
          <p:nvPr/>
        </p:nvCxnSpPr>
        <p:spPr>
          <a:xfrm>
            <a:off x="4808443" y="4532788"/>
            <a:ext cx="2430129" cy="7134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71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</p:spPr>
            <p:txBody>
              <a:bodyPr/>
              <a:lstStyle/>
              <a:p>
                <a:r>
                  <a:rPr lang="en-US" dirty="0" smtClean="0"/>
                  <a:t>To see how much the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improves out model, we need to calculate PRE.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  <a:blipFill>
                <a:blip r:embed="rId3"/>
                <a:stretch>
                  <a:fillRect l="-1043" t="-10127" r="-2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3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</p:spPr>
            <p:txBody>
              <a:bodyPr/>
              <a:lstStyle/>
              <a:p>
                <a:r>
                  <a:rPr lang="en-US" dirty="0" smtClean="0"/>
                  <a:t>To see how much the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improves out model, we need to calculate PRE.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  <a:blipFill>
                <a:blip r:embed="rId3"/>
                <a:stretch>
                  <a:fillRect l="-1043" t="-10127" r="-2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5268513"/>
                <a:ext cx="3150157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68513"/>
                <a:ext cx="3150157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65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</p:spPr>
            <p:txBody>
              <a:bodyPr/>
              <a:lstStyle/>
              <a:p>
                <a:r>
                  <a:rPr lang="en-US" dirty="0" smtClean="0"/>
                  <a:t>To see how much the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improves out model, we need to calculate PRE.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  <a:blipFill>
                <a:blip r:embed="rId3"/>
                <a:stretch>
                  <a:fillRect l="-1043" t="-10127" r="-2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5268513"/>
                <a:ext cx="6339107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68513"/>
                <a:ext cx="6339107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23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</p:spPr>
            <p:txBody>
              <a:bodyPr/>
              <a:lstStyle/>
              <a:p>
                <a:r>
                  <a:rPr lang="en-US" dirty="0" smtClean="0"/>
                  <a:t>To see how much the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improves out model, we need to calculate PRE.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  <a:blipFill>
                <a:blip r:embed="rId3"/>
                <a:stretch>
                  <a:fillRect l="-1043" t="-10127" r="-2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5268513"/>
                <a:ext cx="6339107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68513"/>
                <a:ext cx="6339107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115257B-1042-419E-B359-C7978F1957DE}"/>
              </a:ext>
            </a:extLst>
          </p:cNvPr>
          <p:cNvSpPr txBox="1"/>
          <p:nvPr/>
        </p:nvSpPr>
        <p:spPr>
          <a:xfrm>
            <a:off x="4770365" y="2626799"/>
            <a:ext cx="7149714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    </a:t>
            </a:r>
            <a:r>
              <a:rPr lang="en-US" dirty="0" err="1">
                <a:latin typeface="Consolas" panose="020B0609020204030204" pitchFamily="49" charset="0"/>
              </a:rPr>
              <a:t>Y_c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e_c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Y_a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e_a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1    AK     63.5    23.5 72.806  -9.306 68.1690 -4.6690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 72.806   6.194 72.0480  6.9520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 72.806 -11.906 65.6692 -4.7692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 72.806   1.094 71.5308  2.3692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 72.806   5.094 74.6340  3.2660</a:t>
            </a:r>
          </a:p>
          <a:p>
            <a:r>
              <a:rPr lang="en-US" dirty="0">
                <a:latin typeface="Consolas" panose="020B0609020204030204" pitchFamily="49" charset="0"/>
              </a:rPr>
              <a:t>6    CO     79.4    37.8 72.806   6.594 80.4956 -1.0956</a:t>
            </a:r>
          </a:p>
        </p:txBody>
      </p:sp>
    </p:spTree>
    <p:extLst>
      <p:ext uri="{BB962C8B-B14F-4D97-AF65-F5344CB8AC3E}">
        <p14:creationId xmlns:p14="http://schemas.microsoft.com/office/powerpoint/2010/main" val="293284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</p:spPr>
            <p:txBody>
              <a:bodyPr/>
              <a:lstStyle/>
              <a:p>
                <a:r>
                  <a:rPr lang="en-US" dirty="0" smtClean="0"/>
                  <a:t>To see how much the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improves out model, we need to calculate PRE.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1642"/>
              </a:xfrm>
              <a:blipFill>
                <a:blip r:embed="rId3"/>
                <a:stretch>
                  <a:fillRect l="-1043" t="-10127" r="-290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98696"/>
                <a:ext cx="3397148" cy="7822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0676"/>
                <a:ext cx="3141950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5268513"/>
                <a:ext cx="3150157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68513"/>
                <a:ext cx="3150157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115257B-1042-419E-B359-C7978F1957DE}"/>
              </a:ext>
            </a:extLst>
          </p:cNvPr>
          <p:cNvSpPr txBox="1"/>
          <p:nvPr/>
        </p:nvSpPr>
        <p:spPr>
          <a:xfrm>
            <a:off x="4770365" y="2626799"/>
            <a:ext cx="7149714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    </a:t>
            </a:r>
            <a:r>
              <a:rPr lang="en-US" dirty="0" err="1">
                <a:latin typeface="Consolas" panose="020B0609020204030204" pitchFamily="49" charset="0"/>
              </a:rPr>
              <a:t>Y_c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e_c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Y_a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e_a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1    AK     63.5    23.5 72.806  -9.306 68.1690 -4.6690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 72.806   6.194 72.0480  6.9520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 72.806 -11.906 65.6692 -4.7692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 72.806   1.094 71.5308  2.3692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 72.806   5.094 74.6340  3.2660</a:t>
            </a:r>
          </a:p>
          <a:p>
            <a:r>
              <a:rPr lang="en-US" dirty="0">
                <a:latin typeface="Consolas" panose="020B0609020204030204" pitchFamily="49" charset="0"/>
              </a:rPr>
              <a:t>6    CO     79.4    37.8 72.806   6.594 80.4956 -1.0956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95650" y="5461514"/>
                <a:ext cx="4374596" cy="7013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𝟔𝟒𝟓𝟕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1355.028−480.0041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1355.028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650" y="5461514"/>
                <a:ext cx="4374596" cy="7013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88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</p:spPr>
            <p:txBody>
              <a:bodyPr/>
              <a:lstStyle/>
              <a:p>
                <a:r>
                  <a:rPr lang="en-US" dirty="0" smtClean="0"/>
                  <a:t>Once we have a calculation of PRE, we can calculate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statistic.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  <a:blipFill>
                <a:blip r:embed="rId3"/>
                <a:stretch>
                  <a:fillRect l="-1043" t="-7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3950689"/>
                <a:ext cx="5486823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0.6457/(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(1−0.6457)/(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50689"/>
                <a:ext cx="5486823" cy="768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40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942859"/>
            <a:ext cx="3657600" cy="2926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</p:spPr>
            <p:txBody>
              <a:bodyPr/>
              <a:lstStyle/>
              <a:p>
                <a:r>
                  <a:rPr lang="en-US" dirty="0" smtClean="0"/>
                  <a:t>Once we have a calculation of PRE, we can calculate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statistic.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  <a:blipFill>
                <a:blip r:embed="rId4"/>
                <a:stretch>
                  <a:fillRect l="-1043" t="-7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blipFill>
                <a:blip r:embed="rId6"/>
                <a:stretch>
                  <a:fillRect l="-3198" r="-3488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We can then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dirty="0" smtClean="0"/>
                  <a:t> to the null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(1,48)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  <a:blipFill>
                <a:blip r:embed="rId7"/>
                <a:stretch>
                  <a:fillRect l="-2093" t="-7729" r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(1,48)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=4.0247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blipFill>
                <a:blip r:embed="rId8"/>
                <a:stretch>
                  <a:fillRect l="-2985" r="-335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blipFill>
                <a:blip r:embed="rId9"/>
                <a:stretch>
                  <a:fillRect l="-3268" r="-653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>
            <a:off x="8610600" y="4611057"/>
            <a:ext cx="687754" cy="4567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37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942859"/>
            <a:ext cx="3657600" cy="2926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</p:spPr>
            <p:txBody>
              <a:bodyPr/>
              <a:lstStyle/>
              <a:p>
                <a:r>
                  <a:rPr lang="en-US" dirty="0" smtClean="0"/>
                  <a:t>Once we have a calculation of PRE, we can calculate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statistic.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  <a:blipFill>
                <a:blip r:embed="rId4"/>
                <a:stretch>
                  <a:fillRect l="-1043" t="-7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blipFill>
                <a:blip r:embed="rId6"/>
                <a:stretch>
                  <a:fillRect l="-3198" r="-3488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We can then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dirty="0" smtClean="0"/>
                  <a:t> to the null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(1,48)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  <a:blipFill>
                <a:blip r:embed="rId7"/>
                <a:stretch>
                  <a:fillRect l="-2093" t="-7729" r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(1,48)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=4.0247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blipFill>
                <a:blip r:embed="rId8"/>
                <a:stretch>
                  <a:fillRect l="-2985" r="-335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blipFill>
                <a:blip r:embed="rId9"/>
                <a:stretch>
                  <a:fillRect l="-3268" r="-653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>
            <a:off x="8610600" y="4611057"/>
            <a:ext cx="687754" cy="4567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439400" y="4405899"/>
                <a:ext cx="15827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400" y="4405899"/>
                <a:ext cx="1582741" cy="276999"/>
              </a:xfrm>
              <a:prstGeom prst="rect">
                <a:avLst/>
              </a:prstGeom>
              <a:blipFill>
                <a:blip r:embed="rId10"/>
                <a:stretch>
                  <a:fillRect l="-3089" r="-347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5" idx="2"/>
          </p:cNvCxnSpPr>
          <p:nvPr/>
        </p:nvCxnSpPr>
        <p:spPr>
          <a:xfrm>
            <a:off x="11230771" y="4682898"/>
            <a:ext cx="961229" cy="311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344697" y="5107087"/>
            <a:ext cx="4847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</p:spPr>
            <p:txBody>
              <a:bodyPr/>
              <a:lstStyle/>
              <a:p>
                <a:r>
                  <a:rPr lang="en-US" dirty="0" smtClean="0"/>
                  <a:t>Once we have a calculation of PRE, we can calculate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statistic.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9098"/>
              </a:xfrm>
              <a:blipFill>
                <a:blip r:embed="rId3"/>
                <a:stretch>
                  <a:fillRect l="-1043" t="-7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58363"/>
                <a:ext cx="3796360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50689"/>
                <a:ext cx="2099101" cy="369332"/>
              </a:xfrm>
              <a:prstGeom prst="rect">
                <a:avLst/>
              </a:prstGeom>
              <a:blipFill>
                <a:blip r:embed="rId5"/>
                <a:stretch>
                  <a:fillRect l="-3198" r="-3488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We can then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dirty="0" smtClean="0"/>
                  <a:t> to the null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(1,48)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11057"/>
                <a:ext cx="5243111" cy="1259098"/>
              </a:xfrm>
              <a:prstGeom prst="rect">
                <a:avLst/>
              </a:prstGeom>
              <a:blipFill>
                <a:blip r:embed="rId6"/>
                <a:stretch>
                  <a:fillRect l="-2093" t="-7729" r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64954" y="5951044"/>
                <a:ext cx="36717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1,48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=87.50,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&lt;0.001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954" y="5951044"/>
                <a:ext cx="3671711" cy="369332"/>
              </a:xfrm>
              <a:prstGeom prst="rect">
                <a:avLst/>
              </a:prstGeom>
              <a:blipFill>
                <a:blip r:embed="rId7"/>
                <a:stretch>
                  <a:fillRect l="-1490" r="-149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0" y="2942859"/>
            <a:ext cx="3657600" cy="29260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(1,48)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=4.0247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764" y="3012312"/>
                <a:ext cx="1638590" cy="314189"/>
              </a:xfrm>
              <a:prstGeom prst="rect">
                <a:avLst/>
              </a:prstGeom>
              <a:blipFill>
                <a:blip r:embed="rId9"/>
                <a:stretch>
                  <a:fillRect l="-2985" r="-335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10" y="4319737"/>
                <a:ext cx="931922" cy="276999"/>
              </a:xfrm>
              <a:prstGeom prst="rect">
                <a:avLst/>
              </a:prstGeom>
              <a:blipFill>
                <a:blip r:embed="rId10"/>
                <a:stretch>
                  <a:fillRect l="-3268" r="-653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H="1">
            <a:off x="8610600" y="4611057"/>
            <a:ext cx="687754" cy="4567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439400" y="4405899"/>
                <a:ext cx="15827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=87.5017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400" y="4405899"/>
                <a:ext cx="1582741" cy="276999"/>
              </a:xfrm>
              <a:prstGeom prst="rect">
                <a:avLst/>
              </a:prstGeom>
              <a:blipFill>
                <a:blip r:embed="rId11"/>
                <a:stretch>
                  <a:fillRect l="-3089" r="-347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7344697" y="5107087"/>
            <a:ext cx="4847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1230771" y="4682898"/>
            <a:ext cx="961229" cy="3118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48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Model Output from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711" y="1690688"/>
            <a:ext cx="5346290" cy="4351338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mod1&lt;-lm(</a:t>
            </a:r>
            <a:r>
              <a:rPr lang="en-US" dirty="0" err="1">
                <a:latin typeface="Consolas" panose="020B0609020204030204" pitchFamily="49" charset="0"/>
              </a:rPr>
              <a:t>Internet~College</a:t>
            </a:r>
            <a:r>
              <a:rPr lang="en-US" dirty="0">
                <a:latin typeface="Consolas" panose="020B0609020204030204" pitchFamily="49" charset="0"/>
              </a:rPr>
              <a:t>, data=DAT1)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summary(mod1)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Call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lm(formula = Internet ~ College, data = DAT1)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Residuals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-8.094 -1.722 -0.175  1.470  8.296 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Coefficients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   Estimate Std. Error t value </a:t>
            </a:r>
            <a:r>
              <a:rPr lang="en-US" dirty="0" err="1">
                <a:latin typeface="Consolas" panose="020B0609020204030204" pitchFamily="49" charset="0"/>
              </a:rPr>
              <a:t>Pr</a:t>
            </a:r>
            <a:r>
              <a:rPr lang="en-US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(Intercept) 47.91227    </a:t>
            </a:r>
            <a:r>
              <a:rPr lang="en-US" dirty="0">
                <a:latin typeface="Consolas" panose="020B0609020204030204" pitchFamily="49" charset="0"/>
              </a:rPr>
              <a:t>2.69854  17.755  &lt; 2e-16 ***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College      0.86185</a:t>
            </a:r>
            <a:r>
              <a:rPr lang="en-US" u="sng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0.09213   </a:t>
            </a:r>
            <a:r>
              <a:rPr lang="en-US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9.354 2.15e-12 ***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---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Signif</a:t>
            </a:r>
            <a:r>
              <a:rPr lang="en-US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Residual standard error: 3.162 on 48 degrees of freedom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Multiple R-squared:  0.6458</a:t>
            </a:r>
            <a:r>
              <a:rPr lang="en-US" b="1" dirty="0">
                <a:latin typeface="Consolas" panose="020B06090202040302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Adjusted R-squared:  0.6384 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F-statistic:  87.5 on 1 and 48 DF,  p-value: 2.15e-12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341807" y="1690688"/>
                <a:ext cx="523076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Thus far, we shown how R is calculating: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The point-estimate for the slope and intercept.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The PRE for the augmented model.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The F-observed and it’s corresponding p-value.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 smtClean="0">
                    <a:solidFill>
                      <a:srgbClr val="FF0000"/>
                    </a:solidFill>
                  </a:rPr>
                  <a:t>The books walks through: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How the F-test for a single parameter can also be achieved with a t-test.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How to calculate the adjusted (unbiased) R</a:t>
                </a:r>
                <a:r>
                  <a:rPr lang="en-US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 smtClean="0"/>
                  <a:t>Finally, we need to understand how R is making a statistical inference about the intercept,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807" y="1690688"/>
                <a:ext cx="5230762" cy="3416320"/>
              </a:xfrm>
              <a:prstGeom prst="rect">
                <a:avLst/>
              </a:prstGeom>
              <a:blipFill>
                <a:blip r:embed="rId2"/>
                <a:stretch>
                  <a:fillRect l="-932" t="-891" b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14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Recall that the point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 smtClean="0"/>
                  <a:t> is calculated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r>
                  <a:rPr lang="en-US" dirty="0" smtClean="0"/>
                  <a:t>This is because having a slope in our model changes the value of the intercept (predicted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 smtClean="0"/>
                  <a:t>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 smtClean="0"/>
                  <a:t>).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9982200" y="1870075"/>
                <a:ext cx="17767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1870075"/>
                <a:ext cx="1776768" cy="369332"/>
              </a:xfrm>
              <a:prstGeom prst="rect">
                <a:avLst/>
              </a:prstGeom>
              <a:blipFill>
                <a:blip r:embed="rId4"/>
                <a:stretch>
                  <a:fillRect l="-3780" r="-233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2074404" y="468669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2074404" y="5219052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3323957" y="4732861"/>
                <a:ext cx="1576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+0(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957" y="4732861"/>
                <a:ext cx="1576009" cy="276999"/>
              </a:xfrm>
              <a:prstGeom prst="rect">
                <a:avLst/>
              </a:prstGeom>
              <a:blipFill>
                <a:blip r:embed="rId5"/>
                <a:stretch>
                  <a:fillRect l="-3475" t="-2174" r="-501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3323957" y="5247065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957" y="5247065"/>
                <a:ext cx="1674561" cy="276999"/>
              </a:xfrm>
              <a:prstGeom prst="rect">
                <a:avLst/>
              </a:prstGeom>
              <a:blipFill>
                <a:blip r:embed="rId6"/>
                <a:stretch>
                  <a:fillRect l="-2909" t="-4444" r="-472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255779" y="4137975"/>
            <a:ext cx="2821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Statistical Test for the Slope</a:t>
            </a:r>
            <a:endParaRPr lang="en-US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6714102" y="468669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6714102" y="5219052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7963655" y="4732861"/>
                <a:ext cx="1570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655" y="4732861"/>
                <a:ext cx="1570686" cy="276999"/>
              </a:xfrm>
              <a:prstGeom prst="rect">
                <a:avLst/>
              </a:prstGeom>
              <a:blipFill>
                <a:blip r:embed="rId7"/>
                <a:stretch>
                  <a:fillRect l="-3488" t="-2174" r="-503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7963655" y="5247065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655" y="5247065"/>
                <a:ext cx="1674561" cy="276999"/>
              </a:xfrm>
              <a:prstGeom prst="rect">
                <a:avLst/>
              </a:prstGeom>
              <a:blipFill>
                <a:blip r:embed="rId8"/>
                <a:stretch>
                  <a:fillRect l="-2909" t="-4444" r="-472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634615" y="4141303"/>
            <a:ext cx="316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Statistical Test for the Intercept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74138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Statistical Inferences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81600" y="1690688"/>
                <a:ext cx="6172200" cy="44862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If you calculate the SSE, PRE, and F-observed for this model you 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(1,48)=315.24,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&lt;0.001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r>
                  <a:rPr lang="en-US" dirty="0" smtClean="0"/>
                  <a:t>Although R presents a t-test, these results are equivalent (</a:t>
                </a:r>
                <a:r>
                  <a:rPr lang="en-US" dirty="0" smtClean="0">
                    <a:latin typeface="Consolas" panose="020B0609020204030204" pitchFamily="49" charset="0"/>
                  </a:rPr>
                  <a:t>17.755</a:t>
                </a:r>
                <a:r>
                  <a:rPr lang="en-US" baseline="30000" dirty="0" smtClean="0">
                    <a:latin typeface="Consolas" panose="020B0609020204030204" pitchFamily="49" charset="0"/>
                  </a:rPr>
                  <a:t>2</a:t>
                </a:r>
                <a:r>
                  <a:rPr lang="en-US" dirty="0" smtClean="0">
                    <a:latin typeface="Consolas" panose="020B0609020204030204" pitchFamily="49" charset="0"/>
                  </a:rPr>
                  <a:t> = 315.24)</a:t>
                </a:r>
                <a:r>
                  <a:rPr lang="en-US" dirty="0" smtClean="0"/>
                  <a:t>. </a:t>
                </a:r>
              </a:p>
              <a:p>
                <a:endParaRPr lang="en-US" dirty="0"/>
              </a:p>
              <a:p>
                <a:r>
                  <a:rPr lang="en-US" dirty="0" smtClean="0"/>
                  <a:t>And we would conclude that our observed intercept (47.91) is unlikely to have arisen under the 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0" y="1690688"/>
                <a:ext cx="6172200" cy="4486275"/>
              </a:xfrm>
              <a:blipFill>
                <a:blip r:embed="rId3"/>
                <a:stretch>
                  <a:fillRect l="-1481" t="-2038" r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917687" y="223607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917687" y="2768437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2167240" y="2282246"/>
                <a:ext cx="1570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40" y="2282246"/>
                <a:ext cx="1570686" cy="276999"/>
              </a:xfrm>
              <a:prstGeom prst="rect">
                <a:avLst/>
              </a:prstGeom>
              <a:blipFill>
                <a:blip r:embed="rId4"/>
                <a:stretch>
                  <a:fillRect l="-3502" t="-2174" r="-544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2167240" y="2796450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40" y="2796450"/>
                <a:ext cx="1674561" cy="276999"/>
              </a:xfrm>
              <a:prstGeom prst="rect">
                <a:avLst/>
              </a:prstGeom>
              <a:blipFill>
                <a:blip r:embed="rId5"/>
                <a:stretch>
                  <a:fillRect l="-2920" t="-4444" r="-510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38200" y="1690688"/>
            <a:ext cx="316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Statistical Test for the Intercept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55445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Model Output from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711" y="1690688"/>
            <a:ext cx="5346290" cy="4351338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mod1&lt;-lm(</a:t>
            </a:r>
            <a:r>
              <a:rPr lang="en-US" dirty="0" err="1">
                <a:latin typeface="Consolas" panose="020B0609020204030204" pitchFamily="49" charset="0"/>
              </a:rPr>
              <a:t>Internet~College</a:t>
            </a:r>
            <a:r>
              <a:rPr lang="en-US" dirty="0">
                <a:latin typeface="Consolas" panose="020B0609020204030204" pitchFamily="49" charset="0"/>
              </a:rPr>
              <a:t>, data=DAT1)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summary(mod1)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Call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lm(formula = Internet ~ College, data = DAT1)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Residuals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Min     1Q Median     3Q    Max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-8.094 -1.722 -0.175  1.470  8.296 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Coefficients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   Estimate Std. Error t value </a:t>
            </a:r>
            <a:r>
              <a:rPr lang="en-US" dirty="0" err="1">
                <a:latin typeface="Consolas" panose="020B0609020204030204" pitchFamily="49" charset="0"/>
              </a:rPr>
              <a:t>Pr</a:t>
            </a:r>
            <a:r>
              <a:rPr lang="en-US" dirty="0">
                <a:latin typeface="Consolas" panose="020B06090202040302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(Intercept) 47.91227    </a:t>
            </a:r>
            <a:r>
              <a:rPr lang="en-US" dirty="0">
                <a:latin typeface="Consolas" panose="020B0609020204030204" pitchFamily="49" charset="0"/>
              </a:rPr>
              <a:t>2.69854  </a:t>
            </a:r>
            <a:r>
              <a:rPr lang="en-US" b="1" u="sng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17.755  </a:t>
            </a:r>
            <a:r>
              <a:rPr lang="en-US" b="1" u="sng" dirty="0" smtClean="0">
                <a:latin typeface="Consolas" panose="020B0609020204030204" pitchFamily="49" charset="0"/>
              </a:rPr>
              <a:t>&lt; 2e-16 ***</a:t>
            </a:r>
          </a:p>
          <a:p>
            <a:pPr marL="0" indent="0">
              <a:buNone/>
            </a:pPr>
            <a:r>
              <a:rPr lang="en-US" b="1" u="sng" dirty="0" smtClean="0">
                <a:latin typeface="Consolas" panose="020B0609020204030204" pitchFamily="49" charset="0"/>
              </a:rPr>
              <a:t>College      0.86185</a:t>
            </a:r>
            <a:r>
              <a:rPr lang="en-US" u="sng" dirty="0" smtClean="0">
                <a:latin typeface="Consolas" panose="020B0609020204030204" pitchFamily="49" charset="0"/>
              </a:rPr>
              <a:t>    </a:t>
            </a:r>
            <a:r>
              <a:rPr lang="en-US" dirty="0" smtClean="0">
                <a:latin typeface="Consolas" panose="020B0609020204030204" pitchFamily="49" charset="0"/>
              </a:rPr>
              <a:t>0.09213   </a:t>
            </a:r>
            <a:r>
              <a:rPr lang="en-US" b="1" u="sng" dirty="0" smtClean="0">
                <a:solidFill>
                  <a:srgbClr val="FF0000"/>
                </a:solidFill>
                <a:latin typeface="Consolas" panose="020B0609020204030204" pitchFamily="49" charset="0"/>
              </a:rPr>
              <a:t>9.354 </a:t>
            </a:r>
            <a:r>
              <a:rPr lang="en-US" b="1" u="sng" dirty="0" smtClean="0">
                <a:latin typeface="Consolas" panose="020B0609020204030204" pitchFamily="49" charset="0"/>
              </a:rPr>
              <a:t>2.15e-12 ***</a:t>
            </a: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---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Signif</a:t>
            </a:r>
            <a:r>
              <a:rPr lang="en-US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Residual standard error: 3.162 on 48 degrees of freedom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Multiple R-squared:  0.6458</a:t>
            </a:r>
            <a:r>
              <a:rPr lang="en-US" b="1" dirty="0">
                <a:latin typeface="Consolas" panose="020B06090202040302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Adjusted R-squared:  0.6384 </a:t>
            </a:r>
          </a:p>
          <a:p>
            <a:pPr marL="0" indent="0">
              <a:buNone/>
            </a:pPr>
            <a:r>
              <a:rPr lang="en-US" b="1" u="sng" dirty="0">
                <a:latin typeface="Consolas" panose="020B0609020204030204" pitchFamily="49" charset="0"/>
              </a:rPr>
              <a:t>F-statistic:  87.5 on 1 and 48 DF,  p-value: 2.15e-12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7452649" y="5140336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7452649" y="567269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8702202" y="5186503"/>
                <a:ext cx="1576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+0(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202" y="5186503"/>
                <a:ext cx="1576009" cy="276999"/>
              </a:xfrm>
              <a:prstGeom prst="rect">
                <a:avLst/>
              </a:prstGeom>
              <a:blipFill>
                <a:blip r:embed="rId2"/>
                <a:stretch>
                  <a:fillRect l="-3488" t="-2222" r="-542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8702202" y="5700707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202" y="5700707"/>
                <a:ext cx="1674561" cy="276999"/>
              </a:xfrm>
              <a:prstGeom prst="rect">
                <a:avLst/>
              </a:prstGeom>
              <a:blipFill>
                <a:blip r:embed="rId3"/>
                <a:stretch>
                  <a:fillRect l="-2920" t="-2174" r="-510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634024" y="4591617"/>
            <a:ext cx="2821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Statistical Test for the Slope</a:t>
            </a:r>
            <a:endParaRPr lang="en-US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7532136" y="298405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7532136" y="3516412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8781689" y="3030221"/>
                <a:ext cx="1570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689" y="3030221"/>
                <a:ext cx="1570686" cy="276999"/>
              </a:xfrm>
              <a:prstGeom prst="rect">
                <a:avLst/>
              </a:prstGeom>
              <a:blipFill>
                <a:blip r:embed="rId4"/>
                <a:stretch>
                  <a:fillRect l="-3502" t="-2174" r="-544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8781689" y="3544425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689" y="3544425"/>
                <a:ext cx="1674561" cy="276999"/>
              </a:xfrm>
              <a:prstGeom prst="rect">
                <a:avLst/>
              </a:prstGeom>
              <a:blipFill>
                <a:blip r:embed="rId5"/>
                <a:stretch>
                  <a:fillRect l="-2920" t="-2174" r="-510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452649" y="2438663"/>
            <a:ext cx="316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Statistical Test for the Intercept</a:t>
            </a:r>
            <a:endParaRPr lang="en-US" b="1" u="sng" dirty="0"/>
          </a:p>
        </p:txBody>
      </p:sp>
      <p:sp>
        <p:nvSpPr>
          <p:cNvPr id="17" name="TextBox 16"/>
          <p:cNvSpPr txBox="1"/>
          <p:nvPr/>
        </p:nvSpPr>
        <p:spPr>
          <a:xfrm>
            <a:off x="6807611" y="1690687"/>
            <a:ext cx="456907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Is the parameter statistically different from 0?</a:t>
            </a:r>
            <a:endParaRPr lang="en-US" b="1" dirty="0"/>
          </a:p>
        </p:txBody>
      </p:sp>
      <p:cxnSp>
        <p:nvCxnSpPr>
          <p:cNvPr id="19" name="Straight Arrow Connector 18"/>
          <p:cNvCxnSpPr>
            <a:endCxn id="16" idx="1"/>
          </p:cNvCxnSpPr>
          <p:nvPr/>
        </p:nvCxnSpPr>
        <p:spPr>
          <a:xfrm flipV="1">
            <a:off x="4886632" y="2623329"/>
            <a:ext cx="2566017" cy="1262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1" idx="1"/>
          </p:cNvCxnSpPr>
          <p:nvPr/>
        </p:nvCxnSpPr>
        <p:spPr>
          <a:xfrm>
            <a:off x="4915831" y="4148012"/>
            <a:ext cx="2718193" cy="628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5739</TotalTime>
  <Words>940</Words>
  <Application>Microsoft Office PowerPoint</Application>
  <PresentationFormat>Widescreen</PresentationFormat>
  <Paragraphs>234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Office Theme</vt:lpstr>
      <vt:lpstr>Statistical Inferences About Parameters.</vt:lpstr>
      <vt:lpstr>Statistical Inferences</vt:lpstr>
      <vt:lpstr>Model Comparison</vt:lpstr>
      <vt:lpstr>Model Comparison</vt:lpstr>
      <vt:lpstr>Model Comparison</vt:lpstr>
      <vt:lpstr>Statistical Inferences for β_1</vt:lpstr>
      <vt:lpstr>Statistical Inferences for β_1</vt:lpstr>
      <vt:lpstr>Statistical Inferences for β_1</vt:lpstr>
      <vt:lpstr>Statistical Inferences for β_1</vt:lpstr>
      <vt:lpstr>Statistical Inferences for β_1</vt:lpstr>
      <vt:lpstr>Statistical Inferences for β_1</vt:lpstr>
      <vt:lpstr>Statistical Inferences for β_1</vt:lpstr>
      <vt:lpstr>Statistical Inferences for β_1</vt:lpstr>
      <vt:lpstr>Statistical Inferences for β_1</vt:lpstr>
      <vt:lpstr>Linear Model Output from R</vt:lpstr>
      <vt:lpstr>Statistical Inferences for β_0</vt:lpstr>
      <vt:lpstr>Statistical Inferences for β_0</vt:lpstr>
      <vt:lpstr>Linear Model Output from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455</cp:revision>
  <dcterms:created xsi:type="dcterms:W3CDTF">2017-01-28T12:59:49Z</dcterms:created>
  <dcterms:modified xsi:type="dcterms:W3CDTF">2019-01-21T16:24:47Z</dcterms:modified>
</cp:coreProperties>
</file>
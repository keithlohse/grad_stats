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382" r:id="rId2"/>
    <p:sldId id="385" r:id="rId3"/>
    <p:sldId id="386" r:id="rId4"/>
    <p:sldId id="387" r:id="rId5"/>
    <p:sldId id="38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FFC000"/>
    <a:srgbClr val="FFFFFF"/>
    <a:srgbClr val="4472C4"/>
    <a:srgbClr val="FF9797"/>
    <a:srgbClr val="A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84424" autoAdjust="0"/>
  </p:normalViewPr>
  <p:slideViewPr>
    <p:cSldViewPr snapToGrid="0">
      <p:cViewPr varScale="1">
        <p:scale>
          <a:sx n="58" d="100"/>
          <a:sy n="58" d="100"/>
        </p:scale>
        <p:origin x="93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25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676DDE-75BB-4B04-A0BD-5C17E33DC40E}" type="datetimeFigureOut">
              <a:rPr lang="en-US" smtClean="0"/>
              <a:t>4/10/2020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A7B62B-0753-4BDE-90F4-CDED710DE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86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473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5B63A-1390-4120-94EB-00092381E02F}" type="datetime1">
              <a:rPr lang="en-US" smtClean="0"/>
              <a:t>4/10/2020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465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4/10/2020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730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6FB65-6EAB-49E5-A1DB-3E80C39C53B8}" type="datetime1">
              <a:rPr lang="en-US" smtClean="0"/>
              <a:t>4/10/2020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023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99224-D20E-45FC-AB47-7036B7429E06}" type="datetime1">
              <a:rPr lang="en-US" smtClean="0"/>
              <a:t>4/10/2020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435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4B67A-60ED-4797-943A-55D5CD883011}" type="datetime1">
              <a:rPr lang="en-US" smtClean="0"/>
              <a:t>4/10/2020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228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4/10/2020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25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DC5B5-E9BF-4312-938F-57F5458B9411}" type="datetime1">
              <a:rPr lang="en-US" smtClean="0"/>
              <a:t>4/10/2020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04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61C03-418D-427D-912F-3A80D46B024B}" type="datetime1">
              <a:rPr lang="en-US" smtClean="0"/>
              <a:t>4/10/2020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493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C2541-89D1-43A5-9247-9C9B7AE89E66}" type="datetime1">
              <a:rPr lang="en-US" smtClean="0"/>
              <a:t>4/10/2020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452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A8DF6-2286-4D85-88A8-00AC199A2C34}" type="datetime1">
              <a:rPr lang="en-US" smtClean="0"/>
              <a:t>4/10/2020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904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E0AFB-8BB9-4422-BB79-0EF175454CED}" type="datetime1">
              <a:rPr lang="en-US" smtClean="0"/>
              <a:t>4/10/2020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77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17F07-1C55-41A1-B81A-75CAA13E3CFD}" type="datetime1">
              <a:rPr lang="en-US" smtClean="0"/>
              <a:t>4/10/2020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271849" cy="685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323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22" y="-12033"/>
            <a:ext cx="11916578" cy="478348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5421" y="4120308"/>
            <a:ext cx="11914632" cy="27376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7316" y="1027966"/>
            <a:ext cx="11421410" cy="1771839"/>
          </a:xfrm>
          <a:solidFill>
            <a:srgbClr val="FFFFFF">
              <a:alpha val="50196"/>
            </a:srgbClr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r>
              <a:rPr lang="en-US" sz="5400" dirty="0" smtClean="0"/>
              <a:t>Influence – Changing the Model</a:t>
            </a:r>
            <a:endParaRPr lang="en-US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7316" y="4313760"/>
            <a:ext cx="9144000" cy="2302208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Keith Lohse, </a:t>
            </a:r>
            <a:r>
              <a:rPr lang="en-US" b="1" dirty="0" smtClean="0"/>
              <a:t>PhD, </a:t>
            </a:r>
            <a:r>
              <a:rPr lang="en-US" b="1" dirty="0" err="1" smtClean="0"/>
              <a:t>PStat</a:t>
            </a:r>
            <a:endParaRPr lang="en-US" b="1" dirty="0"/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Assistant Professor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Department of Health, Kinesiology, and Recreation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Department of Physical Therapy and Athletic Training</a:t>
            </a:r>
          </a:p>
          <a:p>
            <a:pPr algn="l"/>
            <a:r>
              <a:rPr lang="en-US" sz="2000" b="1" dirty="0">
                <a:solidFill>
                  <a:schemeClr val="bg1">
                    <a:lumMod val="50000"/>
                  </a:schemeClr>
                </a:solidFill>
              </a:rPr>
              <a:t>University of Utah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</a:t>
            </a:fld>
            <a:endParaRPr lang="en-US"/>
          </a:p>
        </p:txBody>
      </p:sp>
      <p:sp>
        <p:nvSpPr>
          <p:cNvPr id="7" name="AutoShape 2" descr="Image result for utah college of health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7336B5-4F30-4282-9AE3-C49F61A3C5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2484" y="5747288"/>
            <a:ext cx="2626242" cy="868680"/>
          </a:xfrm>
          <a:prstGeom prst="rect">
            <a:avLst/>
          </a:prstGeom>
        </p:spPr>
      </p:pic>
      <p:pic>
        <p:nvPicPr>
          <p:cNvPr id="12" name="Picture 2" descr="Image result for email logo png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314251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9091581" y="4358185"/>
            <a:ext cx="2960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keith.lohse@health.utah.edu</a:t>
            </a:r>
          </a:p>
        </p:txBody>
      </p:sp>
      <p:pic>
        <p:nvPicPr>
          <p:cNvPr id="14" name="Picture 4" descr="Image result for twitter logo png"/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815385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9091581" y="4859319"/>
            <a:ext cx="1525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@</a:t>
            </a:r>
            <a:r>
              <a:rPr lang="en-US" dirty="0" err="1"/>
              <a:t>keith_lohse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738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Identifying </a:t>
            </a:r>
            <a:r>
              <a:rPr lang="en-US" dirty="0" smtClean="0"/>
              <a:t>“Influential” Data Points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Thus far we have discussed how we detect unusual values in x (levers) and unusual values in y (outliers). </a:t>
            </a:r>
          </a:p>
          <a:p>
            <a:endParaRPr lang="en-US" dirty="0"/>
          </a:p>
          <a:p>
            <a:r>
              <a:rPr lang="en-US" dirty="0" smtClean="0"/>
              <a:t>Combining these two factors, we can measure the “influence” of individual data points. </a:t>
            </a:r>
          </a:p>
          <a:p>
            <a:pPr lvl="1"/>
            <a:r>
              <a:rPr lang="en-US" dirty="0" smtClean="0"/>
              <a:t>Influence refers to the affect that a data point has on our model when it is present compared to when it is absent.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An </a:t>
            </a:r>
            <a:r>
              <a:rPr lang="en-US" b="1" i="1" u="sng" dirty="0" smtClean="0"/>
              <a:t>influential</a:t>
            </a:r>
            <a:r>
              <a:rPr lang="en-US" dirty="0" smtClean="0"/>
              <a:t> data point </a:t>
            </a:r>
            <a:r>
              <a:rPr lang="en-US" dirty="0" smtClean="0"/>
              <a:t>can </a:t>
            </a:r>
            <a:r>
              <a:rPr lang="en-US" dirty="0" smtClean="0"/>
              <a:t>change our parameter estimates in either their magnitude, their statistical significance, or both. 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As such, influential data points are often excluded (and models re-run) because we want our model to reflect </a:t>
            </a:r>
            <a:r>
              <a:rPr lang="en-US" b="1" i="1" u="sng" dirty="0" smtClean="0"/>
              <a:t>all</a:t>
            </a:r>
            <a:r>
              <a:rPr lang="en-US" dirty="0" smtClean="0"/>
              <a:t> the data, not be swayed by a single strange point.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4/10/2020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506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Calculating Influence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b="1" dirty="0" smtClean="0"/>
                  <a:t>Cook’s Distance </a:t>
                </a:r>
                <a:r>
                  <a:rPr lang="en-US" dirty="0" smtClean="0"/>
                  <a:t>is the most common measure of influence in regression.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𝑀𝑆𝐸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endParaRPr lang="en-US" b="0" dirty="0" smtClean="0"/>
              </a:p>
              <a:p>
                <a:pPr lvl="1"/>
                <a:endParaRPr lang="en-US" dirty="0" smtClean="0"/>
              </a:p>
              <a:p>
                <a:r>
                  <a:rPr lang="en-US" dirty="0" smtClean="0"/>
                  <a:t>Note that Cook’s Distance,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, tells us about the influence a data point has on a model it were to be deleted, but all of the component parts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𝑀𝑆𝐸</m:t>
                    </m:r>
                  </m:oMath>
                </a14:m>
                <a:r>
                  <a:rPr lang="en-US" dirty="0" smtClean="0"/>
                  <a:t>) come from the model with that data point included.</a:t>
                </a:r>
              </a:p>
              <a:p>
                <a:pPr lvl="1"/>
                <a:r>
                  <a:rPr lang="en-US" dirty="0" smtClean="0"/>
                  <a:t>This means that we don’t need to tediously re-run model after model.</a:t>
                </a:r>
              </a:p>
              <a:p>
                <a:pPr marL="457200" lvl="1" indent="0">
                  <a:buNone/>
                </a:pPr>
                <a:r>
                  <a:rPr lang="en-US" dirty="0" smtClean="0"/>
                  <a:t> </a:t>
                </a:r>
              </a:p>
              <a:p>
                <a:r>
                  <a:rPr lang="en-US" dirty="0" smtClean="0"/>
                  <a:t>Cook’s distance combines 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outlier</a:t>
                </a:r>
                <a:r>
                  <a:rPr lang="en-US" dirty="0" smtClean="0"/>
                  <a:t> distance (on the y-axis) with </a:t>
                </a:r>
                <a:r>
                  <a:rPr lang="en-US" dirty="0" smtClean="0">
                    <a:solidFill>
                      <a:srgbClr val="0070C0"/>
                    </a:solidFill>
                  </a:rPr>
                  <a:t>leverage</a:t>
                </a:r>
                <a:r>
                  <a:rPr lang="en-US" dirty="0" smtClean="0"/>
                  <a:t> (on the x-axis) to get a combined measure of </a:t>
                </a:r>
                <a:r>
                  <a:rPr lang="en-US" b="1" u="sng" dirty="0" smtClean="0"/>
                  <a:t>influence</a:t>
                </a:r>
                <a:r>
                  <a:rPr lang="en-US" dirty="0" smtClean="0"/>
                  <a:t>. 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 r="-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4/10/2020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298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DC5B5-E9BF-4312-938F-57F5458B9411}" type="datetime1">
              <a:rPr lang="en-US" smtClean="0"/>
              <a:t>4/10/2020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570" y="1004020"/>
            <a:ext cx="3175163" cy="317516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288" y="1004019"/>
            <a:ext cx="3175163" cy="317516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4006" y="1004018"/>
            <a:ext cx="3175163" cy="3175163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1464043" y="1547930"/>
            <a:ext cx="9081770" cy="179070"/>
            <a:chOff x="1464043" y="1547930"/>
            <a:chExt cx="9081770" cy="179070"/>
          </a:xfrm>
        </p:grpSpPr>
        <p:sp>
          <p:nvSpPr>
            <p:cNvPr id="8" name="Oval 7"/>
            <p:cNvSpPr/>
            <p:nvPr/>
          </p:nvSpPr>
          <p:spPr>
            <a:xfrm>
              <a:off x="1464043" y="1547930"/>
              <a:ext cx="45720" cy="4572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10500093" y="1681280"/>
              <a:ext cx="45720" cy="4572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09818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DC5B5-E9BF-4312-938F-57F5458B9411}" type="datetime1">
              <a:rPr lang="en-US" smtClean="0"/>
              <a:t>4/10/2020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570" y="1004020"/>
            <a:ext cx="3175163" cy="317516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288" y="1004019"/>
            <a:ext cx="3175163" cy="317516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4006" y="1004018"/>
            <a:ext cx="3175163" cy="3175163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1464043" y="1547930"/>
            <a:ext cx="9081770" cy="179070"/>
            <a:chOff x="1464043" y="1547930"/>
            <a:chExt cx="9081770" cy="179070"/>
          </a:xfrm>
        </p:grpSpPr>
        <p:sp>
          <p:nvSpPr>
            <p:cNvPr id="8" name="Oval 7"/>
            <p:cNvSpPr/>
            <p:nvPr/>
          </p:nvSpPr>
          <p:spPr>
            <a:xfrm>
              <a:off x="1464043" y="1547930"/>
              <a:ext cx="45720" cy="4572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10500093" y="1681280"/>
              <a:ext cx="45720" cy="4572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908570" y="4723092"/>
            <a:ext cx="4602542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Consolas" panose="020B0609020204030204" pitchFamily="49" charset="0"/>
              </a:rPr>
              <a:t>Coefficients: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            Estimate Std. Error t value </a:t>
            </a:r>
            <a:r>
              <a:rPr lang="en-US" sz="1200" b="1" dirty="0" err="1">
                <a:latin typeface="Consolas" panose="020B0609020204030204" pitchFamily="49" charset="0"/>
              </a:rPr>
              <a:t>Pr</a:t>
            </a:r>
            <a:r>
              <a:rPr lang="en-US" sz="1200" b="1" dirty="0">
                <a:latin typeface="Consolas" panose="020B0609020204030204" pitchFamily="49" charset="0"/>
              </a:rPr>
              <a:t>(&gt;|t|)    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(Intercept)  96.8852    18.6356   5.199 0.000295 ***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HSR          -0.5009     0.2138  -2.343 0.038946 *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6627" y="4723092"/>
            <a:ext cx="4602542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Consolas" panose="020B0609020204030204" pitchFamily="49" charset="0"/>
              </a:rPr>
              <a:t>Coefficients: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            Estimate Std. Error t value </a:t>
            </a:r>
            <a:r>
              <a:rPr lang="en-US" sz="1200" b="1" dirty="0" err="1">
                <a:latin typeface="Consolas" panose="020B0609020204030204" pitchFamily="49" charset="0"/>
              </a:rPr>
              <a:t>Pr</a:t>
            </a:r>
            <a:r>
              <a:rPr lang="en-US" sz="1200" b="1" dirty="0">
                <a:latin typeface="Consolas" panose="020B0609020204030204" pitchFamily="49" charset="0"/>
              </a:rPr>
              <a:t>(&gt;|t|)  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(Intercept)   8.2919    22.6394   0.366   0.7218  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HSR           0.4776     0.2525   1.892   0.0878 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8570" y="4353760"/>
            <a:ext cx="3125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Influential data point included: 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276627" y="4353760"/>
            <a:ext cx="3155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Influential data point </a:t>
            </a:r>
            <a:r>
              <a:rPr lang="en-US" b="1" u="sng" dirty="0" smtClean="0"/>
              <a:t>removed</a:t>
            </a:r>
            <a:r>
              <a:rPr lang="en-US" dirty="0" smtClean="0"/>
              <a:t>: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031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1740</TotalTime>
  <Words>392</Words>
  <Application>Microsoft Office PowerPoint</Application>
  <PresentationFormat>Widescreen</PresentationFormat>
  <Paragraphs>45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Consolas</vt:lpstr>
      <vt:lpstr>Office Theme</vt:lpstr>
      <vt:lpstr>Influence – Changing the Model</vt:lpstr>
      <vt:lpstr>Identifying “Influential” Data Points</vt:lpstr>
      <vt:lpstr>Calculating Influence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Nonlinear and Moderated Models.</dc:title>
  <dc:creator>Keith Lohse</dc:creator>
  <cp:lastModifiedBy>Keith Lohse</cp:lastModifiedBy>
  <cp:revision>65</cp:revision>
  <dcterms:created xsi:type="dcterms:W3CDTF">2019-02-09T14:44:07Z</dcterms:created>
  <dcterms:modified xsi:type="dcterms:W3CDTF">2020-04-11T18:21:23Z</dcterms:modified>
</cp:coreProperties>
</file>
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82" r:id="rId2"/>
    <p:sldId id="392" r:id="rId3"/>
    <p:sldId id="393" r:id="rId4"/>
    <p:sldId id="395" r:id="rId5"/>
    <p:sldId id="396" r:id="rId6"/>
    <p:sldId id="397" r:id="rId7"/>
    <p:sldId id="398" r:id="rId8"/>
    <p:sldId id="399" r:id="rId9"/>
    <p:sldId id="400" r:id="rId10"/>
    <p:sldId id="401" r:id="rId11"/>
    <p:sldId id="40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59" d="100"/>
          <a:sy n="59" d="100"/>
        </p:scale>
        <p:origin x="9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2/25/2019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2/25/2019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/>
              <a:t>Dissecting the ANOVA Output.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41B4-C5A7-45AD-9D48-3E6E1A85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our Different Codes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5ED73-11A5-4D5E-85ED-E8BB2AAF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2/25/2019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E2E0C-3B6C-4F99-826B-38B3909E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F3BC0-03A6-4084-85C0-F1C702C9EF02}"/>
              </a:ext>
            </a:extLst>
          </p:cNvPr>
          <p:cNvSpPr txBox="1"/>
          <p:nvPr/>
        </p:nvSpPr>
        <p:spPr>
          <a:xfrm>
            <a:off x="606868" y="2592358"/>
            <a:ext cx="5452134" cy="26314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     Estimate Std. Error t value </a:t>
            </a:r>
            <a:r>
              <a:rPr lang="en-US" sz="1100" dirty="0" err="1">
                <a:latin typeface="Lucida Console" panose="020B0609040504020204" pitchFamily="49" charset="0"/>
              </a:rPr>
              <a:t>Pr</a:t>
            </a:r>
            <a:r>
              <a:rPr lang="en-US" sz="11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(Intercept)    68.500      1.779  38.497  &lt; 2e-16 ***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groupsmedium</a:t>
            </a:r>
            <a:r>
              <a:rPr lang="en-US" sz="1100" dirty="0">
                <a:latin typeface="Lucida Console" panose="020B0609040504020204" pitchFamily="49" charset="0"/>
              </a:rPr>
              <a:t>   -6.750      2.516  -2.682 0.015209 *  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groupsslower</a:t>
            </a:r>
            <a:r>
              <a:rPr lang="en-US" sz="1100" dirty="0">
                <a:latin typeface="Lucida Console" panose="020B0609040504020204" pitchFamily="49" charset="0"/>
              </a:rPr>
              <a:t>  -10.536      2.516  -4.187 0.000554 ***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Signif</a:t>
            </a:r>
            <a:r>
              <a:rPr lang="en-US" sz="11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F-statistic: 8.996 on 2 and 18 DF,  p-value: 0.001957</a:t>
            </a:r>
            <a:endParaRPr lang="en-US" sz="1100" b="1" dirty="0">
              <a:latin typeface="Lucida Console" panose="020B06090405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FE361C-7CD4-4663-9848-A7D180E64152}"/>
              </a:ext>
            </a:extLst>
          </p:cNvPr>
          <p:cNvSpPr txBox="1"/>
          <p:nvPr/>
        </p:nvSpPr>
        <p:spPr>
          <a:xfrm>
            <a:off x="6376555" y="2592358"/>
            <a:ext cx="5452134" cy="26314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    Estimate Std. Error t value </a:t>
            </a:r>
            <a:r>
              <a:rPr lang="en-US" sz="1100" dirty="0" err="1">
                <a:latin typeface="Lucida Console" panose="020B0609040504020204" pitchFamily="49" charset="0"/>
              </a:rPr>
              <a:t>Pr</a:t>
            </a:r>
            <a:r>
              <a:rPr lang="en-US" sz="11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(Intercept)  62.7381     1.0273  61.070  &lt; 2e-16 ***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lin.c</a:t>
            </a:r>
            <a:r>
              <a:rPr lang="en-US" sz="1100" dirty="0">
                <a:latin typeface="Lucida Console" panose="020B0609040504020204" pitchFamily="49" charset="0"/>
              </a:rPr>
              <a:t>         5.2679     1.2582   4.187 0.000554 ***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quad.c</a:t>
            </a:r>
            <a:r>
              <a:rPr lang="en-US" sz="1100" dirty="0">
                <a:latin typeface="Lucida Console" panose="020B0609040504020204" pitchFamily="49" charset="0"/>
              </a:rPr>
              <a:t>       -0.4940     0.7264  -0.680 0.505086   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Signif</a:t>
            </a:r>
            <a:r>
              <a:rPr lang="en-US" sz="11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F-statistic: 8.996 on 2 and 18 DF,  p-value: 0.001957</a:t>
            </a:r>
            <a:endParaRPr lang="en-US" sz="1100" b="1" dirty="0">
              <a:latin typeface="Lucida Console" panose="020B06090405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1FA86-85C0-4522-87D6-FFF22B6A1232}"/>
              </a:ext>
            </a:extLst>
          </p:cNvPr>
          <p:cNvSpPr txBox="1"/>
          <p:nvPr/>
        </p:nvSpPr>
        <p:spPr>
          <a:xfrm>
            <a:off x="1860224" y="2223026"/>
            <a:ext cx="2992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Treatment or ‘Dummy’ Codes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4DB44-A146-42AD-B2E2-C059EDD860F7}"/>
              </a:ext>
            </a:extLst>
          </p:cNvPr>
          <p:cNvSpPr txBox="1"/>
          <p:nvPr/>
        </p:nvSpPr>
        <p:spPr>
          <a:xfrm>
            <a:off x="8293009" y="2223026"/>
            <a:ext cx="161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Contrast 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049D6C-FB09-4313-B9EB-1CF72DB7E1A5}"/>
                  </a:ext>
                </a:extLst>
              </p:cNvPr>
              <p:cNvSpPr txBox="1"/>
              <p:nvPr/>
            </p:nvSpPr>
            <p:spPr>
              <a:xfrm>
                <a:off x="4178346" y="5908100"/>
                <a:ext cx="3980782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algn="ctr"/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𝟎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𝑿</m:t>
                        </m:r>
                        <m:sSub>
                          <m:sSub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𝟎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𝑿</m:t>
                        </m:r>
                        <m:sSub>
                          <m:sSub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049D6C-FB09-4313-B9EB-1CF72DB7E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346" y="5908100"/>
                <a:ext cx="3980782" cy="584775"/>
              </a:xfrm>
              <a:prstGeom prst="rect">
                <a:avLst/>
              </a:prstGeom>
              <a:blipFill>
                <a:blip r:embed="rId2"/>
                <a:stretch>
                  <a:fillRect l="-611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2A92BE51-2849-4219-B641-F7518187C30C}"/>
              </a:ext>
            </a:extLst>
          </p:cNvPr>
          <p:cNvCxnSpPr>
            <a:cxnSpLocks/>
            <a:stCxn id="11" idx="2"/>
            <a:endCxn id="9" idx="1"/>
          </p:cNvCxnSpPr>
          <p:nvPr/>
        </p:nvCxnSpPr>
        <p:spPr>
          <a:xfrm rot="16200000" flipH="1">
            <a:off x="3267320" y="5289462"/>
            <a:ext cx="976640" cy="845411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43768DC-D7BB-44CC-837C-0B4D6328C58D}"/>
              </a:ext>
            </a:extLst>
          </p:cNvPr>
          <p:cNvSpPr/>
          <p:nvPr/>
        </p:nvSpPr>
        <p:spPr>
          <a:xfrm>
            <a:off x="606868" y="4639073"/>
            <a:ext cx="5452134" cy="584775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C24CAAB9-6CF4-4750-B686-D74FE5BEEFF3}"/>
              </a:ext>
            </a:extLst>
          </p:cNvPr>
          <p:cNvCxnSpPr>
            <a:cxnSpLocks/>
            <a:stCxn id="30" idx="2"/>
            <a:endCxn id="9" idx="3"/>
          </p:cNvCxnSpPr>
          <p:nvPr/>
        </p:nvCxnSpPr>
        <p:spPr>
          <a:xfrm rot="5400000">
            <a:off x="8142555" y="5240421"/>
            <a:ext cx="976640" cy="943494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10D337B-BD6D-45A8-97EC-8737309A62D0}"/>
              </a:ext>
            </a:extLst>
          </p:cNvPr>
          <p:cNvSpPr/>
          <p:nvPr/>
        </p:nvSpPr>
        <p:spPr>
          <a:xfrm>
            <a:off x="6376555" y="4639073"/>
            <a:ext cx="5452134" cy="584775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2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41B4-C5A7-45AD-9D48-3E6E1A85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models that make the same predictions: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5ED73-11A5-4D5E-85ED-E8BB2AAF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2/25/2019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E2E0C-3B6C-4F99-826B-38B3909E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1FA86-85C0-4522-87D6-FFF22B6A1232}"/>
              </a:ext>
            </a:extLst>
          </p:cNvPr>
          <p:cNvSpPr txBox="1"/>
          <p:nvPr/>
        </p:nvSpPr>
        <p:spPr>
          <a:xfrm>
            <a:off x="838200" y="1968833"/>
            <a:ext cx="2992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Treatment or ‘Dummy’ 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6EEA8C-DCD3-4466-9A67-A0F41055ED7B}"/>
                  </a:ext>
                </a:extLst>
              </p:cNvPr>
              <p:cNvSpPr txBox="1"/>
              <p:nvPr/>
            </p:nvSpPr>
            <p:spPr>
              <a:xfrm>
                <a:off x="838200" y="2347554"/>
                <a:ext cx="4117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6EEA8C-DCD3-4466-9A67-A0F41055E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47554"/>
                <a:ext cx="411715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FEE1CF9-FA91-45B8-819F-4BD922374342}"/>
              </a:ext>
            </a:extLst>
          </p:cNvPr>
          <p:cNvSpPr txBox="1"/>
          <p:nvPr/>
        </p:nvSpPr>
        <p:spPr>
          <a:xfrm>
            <a:off x="838200" y="4181006"/>
            <a:ext cx="161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Contrast 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25CC9E-2A74-4394-B566-87A84202709B}"/>
                  </a:ext>
                </a:extLst>
              </p:cNvPr>
              <p:cNvSpPr txBox="1"/>
              <p:nvPr/>
            </p:nvSpPr>
            <p:spPr>
              <a:xfrm>
                <a:off x="838200" y="4541362"/>
                <a:ext cx="4373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62.7381+5.2679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0.4940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25CC9E-2A74-4394-B566-87A84202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1362"/>
                <a:ext cx="437363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196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41B4-C5A7-45AD-9D48-3E6E1A85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models that make the same predictions: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5ED73-11A5-4D5E-85ED-E8BB2AAF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2/25/2019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E2E0C-3B6C-4F99-826B-38B3909E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1FA86-85C0-4522-87D6-FFF22B6A1232}"/>
              </a:ext>
            </a:extLst>
          </p:cNvPr>
          <p:cNvSpPr txBox="1"/>
          <p:nvPr/>
        </p:nvSpPr>
        <p:spPr>
          <a:xfrm>
            <a:off x="838200" y="1968833"/>
            <a:ext cx="2992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Treatment or ‘Dummy’ Codes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4DB44-A146-42AD-B2E2-C059EDD860F7}"/>
              </a:ext>
            </a:extLst>
          </p:cNvPr>
          <p:cNvSpPr txBox="1"/>
          <p:nvPr/>
        </p:nvSpPr>
        <p:spPr>
          <a:xfrm>
            <a:off x="838200" y="4181006"/>
            <a:ext cx="161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Contrast 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6EEA8C-DCD3-4466-9A67-A0F41055ED7B}"/>
                  </a:ext>
                </a:extLst>
              </p:cNvPr>
              <p:cNvSpPr txBox="1"/>
              <p:nvPr/>
            </p:nvSpPr>
            <p:spPr>
              <a:xfrm>
                <a:off x="838200" y="2347554"/>
                <a:ext cx="4117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6EEA8C-DCD3-4466-9A67-A0F41055E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47554"/>
                <a:ext cx="411715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AEAA7C-AF48-43BB-BE30-24E56BE1A4C3}"/>
                  </a:ext>
                </a:extLst>
              </p:cNvPr>
              <p:cNvSpPr txBox="1"/>
              <p:nvPr/>
            </p:nvSpPr>
            <p:spPr>
              <a:xfrm>
                <a:off x="838200" y="4541362"/>
                <a:ext cx="4373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62.7381+5.2679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0.4940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AEAA7C-AF48-43BB-BE30-24E56BE1A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1362"/>
                <a:ext cx="437363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19EB6C-53B7-4DD4-B6B2-E6A0BB3DEC07}"/>
                  </a:ext>
                </a:extLst>
              </p:cNvPr>
              <p:cNvSpPr txBox="1"/>
              <p:nvPr/>
            </p:nvSpPr>
            <p:spPr>
              <a:xfrm>
                <a:off x="838200" y="2751092"/>
                <a:ext cx="5134995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𝑓𝑎𝑠𝑡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=68.500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19EB6C-53B7-4DD4-B6B2-E6A0BB3DE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51092"/>
                <a:ext cx="5134995" cy="391582"/>
              </a:xfrm>
              <a:prstGeom prst="rect">
                <a:avLst/>
              </a:prstGeom>
              <a:blipFill>
                <a:blip r:embed="rId4"/>
                <a:stretch>
                  <a:fillRect t="-4615"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716066-C57D-465B-912F-3ACAA6286D24}"/>
                  </a:ext>
                </a:extLst>
              </p:cNvPr>
              <p:cNvSpPr txBox="1"/>
              <p:nvPr/>
            </p:nvSpPr>
            <p:spPr>
              <a:xfrm>
                <a:off x="838200" y="4950419"/>
                <a:ext cx="5575822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62.7381+5.2679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−0.4940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𝑓𝑎𝑠𝑡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68.500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716066-C57D-465B-912F-3ACAA6286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950419"/>
                <a:ext cx="5575822" cy="391582"/>
              </a:xfrm>
              <a:prstGeom prst="rect">
                <a:avLst/>
              </a:prstGeom>
              <a:blipFill>
                <a:blip r:embed="rId5"/>
                <a:stretch>
                  <a:fillRect t="-4688"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8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41B4-C5A7-45AD-9D48-3E6E1A85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models that make the same predictions: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5ED73-11A5-4D5E-85ED-E8BB2AAF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2/25/2019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E2E0C-3B6C-4F99-826B-38B3909E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1FA86-85C0-4522-87D6-FFF22B6A1232}"/>
              </a:ext>
            </a:extLst>
          </p:cNvPr>
          <p:cNvSpPr txBox="1"/>
          <p:nvPr/>
        </p:nvSpPr>
        <p:spPr>
          <a:xfrm>
            <a:off x="838200" y="1968833"/>
            <a:ext cx="2992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Treatment or ‘Dummy’ Codes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4DB44-A146-42AD-B2E2-C059EDD860F7}"/>
              </a:ext>
            </a:extLst>
          </p:cNvPr>
          <p:cNvSpPr txBox="1"/>
          <p:nvPr/>
        </p:nvSpPr>
        <p:spPr>
          <a:xfrm>
            <a:off x="838200" y="4181006"/>
            <a:ext cx="161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Contrast 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3B8FD2-E24C-498D-AD39-E5C33C59920A}"/>
                  </a:ext>
                </a:extLst>
              </p:cNvPr>
              <p:cNvSpPr txBox="1"/>
              <p:nvPr/>
            </p:nvSpPr>
            <p:spPr>
              <a:xfrm>
                <a:off x="838200" y="3142674"/>
                <a:ext cx="54656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𝑚𝑒𝑑𝑖𝑢𝑚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=61.750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3B8FD2-E24C-498D-AD39-E5C33C599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2674"/>
                <a:ext cx="5465663" cy="369332"/>
              </a:xfrm>
              <a:prstGeom prst="rect">
                <a:avLst/>
              </a:prstGeom>
              <a:blipFill>
                <a:blip r:embed="rId2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A8CA0F9-2C36-4416-BE63-DF279633EB7A}"/>
                  </a:ext>
                </a:extLst>
              </p:cNvPr>
              <p:cNvSpPr txBox="1"/>
              <p:nvPr/>
            </p:nvSpPr>
            <p:spPr>
              <a:xfrm>
                <a:off x="838200" y="5370183"/>
                <a:ext cx="57782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62.7381+5.2679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−0.4940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𝑚𝑒𝑑𝑖𝑢𝑚</m:t>
                          </m:r>
                        </m:sub>
                      </m:sSub>
                      <m:r>
                        <a:rPr lang="en-US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61.750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A8CA0F9-2C36-4416-BE63-DF279633E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70183"/>
                <a:ext cx="5778248" cy="369332"/>
              </a:xfrm>
              <a:prstGeom prst="rect">
                <a:avLst/>
              </a:prstGeom>
              <a:blipFill>
                <a:blip r:embed="rId3"/>
                <a:stretch>
                  <a:fillRect t="-6557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C619F0-4959-4AF8-AE18-1F3016687D2F}"/>
                  </a:ext>
                </a:extLst>
              </p:cNvPr>
              <p:cNvSpPr txBox="1"/>
              <p:nvPr/>
            </p:nvSpPr>
            <p:spPr>
              <a:xfrm>
                <a:off x="838200" y="2347554"/>
                <a:ext cx="4117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C619F0-4959-4AF8-AE18-1F3016687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47554"/>
                <a:ext cx="411715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7E45D6-8BD3-4CA4-B681-C8A46FB3477B}"/>
                  </a:ext>
                </a:extLst>
              </p:cNvPr>
              <p:cNvSpPr txBox="1"/>
              <p:nvPr/>
            </p:nvSpPr>
            <p:spPr>
              <a:xfrm>
                <a:off x="838200" y="4541362"/>
                <a:ext cx="4373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62.7381+5.2679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0.4940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7E45D6-8BD3-4CA4-B681-C8A46FB34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1362"/>
                <a:ext cx="437363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592513-1521-46A4-A82F-955D02DA4481}"/>
                  </a:ext>
                </a:extLst>
              </p:cNvPr>
              <p:cNvSpPr txBox="1"/>
              <p:nvPr/>
            </p:nvSpPr>
            <p:spPr>
              <a:xfrm>
                <a:off x="838200" y="2751092"/>
                <a:ext cx="5134995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𝑓𝑎𝑠𝑡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=68.500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592513-1521-46A4-A82F-955D02DA4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51092"/>
                <a:ext cx="5134995" cy="391582"/>
              </a:xfrm>
              <a:prstGeom prst="rect">
                <a:avLst/>
              </a:prstGeom>
              <a:blipFill>
                <a:blip r:embed="rId6"/>
                <a:stretch>
                  <a:fillRect t="-4615"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010C4B-90B9-46A6-9C03-B5B3E2CEEE5B}"/>
                  </a:ext>
                </a:extLst>
              </p:cNvPr>
              <p:cNvSpPr txBox="1"/>
              <p:nvPr/>
            </p:nvSpPr>
            <p:spPr>
              <a:xfrm>
                <a:off x="838200" y="4950419"/>
                <a:ext cx="5575822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62.7381+5.2679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−0.4940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𝑓𝑎𝑠𝑡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68.500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010C4B-90B9-46A6-9C03-B5B3E2CEE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950419"/>
                <a:ext cx="5575822" cy="391582"/>
              </a:xfrm>
              <a:prstGeom prst="rect">
                <a:avLst/>
              </a:prstGeom>
              <a:blipFill>
                <a:blip r:embed="rId7"/>
                <a:stretch>
                  <a:fillRect t="-4688"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494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41B4-C5A7-45AD-9D48-3E6E1A85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models that make the same predictions: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5ED73-11A5-4D5E-85ED-E8BB2AAF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2/25/2019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E2E0C-3B6C-4F99-826B-38B3909E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1FA86-85C0-4522-87D6-FFF22B6A1232}"/>
              </a:ext>
            </a:extLst>
          </p:cNvPr>
          <p:cNvSpPr txBox="1"/>
          <p:nvPr/>
        </p:nvSpPr>
        <p:spPr>
          <a:xfrm>
            <a:off x="838200" y="1968833"/>
            <a:ext cx="2992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Treatment or ‘Dummy’ Codes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4DB44-A146-42AD-B2E2-C059EDD860F7}"/>
              </a:ext>
            </a:extLst>
          </p:cNvPr>
          <p:cNvSpPr txBox="1"/>
          <p:nvPr/>
        </p:nvSpPr>
        <p:spPr>
          <a:xfrm>
            <a:off x="838200" y="4181006"/>
            <a:ext cx="161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Contrast 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0258B7-8AE3-49F7-8A09-B077D98DE39F}"/>
                  </a:ext>
                </a:extLst>
              </p:cNvPr>
              <p:cNvSpPr txBox="1"/>
              <p:nvPr/>
            </p:nvSpPr>
            <p:spPr>
              <a:xfrm>
                <a:off x="838199" y="3530661"/>
                <a:ext cx="51641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𝑠𝑙𝑜𝑤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=57.960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0258B7-8AE3-49F7-8A09-B077D98DE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530661"/>
                <a:ext cx="5164106" cy="369332"/>
              </a:xfrm>
              <a:prstGeom prst="rect">
                <a:avLst/>
              </a:prstGeom>
              <a:blipFill>
                <a:blip r:embed="rId2"/>
                <a:stretch>
                  <a:fillRect t="-6557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B4E4BC-0EE6-4BA0-AE67-EB1AE82D97BF}"/>
                  </a:ext>
                </a:extLst>
              </p:cNvPr>
              <p:cNvSpPr txBox="1"/>
              <p:nvPr/>
            </p:nvSpPr>
            <p:spPr>
              <a:xfrm>
                <a:off x="838200" y="5767697"/>
                <a:ext cx="57139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62.7381+5.2679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−0.4940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𝑠𝑙𝑜𝑤</m:t>
                        </m:r>
                      </m:sub>
                    </m:sSub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57.96</m:t>
                    </m:r>
                  </m:oMath>
                </a14:m>
                <a:r>
                  <a:rPr lang="en-US" dirty="0" smtClean="0">
                    <a:solidFill>
                      <a:schemeClr val="accent1"/>
                    </a:solidFill>
                  </a:rPr>
                  <a:t>0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AB4E4BC-0EE6-4BA0-AE67-EB1AE82D9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767697"/>
                <a:ext cx="5713937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38BAA50-399C-420D-837F-42F065DD7319}"/>
                  </a:ext>
                </a:extLst>
              </p:cNvPr>
              <p:cNvSpPr txBox="1"/>
              <p:nvPr/>
            </p:nvSpPr>
            <p:spPr>
              <a:xfrm>
                <a:off x="838200" y="3142674"/>
                <a:ext cx="54656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𝑚𝑒𝑑𝑖𝑢𝑚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=61.750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38BAA50-399C-420D-837F-42F065DD7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2674"/>
                <a:ext cx="5465663" cy="369332"/>
              </a:xfrm>
              <a:prstGeom prst="rect">
                <a:avLst/>
              </a:prstGeom>
              <a:blipFill>
                <a:blip r:embed="rId4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D9900A-EA87-42BE-B63A-60F16CFC7095}"/>
                  </a:ext>
                </a:extLst>
              </p:cNvPr>
              <p:cNvSpPr txBox="1"/>
              <p:nvPr/>
            </p:nvSpPr>
            <p:spPr>
              <a:xfrm>
                <a:off x="838200" y="2347554"/>
                <a:ext cx="4117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D9900A-EA87-42BE-B63A-60F16CFC7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47554"/>
                <a:ext cx="411715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519112-9563-4400-B077-93CF8CCF233D}"/>
                  </a:ext>
                </a:extLst>
              </p:cNvPr>
              <p:cNvSpPr txBox="1"/>
              <p:nvPr/>
            </p:nvSpPr>
            <p:spPr>
              <a:xfrm>
                <a:off x="838200" y="4541362"/>
                <a:ext cx="4373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62.7381+5.2679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0.4940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519112-9563-4400-B077-93CF8CCF2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1362"/>
                <a:ext cx="437363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9C8FDB-BDE0-4345-9ECD-DC461565F714}"/>
                  </a:ext>
                </a:extLst>
              </p:cNvPr>
              <p:cNvSpPr txBox="1"/>
              <p:nvPr/>
            </p:nvSpPr>
            <p:spPr>
              <a:xfrm>
                <a:off x="838200" y="2751092"/>
                <a:ext cx="5134995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𝑓𝑎𝑠𝑡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=68.500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9C8FDB-BDE0-4345-9ECD-DC461565F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51092"/>
                <a:ext cx="5134995" cy="391582"/>
              </a:xfrm>
              <a:prstGeom prst="rect">
                <a:avLst/>
              </a:prstGeom>
              <a:blipFill>
                <a:blip r:embed="rId7"/>
                <a:stretch>
                  <a:fillRect t="-4615"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EEE569-FABC-4EC3-A86D-CDC7E2AA91A9}"/>
                  </a:ext>
                </a:extLst>
              </p:cNvPr>
              <p:cNvSpPr txBox="1"/>
              <p:nvPr/>
            </p:nvSpPr>
            <p:spPr>
              <a:xfrm>
                <a:off x="838200" y="5370183"/>
                <a:ext cx="573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62.7381+5.2679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−0.4940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𝑚𝑒𝑑𝑖𝑢𝑚</m:t>
                          </m:r>
                        </m:sub>
                      </m:sSub>
                      <m:r>
                        <a:rPr lang="en-US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61.750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EEE569-FABC-4EC3-A86D-CDC7E2AA9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70183"/>
                <a:ext cx="5733364" cy="369332"/>
              </a:xfrm>
              <a:prstGeom prst="rect">
                <a:avLst/>
              </a:prstGeom>
              <a:blipFill>
                <a:blip r:embed="rId8"/>
                <a:stretch>
                  <a:fillRect t="-6557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790182-B0FF-473F-A4DB-83D49AAEE9BC}"/>
                  </a:ext>
                </a:extLst>
              </p:cNvPr>
              <p:cNvSpPr txBox="1"/>
              <p:nvPr/>
            </p:nvSpPr>
            <p:spPr>
              <a:xfrm>
                <a:off x="838200" y="4950419"/>
                <a:ext cx="5575822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62.7381+5.2679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−0.4940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𝑓𝑎𝑠𝑡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68.500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790182-B0FF-473F-A4DB-83D49AAEE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950419"/>
                <a:ext cx="5575822" cy="391582"/>
              </a:xfrm>
              <a:prstGeom prst="rect">
                <a:avLst/>
              </a:prstGeom>
              <a:blipFill>
                <a:blip r:embed="rId9"/>
                <a:stretch>
                  <a:fillRect t="-4688"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577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41B4-C5A7-45AD-9D48-3E6E1A85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models that make the same predictions: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5ED73-11A5-4D5E-85ED-E8BB2AAF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2/25/2019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E2E0C-3B6C-4F99-826B-38B3909E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1FA86-85C0-4522-87D6-FFF22B6A1232}"/>
              </a:ext>
            </a:extLst>
          </p:cNvPr>
          <p:cNvSpPr txBox="1"/>
          <p:nvPr/>
        </p:nvSpPr>
        <p:spPr>
          <a:xfrm>
            <a:off x="838200" y="1968833"/>
            <a:ext cx="2992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Treatment or ‘Dummy’ Codes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4DB44-A146-42AD-B2E2-C059EDD860F7}"/>
              </a:ext>
            </a:extLst>
          </p:cNvPr>
          <p:cNvSpPr txBox="1"/>
          <p:nvPr/>
        </p:nvSpPr>
        <p:spPr>
          <a:xfrm>
            <a:off x="838200" y="4181006"/>
            <a:ext cx="161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Contrast Codes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916859-43A9-4237-8C3B-2D578DCA93C0}"/>
              </a:ext>
            </a:extLst>
          </p:cNvPr>
          <p:cNvSpPr txBox="1"/>
          <p:nvPr/>
        </p:nvSpPr>
        <p:spPr>
          <a:xfrm>
            <a:off x="7307347" y="1968833"/>
            <a:ext cx="4232569" cy="36933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Note that although we estimate different coefficients depending on if X’s are treatment coded or contrast coded, we arrive at the same model predictions. </a:t>
            </a:r>
          </a:p>
          <a:p>
            <a:endParaRPr lang="en-US" dirty="0"/>
          </a:p>
          <a:p>
            <a:r>
              <a:rPr lang="en-US" dirty="0"/>
              <a:t>This is because these coefficients are determined using least squares error estimation. Thus, the estimate we arrive at is the </a:t>
            </a:r>
            <a:r>
              <a:rPr lang="en-US" b="1" u="sng" dirty="0"/>
              <a:t>mean</a:t>
            </a:r>
            <a:r>
              <a:rPr lang="en-US" dirty="0"/>
              <a:t> for each group.</a:t>
            </a:r>
          </a:p>
          <a:p>
            <a:endParaRPr lang="en-US" dirty="0"/>
          </a:p>
          <a:p>
            <a:r>
              <a:rPr lang="en-US" dirty="0"/>
              <a:t>The mean will produce the smallest SSE in each group and, as a result, the model will produce the smallest SSE overall.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C237F4-1A3B-4C28-820F-81D3FC2BF398}"/>
                  </a:ext>
                </a:extLst>
              </p:cNvPr>
              <p:cNvSpPr txBox="1"/>
              <p:nvPr/>
            </p:nvSpPr>
            <p:spPr>
              <a:xfrm>
                <a:off x="838199" y="3530661"/>
                <a:ext cx="51641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𝑠𝑙𝑜𝑤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=57.960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C237F4-1A3B-4C28-820F-81D3FC2BF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530661"/>
                <a:ext cx="5164106" cy="369332"/>
              </a:xfrm>
              <a:prstGeom prst="rect">
                <a:avLst/>
              </a:prstGeom>
              <a:blipFill>
                <a:blip r:embed="rId2"/>
                <a:stretch>
                  <a:fillRect t="-6557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047F37-B33B-4ED3-8596-40FE4E341BA7}"/>
                  </a:ext>
                </a:extLst>
              </p:cNvPr>
              <p:cNvSpPr txBox="1"/>
              <p:nvPr/>
            </p:nvSpPr>
            <p:spPr>
              <a:xfrm>
                <a:off x="838200" y="3142674"/>
                <a:ext cx="54656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𝑚𝑒𝑑𝑖𝑢𝑚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=61.750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047F37-B33B-4ED3-8596-40FE4E341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42674"/>
                <a:ext cx="5465663" cy="369332"/>
              </a:xfrm>
              <a:prstGeom prst="rect">
                <a:avLst/>
              </a:prstGeom>
              <a:blipFill>
                <a:blip r:embed="rId3"/>
                <a:stretch>
                  <a:fillRect t="-666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98638C3-4AFF-4C92-BEEF-4ADB63E01D14}"/>
                  </a:ext>
                </a:extLst>
              </p:cNvPr>
              <p:cNvSpPr txBox="1"/>
              <p:nvPr/>
            </p:nvSpPr>
            <p:spPr>
              <a:xfrm>
                <a:off x="838200" y="2347554"/>
                <a:ext cx="4117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98638C3-4AFF-4C92-BEEF-4ADB63E01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47554"/>
                <a:ext cx="411715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93014A1-9455-4E0B-BFB8-2A92B75ECBAC}"/>
                  </a:ext>
                </a:extLst>
              </p:cNvPr>
              <p:cNvSpPr txBox="1"/>
              <p:nvPr/>
            </p:nvSpPr>
            <p:spPr>
              <a:xfrm>
                <a:off x="838200" y="4541362"/>
                <a:ext cx="4373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62.7381+5.2679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0.4940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93014A1-9455-4E0B-BFB8-2A92B75EC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1362"/>
                <a:ext cx="437363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191A056-7247-4BE5-812F-54D0296F7790}"/>
                  </a:ext>
                </a:extLst>
              </p:cNvPr>
              <p:cNvSpPr txBox="1"/>
              <p:nvPr/>
            </p:nvSpPr>
            <p:spPr>
              <a:xfrm>
                <a:off x="838200" y="2751092"/>
                <a:ext cx="5134995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68.500−6.750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−10.536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𝑓𝑎𝑠𝑡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=68.500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191A056-7247-4BE5-812F-54D0296F7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51092"/>
                <a:ext cx="5134995" cy="391582"/>
              </a:xfrm>
              <a:prstGeom prst="rect">
                <a:avLst/>
              </a:prstGeom>
              <a:blipFill>
                <a:blip r:embed="rId6"/>
                <a:stretch>
                  <a:fillRect t="-4615"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F797715-CC80-4DB6-B173-E4EE3B6DD4FC}"/>
                  </a:ext>
                </a:extLst>
              </p:cNvPr>
              <p:cNvSpPr txBox="1"/>
              <p:nvPr/>
            </p:nvSpPr>
            <p:spPr>
              <a:xfrm>
                <a:off x="838200" y="5767697"/>
                <a:ext cx="5778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62.7381+5.2679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−0.4940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𝑠𝑙𝑜𝑤</m:t>
                          </m:r>
                        </m:sub>
                      </m:sSub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57.96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F797715-CC80-4DB6-B173-E4EE3B6DD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767697"/>
                <a:ext cx="5778057" cy="369332"/>
              </a:xfrm>
              <a:prstGeom prst="rect">
                <a:avLst/>
              </a:prstGeom>
              <a:blipFill>
                <a:blip r:embed="rId7"/>
                <a:stretch>
                  <a:fillRect t="-6557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34AE03B-CC35-4555-9807-87D653938F9E}"/>
                  </a:ext>
                </a:extLst>
              </p:cNvPr>
              <p:cNvSpPr txBox="1"/>
              <p:nvPr/>
            </p:nvSpPr>
            <p:spPr>
              <a:xfrm>
                <a:off x="838200" y="5370183"/>
                <a:ext cx="5733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62.7381+5.2679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−0.4940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𝑚𝑒𝑑𝑖𝑢𝑚</m:t>
                          </m:r>
                        </m:sub>
                      </m:sSub>
                      <m:r>
                        <a:rPr lang="en-US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61.750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34AE03B-CC35-4555-9807-87D653938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70183"/>
                <a:ext cx="5733364" cy="369332"/>
              </a:xfrm>
              <a:prstGeom prst="rect">
                <a:avLst/>
              </a:prstGeom>
              <a:blipFill>
                <a:blip r:embed="rId8"/>
                <a:stretch>
                  <a:fillRect t="-6557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79287E1-DBAC-4981-BED3-B64F621EB4D9}"/>
                  </a:ext>
                </a:extLst>
              </p:cNvPr>
              <p:cNvSpPr txBox="1"/>
              <p:nvPr/>
            </p:nvSpPr>
            <p:spPr>
              <a:xfrm>
                <a:off x="838200" y="4950419"/>
                <a:ext cx="5575822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62.7381+5.2679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−0.4940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𝑓𝑎𝑠𝑡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68.500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79287E1-DBAC-4981-BED3-B64F621EB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950419"/>
                <a:ext cx="5575822" cy="391582"/>
              </a:xfrm>
              <a:prstGeom prst="rect">
                <a:avLst/>
              </a:prstGeom>
              <a:blipFill>
                <a:blip r:embed="rId9"/>
                <a:stretch>
                  <a:fillRect t="-4688" b="-10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54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41B4-C5A7-45AD-9D48-3E6E1A85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models that make the same predictions: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5ED73-11A5-4D5E-85ED-E8BB2AAF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2/25/2019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E2E0C-3B6C-4F99-826B-38B3909E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8340FF-0EB7-4C35-B087-B3B4CA0B717E}"/>
              </a:ext>
            </a:extLst>
          </p:cNvPr>
          <p:cNvSpPr txBox="1"/>
          <p:nvPr/>
        </p:nvSpPr>
        <p:spPr>
          <a:xfrm>
            <a:off x="835226" y="2359180"/>
            <a:ext cx="5333511" cy="6001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100" b="1" dirty="0">
                <a:latin typeface="Lucida Console" panose="020B0609040504020204" pitchFamily="49" charset="0"/>
              </a:rPr>
              <a:t>F-statistic: 8.996 on 2 and 18 DF,  p-value: 0.001957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E90E71-BA4B-4499-AEF5-83376F8AA65A}"/>
              </a:ext>
            </a:extLst>
          </p:cNvPr>
          <p:cNvSpPr txBox="1"/>
          <p:nvPr/>
        </p:nvSpPr>
        <p:spPr>
          <a:xfrm>
            <a:off x="835226" y="3580841"/>
            <a:ext cx="5333511" cy="6001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100" b="1" dirty="0">
                <a:latin typeface="Lucida Console" panose="020B0609040504020204" pitchFamily="49" charset="0"/>
              </a:rPr>
              <a:t>F-statistic: 8.996 on 2 and 18 DF,  p-value: 0.001957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767352-F5D6-4170-9010-3307A8E1B922}"/>
                  </a:ext>
                </a:extLst>
              </p:cNvPr>
              <p:cNvSpPr txBox="1"/>
              <p:nvPr/>
            </p:nvSpPr>
            <p:spPr>
              <a:xfrm>
                <a:off x="835226" y="4696945"/>
                <a:ext cx="3980782" cy="5847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MODEL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algn="ctr"/>
                <a:r>
                  <a:rPr lang="en-US" sz="1600" dirty="0"/>
                  <a:t>MODEL C: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𝟎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𝑿</m:t>
                        </m:r>
                        <m:sSub>
                          <m:sSub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𝟎</m:t>
                    </m:r>
                    <m:d>
                      <m:d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𝑿</m:t>
                        </m:r>
                        <m:sSub>
                          <m:sSubPr>
                            <m:ctrlPr>
                              <a:rPr lang="en-US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767352-F5D6-4170-9010-3307A8E1B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26" y="4696945"/>
                <a:ext cx="3980782" cy="584775"/>
              </a:xfrm>
              <a:prstGeom prst="rect">
                <a:avLst/>
              </a:prstGeom>
              <a:blipFill>
                <a:blip r:embed="rId2"/>
                <a:stretch>
                  <a:fillRect l="-611" t="-2041" b="-112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7EF0CFB4-6303-41F4-B17A-6CE1DF790784}"/>
              </a:ext>
            </a:extLst>
          </p:cNvPr>
          <p:cNvCxnSpPr>
            <a:cxnSpLocks/>
            <a:stCxn id="20" idx="1"/>
            <a:endCxn id="23" idx="1"/>
          </p:cNvCxnSpPr>
          <p:nvPr/>
        </p:nvCxnSpPr>
        <p:spPr>
          <a:xfrm rot="10800000" flipV="1">
            <a:off x="835226" y="3880923"/>
            <a:ext cx="12700" cy="1108410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F2BD0C0D-FF5F-480C-99DC-7A56A75398F7}"/>
              </a:ext>
            </a:extLst>
          </p:cNvPr>
          <p:cNvCxnSpPr>
            <a:cxnSpLocks/>
            <a:stCxn id="19" idx="1"/>
            <a:endCxn id="23" idx="1"/>
          </p:cNvCxnSpPr>
          <p:nvPr/>
        </p:nvCxnSpPr>
        <p:spPr>
          <a:xfrm rot="10800000" flipV="1">
            <a:off x="835226" y="2659261"/>
            <a:ext cx="12700" cy="2330071"/>
          </a:xfrm>
          <a:prstGeom prst="curvedConnector3">
            <a:avLst>
              <a:gd name="adj1" fmla="val 180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00C51C7-6AD8-4044-BF61-F0D3C62AAA1F}"/>
              </a:ext>
            </a:extLst>
          </p:cNvPr>
          <p:cNvSpPr txBox="1"/>
          <p:nvPr/>
        </p:nvSpPr>
        <p:spPr>
          <a:xfrm>
            <a:off x="838200" y="1968833"/>
            <a:ext cx="2992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Treatment or ‘Dummy’ Codes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C6ADE5-708C-474E-AD11-CF975928DC56}"/>
              </a:ext>
            </a:extLst>
          </p:cNvPr>
          <p:cNvSpPr txBox="1"/>
          <p:nvPr/>
        </p:nvSpPr>
        <p:spPr>
          <a:xfrm>
            <a:off x="835226" y="3185751"/>
            <a:ext cx="161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Contrast Codes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983415-E4D7-42CB-852A-474D7082132E}"/>
              </a:ext>
            </a:extLst>
          </p:cNvPr>
          <p:cNvSpPr txBox="1"/>
          <p:nvPr/>
        </p:nvSpPr>
        <p:spPr>
          <a:xfrm>
            <a:off x="7307347" y="1968833"/>
            <a:ext cx="4232569" cy="36933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Note that although we estimate different coefficients depending on if X’s are treatment coded or contrast coded, we arrive at the same model predictions. </a:t>
            </a:r>
          </a:p>
          <a:p>
            <a:endParaRPr lang="en-US" dirty="0"/>
          </a:p>
          <a:p>
            <a:r>
              <a:rPr lang="en-US" dirty="0"/>
              <a:t>This is because these coefficients are determined using least squares error estimation. Thus, the estimate we arrive at is the </a:t>
            </a:r>
            <a:r>
              <a:rPr lang="en-US" b="1" u="sng" dirty="0"/>
              <a:t>mean</a:t>
            </a:r>
            <a:r>
              <a:rPr lang="en-US" dirty="0"/>
              <a:t> for each group.</a:t>
            </a:r>
          </a:p>
          <a:p>
            <a:endParaRPr lang="en-US" dirty="0"/>
          </a:p>
          <a:p>
            <a:r>
              <a:rPr lang="en-US" dirty="0"/>
              <a:t>The mean will produce the smallest SSE in each group and, as a result, the model will produce the smallest SSE overall.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F91F26-3194-4FBA-9BB6-7A501FFF353F}"/>
              </a:ext>
            </a:extLst>
          </p:cNvPr>
          <p:cNvSpPr/>
          <p:nvPr/>
        </p:nvSpPr>
        <p:spPr>
          <a:xfrm>
            <a:off x="4350434" y="4639073"/>
            <a:ext cx="534220" cy="73302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6C917-A8C7-4DDD-B178-9425E86F4E97}"/>
              </a:ext>
            </a:extLst>
          </p:cNvPr>
          <p:cNvSpPr txBox="1"/>
          <p:nvPr/>
        </p:nvSpPr>
        <p:spPr>
          <a:xfrm>
            <a:off x="835225" y="5521146"/>
            <a:ext cx="5333512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Despite different values of the coefficients, the SSE(A) for both of these models is the same and they are both being compared to the same SSE(C) to obtain the Omnibus F and PRE.</a:t>
            </a:r>
          </a:p>
        </p:txBody>
      </p:sp>
    </p:spTree>
    <p:extLst>
      <p:ext uri="{BB962C8B-B14F-4D97-AF65-F5344CB8AC3E}">
        <p14:creationId xmlns:p14="http://schemas.microsoft.com/office/powerpoint/2010/main" val="2276241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41B4-C5A7-45AD-9D48-3E6E1A85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but the individual contrasts are different!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5ED73-11A5-4D5E-85ED-E8BB2AAF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2/25/2019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E2E0C-3B6C-4F99-826B-38B3909E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F3BC0-03A6-4084-85C0-F1C702C9EF02}"/>
              </a:ext>
            </a:extLst>
          </p:cNvPr>
          <p:cNvSpPr txBox="1"/>
          <p:nvPr/>
        </p:nvSpPr>
        <p:spPr>
          <a:xfrm>
            <a:off x="606868" y="2592358"/>
            <a:ext cx="5452134" cy="26314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     Estimate Std. Error t value </a:t>
            </a:r>
            <a:r>
              <a:rPr lang="en-US" sz="1100" dirty="0" err="1">
                <a:latin typeface="Lucida Console" panose="020B0609040504020204" pitchFamily="49" charset="0"/>
              </a:rPr>
              <a:t>Pr</a:t>
            </a:r>
            <a:r>
              <a:rPr lang="en-US" sz="11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(Intercept)    68.500      1.779  38.497  &lt; 2e-16 ***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groupsmedium</a:t>
            </a:r>
            <a:r>
              <a:rPr lang="en-US" sz="1100" dirty="0">
                <a:latin typeface="Lucida Console" panose="020B0609040504020204" pitchFamily="49" charset="0"/>
              </a:rPr>
              <a:t>   -6.750      2.516  -2.682 0.015209 *  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groupsslower</a:t>
            </a:r>
            <a:r>
              <a:rPr lang="en-US" sz="1100" dirty="0">
                <a:latin typeface="Lucida Console" panose="020B0609040504020204" pitchFamily="49" charset="0"/>
              </a:rPr>
              <a:t>  -10.536      2.516  -4.187 0.000554 ***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Signif</a:t>
            </a:r>
            <a:r>
              <a:rPr lang="en-US" sz="11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100" b="1" dirty="0">
                <a:latin typeface="Lucida Console" panose="020B0609040504020204" pitchFamily="49" charset="0"/>
              </a:rPr>
              <a:t>F-statistic: 8.996 on 2 and 18 DF,  p-value: 0.001957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FE361C-7CD4-4663-9848-A7D180E64152}"/>
              </a:ext>
            </a:extLst>
          </p:cNvPr>
          <p:cNvSpPr txBox="1"/>
          <p:nvPr/>
        </p:nvSpPr>
        <p:spPr>
          <a:xfrm>
            <a:off x="6376555" y="2592358"/>
            <a:ext cx="5452134" cy="26314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    Estimate Std. Error t value </a:t>
            </a:r>
            <a:r>
              <a:rPr lang="en-US" sz="1100" dirty="0" err="1">
                <a:latin typeface="Lucida Console" panose="020B0609040504020204" pitchFamily="49" charset="0"/>
              </a:rPr>
              <a:t>Pr</a:t>
            </a:r>
            <a:r>
              <a:rPr lang="en-US" sz="11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(Intercept)  62.7381     1.0273  61.070  &lt; 2e-16 ***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lin.c</a:t>
            </a:r>
            <a:r>
              <a:rPr lang="en-US" sz="1100" dirty="0">
                <a:latin typeface="Lucida Console" panose="020B0609040504020204" pitchFamily="49" charset="0"/>
              </a:rPr>
              <a:t>         5.2679     1.2582   4.187 0.000554 ***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quad.c</a:t>
            </a:r>
            <a:r>
              <a:rPr lang="en-US" sz="1100" dirty="0">
                <a:latin typeface="Lucida Console" panose="020B0609040504020204" pitchFamily="49" charset="0"/>
              </a:rPr>
              <a:t>       -0.4940     0.7264  -0.680 0.505086   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Signif</a:t>
            </a:r>
            <a:r>
              <a:rPr lang="en-US" sz="11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100" b="1" dirty="0">
                <a:latin typeface="Lucida Console" panose="020B0609040504020204" pitchFamily="49" charset="0"/>
              </a:rPr>
              <a:t>F-statistic: 8.996 on 2 and 18 DF,  p-value: 0.001957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1FA86-85C0-4522-87D6-FFF22B6A1232}"/>
              </a:ext>
            </a:extLst>
          </p:cNvPr>
          <p:cNvSpPr txBox="1"/>
          <p:nvPr/>
        </p:nvSpPr>
        <p:spPr>
          <a:xfrm>
            <a:off x="1860224" y="2223026"/>
            <a:ext cx="2992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Treatment or ‘Dummy’ Codes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4DB44-A146-42AD-B2E2-C059EDD860F7}"/>
              </a:ext>
            </a:extLst>
          </p:cNvPr>
          <p:cNvSpPr txBox="1"/>
          <p:nvPr/>
        </p:nvSpPr>
        <p:spPr>
          <a:xfrm>
            <a:off x="8293009" y="2223026"/>
            <a:ext cx="161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Contrast Codes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3768DC-D7BB-44CC-837C-0B4D6328C58D}"/>
              </a:ext>
            </a:extLst>
          </p:cNvPr>
          <p:cNvSpPr/>
          <p:nvPr/>
        </p:nvSpPr>
        <p:spPr>
          <a:xfrm>
            <a:off x="606868" y="3610052"/>
            <a:ext cx="5452134" cy="584775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0D337B-BD6D-45A8-97EC-8737309A62D0}"/>
              </a:ext>
            </a:extLst>
          </p:cNvPr>
          <p:cNvSpPr/>
          <p:nvPr/>
        </p:nvSpPr>
        <p:spPr>
          <a:xfrm>
            <a:off x="6376555" y="3610052"/>
            <a:ext cx="5452134" cy="584775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17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3C0B-5903-4A59-A67A-A511C24B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Omnibus F and “post-hoc” tests.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BBFD7-B7B2-4BA9-AC92-12D33517D5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that the false positive rate,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, is 0.05 (5%). </a:t>
                </a:r>
              </a:p>
              <a:p>
                <a:endParaRPr lang="en-US" dirty="0"/>
              </a:p>
              <a:p>
                <a:r>
                  <a:rPr lang="en-US" dirty="0"/>
                  <a:t>If we wanted to test each of our groups compared to each other we have:</a:t>
                </a:r>
              </a:p>
              <a:p>
                <a:pPr lvl="1"/>
                <a:r>
                  <a:rPr lang="en-US" dirty="0"/>
                  <a:t>Slow v. Med,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Med v. Fast,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Fast v. Slow,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the “family-wise” false positive rate is 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 ∗0.05=0.15</m:t>
                    </m:r>
                  </m:oMath>
                </a14:m>
                <a:r>
                  <a:rPr lang="en-US" dirty="0"/>
                  <a:t> or 15%!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BBFD7-B7B2-4BA9-AC92-12D33517D5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BDB12-04E9-4755-B303-DBD26E6A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6E3FE-9A89-4100-87F9-A9FE53BBC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61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43C0B-5903-4A59-A67A-A511C24B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Omnibus F and “post-hoc” tests.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BBFD7-B7B2-4BA9-AC92-12D33517D5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that the </a:t>
                </a:r>
                <a:r>
                  <a:rPr lang="en-US" b="1" u="sng" dirty="0"/>
                  <a:t>false positive rate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, is 0.05 (5%). </a:t>
                </a:r>
              </a:p>
              <a:p>
                <a:endParaRPr lang="en-US" dirty="0"/>
              </a:p>
              <a:p>
                <a:r>
                  <a:rPr lang="en-US" dirty="0"/>
                  <a:t>If we wanted to test each of our groups compared to each other we have:</a:t>
                </a:r>
              </a:p>
              <a:p>
                <a:pPr lvl="1"/>
                <a:r>
                  <a:rPr lang="en-US" dirty="0"/>
                  <a:t>Slow v. Med,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Med v. Fast,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Fast v. Slow,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the “family-wise” false positive rate is 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 ∗0.05=0.15</m:t>
                    </m:r>
                  </m:oMath>
                </a14:m>
                <a:r>
                  <a:rPr lang="en-US" dirty="0"/>
                  <a:t> or 15%!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In order to control the “family-wise” error rate, we will look at the omnibus F for a family of tests first. </a:t>
                </a:r>
              </a:p>
              <a:p>
                <a:pPr lvl="1"/>
                <a:r>
                  <a:rPr lang="en-US" dirty="0"/>
                  <a:t>If this omnibus F is statistically significant, then we will then interpret the individual contrast and conduct any additional </a:t>
                </a:r>
                <a:r>
                  <a:rPr lang="en-US" b="1" u="sng" dirty="0"/>
                  <a:t>post-hoc tests</a:t>
                </a:r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BBFD7-B7B2-4BA9-AC92-12D33517D5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1333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BDB12-04E9-4755-B303-DBD26E6A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6E3FE-9A89-4100-87F9-A9FE53BBC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00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1005</Words>
  <Application>Microsoft Office PowerPoint</Application>
  <PresentationFormat>Widescreen</PresentationFormat>
  <Paragraphs>182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Lucida Console</vt:lpstr>
      <vt:lpstr>Office Theme</vt:lpstr>
      <vt:lpstr>Dissecting the ANOVA Output.</vt:lpstr>
      <vt:lpstr>Comparing our Different Codes</vt:lpstr>
      <vt:lpstr>Different models that make the same predictions:</vt:lpstr>
      <vt:lpstr>Different models that make the same predictions:</vt:lpstr>
      <vt:lpstr>Different models that make the same predictions:</vt:lpstr>
      <vt:lpstr>Different models that make the same predictions:</vt:lpstr>
      <vt:lpstr>Different models that make the same predictions:</vt:lpstr>
      <vt:lpstr>Different models that make the same predictions:</vt:lpstr>
      <vt:lpstr>… but the individual contrasts are different!</vt:lpstr>
      <vt:lpstr>Omnibus F and “post-hoc” tests. </vt:lpstr>
      <vt:lpstr>Omnibus F and “post-hoc” tests.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35</cp:revision>
  <dcterms:created xsi:type="dcterms:W3CDTF">2019-02-09T14:44:07Z</dcterms:created>
  <dcterms:modified xsi:type="dcterms:W3CDTF">2019-02-25T15:30:13Z</dcterms:modified>
</cp:coreProperties>
</file>
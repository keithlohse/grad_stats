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sldIdLst>
    <p:sldId id="382" r:id="rId2"/>
    <p:sldId id="383" r:id="rId3"/>
    <p:sldId id="384" r:id="rId4"/>
    <p:sldId id="385" r:id="rId5"/>
    <p:sldId id="389" r:id="rId6"/>
    <p:sldId id="386" r:id="rId7"/>
    <p:sldId id="387" r:id="rId8"/>
    <p:sldId id="3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Finding a Loaded Die.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 of 10 Dice Rolls, 20-Sided Die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76" y="1894451"/>
            <a:ext cx="7619048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4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76" y="1894451"/>
            <a:ext cx="7619048" cy="38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 of 10 Dice Rolls, 20-Sided Die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126178"/>
              </p:ext>
            </p:extLst>
          </p:nvPr>
        </p:nvGraphicFramePr>
        <p:xfrm>
          <a:off x="2032001" y="5771352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3621013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567098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00630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819052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6123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40115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3233596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3687187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90312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Orange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Cream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Purple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White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Black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0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13.3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66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3385"/>
            <a:ext cx="7619048" cy="38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probability of observing a mean?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9482672" y="2150389"/>
                <a:ext cx="2044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𝑆𝐷𝑂𝑀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672" y="2150389"/>
                <a:ext cx="2044149" cy="276999"/>
              </a:xfrm>
              <a:prstGeom prst="rect">
                <a:avLst/>
              </a:prstGeom>
              <a:blipFill>
                <a:blip r:embed="rId3"/>
                <a:stretch>
                  <a:fillRect l="-2388" t="-2222" r="-5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445489"/>
              </p:ext>
            </p:extLst>
          </p:nvPr>
        </p:nvGraphicFramePr>
        <p:xfrm>
          <a:off x="2032001" y="5771352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3621013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567098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00630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819052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612311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401151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3233596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3687187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90312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Orange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Cream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Purple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White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Black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0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13.3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6624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027612" y="2772979"/>
                <a:ext cx="2954270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𝑜𝑟𝑎𝑛𝑔𝑒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1.74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612" y="2772979"/>
                <a:ext cx="2954270" cy="299569"/>
              </a:xfrm>
              <a:prstGeom prst="rect">
                <a:avLst/>
              </a:prstGeom>
              <a:blipFill>
                <a:blip r:embed="rId4"/>
                <a:stretch>
                  <a:fillRect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157038" y="3280991"/>
                <a:ext cx="25303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1.74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038" y="3280991"/>
                <a:ext cx="2530308" cy="276999"/>
              </a:xfrm>
              <a:prstGeom prst="rect">
                <a:avLst/>
              </a:prstGeom>
              <a:blipFill>
                <a:blip r:embed="rId5"/>
                <a:stretch>
                  <a:fillRect l="-1928" t="-2174" r="-216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973911" y="3763730"/>
                <a:ext cx="2896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𝑐𝑟𝑒𝑎𝑚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1.74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911" y="3763730"/>
                <a:ext cx="2896562" cy="276999"/>
              </a:xfrm>
              <a:prstGeom prst="rect">
                <a:avLst/>
              </a:prstGeom>
              <a:blipFill>
                <a:blip r:embed="rId6"/>
                <a:stretch>
                  <a:fillRect l="-1474" t="-2174" r="-168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9056466" y="4246469"/>
                <a:ext cx="1203791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466" y="4246469"/>
                <a:ext cx="1203791" cy="299569"/>
              </a:xfrm>
              <a:prstGeom prst="rect">
                <a:avLst/>
              </a:prstGeom>
              <a:blipFill>
                <a:blip r:embed="rId7"/>
                <a:stretch>
                  <a:fillRect l="-456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26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probability of observing a mean?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Image result for t distrib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794" y="1690688"/>
            <a:ext cx="5029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14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probability of observing a mean?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690688"/>
                <a:ext cx="2044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𝑆𝐷𝑂𝑀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044149" cy="276999"/>
              </a:xfrm>
              <a:prstGeom prst="rect">
                <a:avLst/>
              </a:prstGeom>
              <a:blipFill>
                <a:blip r:embed="rId2"/>
                <a:stretch>
                  <a:fillRect l="-2388" t="-2174" r="-59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732206" y="5795199"/>
            <a:ext cx="7104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0.038</a:t>
            </a:r>
            <a:endParaRPr lang="en-US" dirty="0"/>
          </a:p>
        </p:txBody>
      </p:sp>
      <p:cxnSp>
        <p:nvCxnSpPr>
          <p:cNvPr id="10" name="Straight Arrow Connector 9"/>
          <p:cNvCxnSpPr>
            <a:stCxn id="7" idx="1"/>
            <a:endCxn id="12" idx="3"/>
          </p:cNvCxnSpPr>
          <p:nvPr/>
        </p:nvCxnSpPr>
        <p:spPr>
          <a:xfrm flipH="1">
            <a:off x="4877127" y="5979865"/>
            <a:ext cx="8550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39561" y="5795199"/>
            <a:ext cx="2375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509" y="5795199"/>
            <a:ext cx="710451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0.055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4" idx="3"/>
            <a:endCxn id="16" idx="1"/>
          </p:cNvCxnSpPr>
          <p:nvPr/>
        </p:nvCxnSpPr>
        <p:spPr>
          <a:xfrm flipV="1">
            <a:off x="9405960" y="5974190"/>
            <a:ext cx="929615" cy="5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335575" y="5789524"/>
            <a:ext cx="2375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586" y="6321019"/>
            <a:ext cx="2669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pnorm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Qobs</a:t>
            </a:r>
            <a:r>
              <a:rPr lang="en-US" sz="1400" dirty="0">
                <a:latin typeface="Consolas" panose="020B0609020204030204" pitchFamily="49" charset="0"/>
              </a:rPr>
              <a:t>, mean=0, </a:t>
            </a:r>
            <a:r>
              <a:rPr lang="en-US" sz="1400" dirty="0" err="1" smtClean="0">
                <a:latin typeface="Consolas" panose="020B0609020204030204" pitchFamily="49" charset="0"/>
              </a:rPr>
              <a:t>sd</a:t>
            </a:r>
            <a:r>
              <a:rPr lang="en-US" sz="1400" dirty="0" smtClean="0">
                <a:latin typeface="Consolas" panose="020B0609020204030204" pitchFamily="49" charset="0"/>
              </a:rPr>
              <a:t>=1)</a:t>
            </a:r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26" y="1641954"/>
            <a:ext cx="6400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1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probability of observing a mean?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690688"/>
                <a:ext cx="2044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𝑆𝐷𝑂𝑀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044149" cy="276999"/>
              </a:xfrm>
              <a:prstGeom prst="rect">
                <a:avLst/>
              </a:prstGeom>
              <a:blipFill>
                <a:blip r:embed="rId2"/>
                <a:stretch>
                  <a:fillRect l="-2388" t="-2174" r="-59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761703" y="5795199"/>
            <a:ext cx="7104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0.163</a:t>
            </a:r>
            <a:endParaRPr lang="en-US" dirty="0"/>
          </a:p>
        </p:txBody>
      </p:sp>
      <p:cxnSp>
        <p:nvCxnSpPr>
          <p:cNvPr id="10" name="Straight Arrow Connector 9"/>
          <p:cNvCxnSpPr>
            <a:stCxn id="7" idx="1"/>
            <a:endCxn id="12" idx="3"/>
          </p:cNvCxnSpPr>
          <p:nvPr/>
        </p:nvCxnSpPr>
        <p:spPr>
          <a:xfrm flipH="1">
            <a:off x="4906623" y="5979865"/>
            <a:ext cx="855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9057" y="5795199"/>
            <a:ext cx="2375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6678" y="5795199"/>
            <a:ext cx="710451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0.178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4" idx="3"/>
            <a:endCxn id="16" idx="1"/>
          </p:cNvCxnSpPr>
          <p:nvPr/>
        </p:nvCxnSpPr>
        <p:spPr>
          <a:xfrm flipV="1">
            <a:off x="9337129" y="5974190"/>
            <a:ext cx="1027945" cy="5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365074" y="5789524"/>
            <a:ext cx="2375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037" y="6275175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pt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Qobs</a:t>
            </a:r>
            <a:r>
              <a:rPr lang="en-US" sz="1400" dirty="0">
                <a:latin typeface="Consolas" panose="020B0609020204030204" pitchFamily="49" charset="0"/>
              </a:rPr>
              <a:t>,(</a:t>
            </a:r>
            <a:r>
              <a:rPr lang="en-US" sz="1400" dirty="0" smtClean="0">
                <a:latin typeface="Consolas" panose="020B0609020204030204" pitchFamily="49" charset="0"/>
              </a:rPr>
              <a:t>10-9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26" y="1666321"/>
            <a:ext cx="6400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2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die was “loaded”?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i="1" u="sng" dirty="0" smtClean="0"/>
              <a:t>black die </a:t>
            </a:r>
            <a:r>
              <a:rPr lang="en-US" dirty="0" smtClean="0"/>
              <a:t>is biased to produce higher numbers. </a:t>
            </a:r>
          </a:p>
          <a:p>
            <a:pPr lvl="1"/>
            <a:r>
              <a:rPr lang="en-US" dirty="0" smtClean="0"/>
              <a:t>(E[X] = 12.5 versus E[X] = 10.5)</a:t>
            </a:r>
          </a:p>
          <a:p>
            <a:endParaRPr lang="en-US" dirty="0" smtClean="0"/>
          </a:p>
          <a:p>
            <a:r>
              <a:rPr lang="en-US" dirty="0" smtClean="0"/>
              <a:t>All of the other dice were “fair” dice, so any variation we saw in those values was due to sampling variability.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5874</TotalTime>
  <Words>206</Words>
  <Application>Microsoft Office PowerPoint</Application>
  <PresentationFormat>Widescreen</PresentationFormat>
  <Paragraphs>88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Consolas</vt:lpstr>
      <vt:lpstr>Office Theme</vt:lpstr>
      <vt:lpstr>Finding a Loaded Die.</vt:lpstr>
      <vt:lpstr>Mean of 10 Dice Rolls, 20-Sided Die</vt:lpstr>
      <vt:lpstr>Mean of 10 Dice Rolls, 20-Sided Die</vt:lpstr>
      <vt:lpstr>What is the probability of observing a mean?</vt:lpstr>
      <vt:lpstr>What is the probability of observing a mean?</vt:lpstr>
      <vt:lpstr>What is the probability of observing a mean?</vt:lpstr>
      <vt:lpstr>What is the probability of observing a mean?</vt:lpstr>
      <vt:lpstr>Which die was “loaded”?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462</cp:revision>
  <dcterms:created xsi:type="dcterms:W3CDTF">2017-01-28T12:59:49Z</dcterms:created>
  <dcterms:modified xsi:type="dcterms:W3CDTF">2019-01-28T16:34:08Z</dcterms:modified>
</cp:coreProperties>
</file>
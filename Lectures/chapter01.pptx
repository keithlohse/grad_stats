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2"/>
  </p:notesMasterIdLst>
  <p:sldIdLst>
    <p:sldId id="382" r:id="rId2"/>
    <p:sldId id="385" r:id="rId3"/>
    <p:sldId id="383" r:id="rId4"/>
    <p:sldId id="384" r:id="rId5"/>
    <p:sldId id="387" r:id="rId6"/>
    <p:sldId id="388" r:id="rId7"/>
    <p:sldId id="389" r:id="rId8"/>
    <p:sldId id="390" r:id="rId9"/>
    <p:sldId id="394" r:id="rId10"/>
    <p:sldId id="39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77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52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06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93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86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73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12/29/2018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12/29/2018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12/29/2018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lohsekr/data-analysis-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analysisboo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Introduction to Data Analysis.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keith.lohse@health.utah.edu</a:t>
            </a:r>
            <a:endParaRPr lang="en-US" dirty="0"/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“flipped</a:t>
            </a:r>
            <a:r>
              <a:rPr lang="en-US" dirty="0"/>
              <a:t>” classroom | </a:t>
            </a:r>
            <a:r>
              <a:rPr lang="en-US" dirty="0">
                <a:solidFill>
                  <a:schemeClr val="tx1"/>
                </a:solidFill>
              </a:rPr>
              <a:t>(╯°□°)╯︵ ┻━┻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Every week, we will have lecture materials that are posted online, that way you can watch and re-watch lectures in your own time.</a:t>
            </a:r>
          </a:p>
          <a:p>
            <a:pPr lvl="1"/>
            <a:r>
              <a:rPr lang="en-US" dirty="0" smtClean="0"/>
              <a:t>Focused on theory and proving concepts. </a:t>
            </a:r>
          </a:p>
          <a:p>
            <a:pPr lvl="1"/>
            <a:endParaRPr lang="en-US" dirty="0"/>
          </a:p>
          <a:p>
            <a:r>
              <a:rPr lang="en-US" dirty="0" smtClean="0"/>
              <a:t>In the lab, we will complete assignments that require you to use the concepts discussed in the lecture. </a:t>
            </a:r>
          </a:p>
          <a:p>
            <a:pPr lvl="1"/>
            <a:r>
              <a:rPr lang="en-US" dirty="0" smtClean="0"/>
              <a:t>Take a quiz based on the lecture/s.</a:t>
            </a:r>
          </a:p>
          <a:p>
            <a:pPr lvl="1"/>
            <a:r>
              <a:rPr lang="en-US" dirty="0" smtClean="0"/>
              <a:t>Put theory into practice with assignments.</a:t>
            </a:r>
          </a:p>
          <a:p>
            <a:pPr lvl="2"/>
            <a:r>
              <a:rPr lang="en-US" dirty="0" smtClean="0"/>
              <a:t>Simulations, data manipulation, analysis, graphing, etc.</a:t>
            </a:r>
          </a:p>
          <a:p>
            <a:pPr lvl="1"/>
            <a:endParaRPr lang="en-US" dirty="0"/>
          </a:p>
          <a:p>
            <a:r>
              <a:rPr lang="en-US" dirty="0" smtClean="0"/>
              <a:t>The links to the videos, scripts for lab assignments, and all other course materials can be found on the course webpage and on my personal site: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sites.google.com/site/lohsekr/data-analysis-i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9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168"/>
    </mc:Choice>
    <mc:Fallback xmlns="">
      <p:transition spd="slow" advTm="102168"/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82590" x="1047750" y="6029325"/>
          <p14:tracePt t="82691" x="1038225" y="6029325"/>
          <p14:tracePt t="82730" x="1047750" y="6029325"/>
          <p14:tracePt t="82739" x="1066800" y="6029325"/>
          <p14:tracePt t="82747" x="1076325" y="6029325"/>
          <p14:tracePt t="82763" x="1114425" y="6029325"/>
          <p14:tracePt t="82779" x="1133475" y="6029325"/>
          <p14:tracePt t="82796" x="1152525" y="6019800"/>
          <p14:tracePt t="82813" x="1162050" y="6010275"/>
          <p14:tracePt t="82875" x="1190625" y="6010275"/>
          <p14:tracePt t="82883" x="1200150" y="6010275"/>
          <p14:tracePt t="82896" x="1219200" y="6010275"/>
          <p14:tracePt t="82913" x="1295400" y="6010275"/>
          <p14:tracePt t="82930" x="1362075" y="6010275"/>
          <p14:tracePt t="82931" x="1371600" y="6010275"/>
          <p14:tracePt t="82945" x="1400175" y="6010275"/>
          <p14:tracePt t="82962" x="1457325" y="6010275"/>
          <p14:tracePt t="82963" x="1466850" y="6010275"/>
          <p14:tracePt t="82979" x="1495425" y="6010275"/>
          <p14:tracePt t="82995" x="1533525" y="6010275"/>
          <p14:tracePt t="83012" x="1571625" y="6010275"/>
          <p14:tracePt t="83029" x="1628775" y="6010275"/>
          <p14:tracePt t="83046" x="1666875" y="6010275"/>
          <p14:tracePt t="83062" x="1695450" y="6010275"/>
          <p14:tracePt t="83080" x="1714500" y="6010275"/>
          <p14:tracePt t="83096" x="1752600" y="6010275"/>
          <p14:tracePt t="83112" x="1771650" y="6010275"/>
          <p14:tracePt t="83128" x="1809750" y="6010275"/>
          <p14:tracePt t="83145" x="1876425" y="6010275"/>
          <p14:tracePt t="83162" x="1943100" y="6029325"/>
          <p14:tracePt t="83178" x="2038350" y="6038850"/>
          <p14:tracePt t="83179" x="2085975" y="6038850"/>
          <p14:tracePt t="83195" x="2152650" y="6057900"/>
          <p14:tracePt t="83212" x="2219325" y="6067425"/>
          <p14:tracePt t="83228" x="2286000" y="6086475"/>
          <p14:tracePt t="83245" x="2343150" y="6096000"/>
          <p14:tracePt t="83262" x="2400300" y="6124575"/>
          <p14:tracePt t="83278" x="2447925" y="6124575"/>
          <p14:tracePt t="83295" x="2495550" y="6124575"/>
          <p14:tracePt t="83312" x="2533650" y="6134100"/>
          <p14:tracePt t="83329" x="2552700" y="6134100"/>
          <p14:tracePt t="83346" x="2581275" y="6134100"/>
          <p14:tracePt t="83362" x="2590800" y="6134100"/>
          <p14:tracePt t="83379" x="2609850" y="6134100"/>
          <p14:tracePt t="83396" x="2638425" y="6134100"/>
          <p14:tracePt t="83413" x="2667000" y="6134100"/>
          <p14:tracePt t="83429" x="2705100" y="6134100"/>
          <p14:tracePt t="83446" x="2724150" y="6134100"/>
          <p14:tracePt t="83462" x="2752725" y="6134100"/>
          <p14:tracePt t="83478" x="2762250" y="6134100"/>
          <p14:tracePt t="83495" x="2781300" y="6134100"/>
          <p14:tracePt t="83512" x="2800350" y="6124575"/>
          <p14:tracePt t="83528" x="2819400" y="6124575"/>
          <p14:tracePt t="83545" x="2857500" y="6124575"/>
          <p14:tracePt t="83562" x="2895600" y="6124575"/>
          <p14:tracePt t="83579" x="2971800" y="6124575"/>
          <p14:tracePt t="83596" x="3009900" y="6124575"/>
          <p14:tracePt t="83612" x="3076575" y="6143625"/>
          <p14:tracePt t="83629" x="3124200" y="6143625"/>
          <p14:tracePt t="83646" x="3162300" y="6143625"/>
          <p14:tracePt t="83662" x="3190875" y="6143625"/>
          <p14:tracePt t="83679" x="3238500" y="6143625"/>
          <p14:tracePt t="83696" x="3276600" y="6143625"/>
          <p14:tracePt t="83712" x="3314700" y="6143625"/>
          <p14:tracePt t="83729" x="3343275" y="6143625"/>
          <p14:tracePt t="83746" x="3381375" y="6143625"/>
          <p14:tracePt t="83762" x="3419475" y="6143625"/>
          <p14:tracePt t="83763" x="3457575" y="6143625"/>
          <p14:tracePt t="83779" x="3486150" y="6143625"/>
          <p14:tracePt t="83796" x="3543300" y="6143625"/>
          <p14:tracePt t="83812" x="3581400" y="6143625"/>
          <p14:tracePt t="83829" x="3619500" y="6143625"/>
          <p14:tracePt t="83846" x="3638550" y="6143625"/>
          <p14:tracePt t="83862" x="3686175" y="6124575"/>
          <p14:tracePt t="83879" x="3724275" y="6124575"/>
          <p14:tracePt t="83896" x="3771900" y="6124575"/>
          <p14:tracePt t="83912" x="3838575" y="6124575"/>
          <p14:tracePt t="83929" x="3933825" y="6124575"/>
          <p14:tracePt t="83946" x="4029075" y="6124575"/>
          <p14:tracePt t="83962" x="4124325" y="6124575"/>
          <p14:tracePt t="83979" x="4181475" y="6115050"/>
          <p14:tracePt t="83996" x="4229100" y="6105525"/>
          <p14:tracePt t="84012" x="4238625" y="6105525"/>
          <p14:tracePt t="84029" x="4257675" y="6105525"/>
          <p14:tracePt t="84046" x="4286250" y="6105525"/>
          <p14:tracePt t="84062" x="4314825" y="6105525"/>
          <p14:tracePt t="84079" x="4371975" y="6096000"/>
          <p14:tracePt t="84096" x="4400550" y="6096000"/>
          <p14:tracePt t="84112" x="4429125" y="6096000"/>
          <p14:tracePt t="84129" x="4438650" y="6096000"/>
          <p14:tracePt t="84146" x="4457700" y="6096000"/>
          <p14:tracePt t="84162" x="4467225" y="6096000"/>
          <p14:tracePt t="84179" x="4505325" y="6096000"/>
          <p14:tracePt t="84196" x="4581525" y="6096000"/>
          <p14:tracePt t="84212" x="4686300" y="6096000"/>
          <p14:tracePt t="84229" x="4819650" y="6096000"/>
          <p14:tracePt t="84246" x="4924425" y="6096000"/>
          <p14:tracePt t="84262" x="5019675" y="6096000"/>
          <p14:tracePt t="84279" x="5133975" y="6096000"/>
          <p14:tracePt t="84296" x="5229225" y="6096000"/>
          <p14:tracePt t="84312" x="5305425" y="6096000"/>
          <p14:tracePt t="84329" x="5391150" y="6067425"/>
          <p14:tracePt t="84346" x="5429250" y="6067425"/>
          <p14:tracePt t="84362" x="5467350" y="6067425"/>
          <p14:tracePt t="84363" x="5476875" y="6067425"/>
          <p14:tracePt t="84379" x="5514975" y="6067425"/>
          <p14:tracePt t="84396" x="5524500" y="6067425"/>
          <p14:tracePt t="84412" x="5553075" y="6067425"/>
          <p14:tracePt t="84435" x="5562600" y="6067425"/>
          <p14:tracePt t="84523" x="5610225" y="6067425"/>
          <p14:tracePt t="84531" x="5657850" y="6057900"/>
          <p14:tracePt t="84539" x="5686425" y="6057900"/>
          <p14:tracePt t="84547" x="5734050" y="6048375"/>
          <p14:tracePt t="84562" x="5772150" y="6048375"/>
          <p14:tracePt t="84579" x="5829300" y="6038850"/>
          <p14:tracePt t="84596" x="5867400" y="6038850"/>
          <p14:tracePt t="84612" x="5886450" y="6019800"/>
          <p14:tracePt t="84779" x="5924550" y="6019800"/>
          <p14:tracePt t="84787" x="6000750" y="6019800"/>
          <p14:tracePt t="84797" x="6086475" y="6019800"/>
          <p14:tracePt t="84813" x="6238875" y="6019800"/>
          <p14:tracePt t="84829" x="6343650" y="6019800"/>
          <p14:tracePt t="84846" x="6391275" y="6000750"/>
          <p14:tracePt t="84863" x="6400800" y="6000750"/>
          <p14:tracePt t="85059" x="6438900" y="6000750"/>
          <p14:tracePt t="85067" x="6457950" y="6000750"/>
          <p14:tracePt t="85080" x="6524625" y="6000750"/>
          <p14:tracePt t="85096" x="6629400" y="6000750"/>
          <p14:tracePt t="85113" x="6724650" y="6000750"/>
          <p14:tracePt t="85129" x="6781800" y="6000750"/>
          <p14:tracePt t="85307" x="6753225" y="6000750"/>
          <p14:tracePt t="85315" x="6743700" y="6000750"/>
          <p14:tracePt t="85323" x="6724650" y="6000750"/>
          <p14:tracePt t="85332" x="6677025" y="6000750"/>
          <p14:tracePt t="85346" x="6648450" y="6000750"/>
          <p14:tracePt t="85370" x="6486525" y="6000750"/>
          <p14:tracePt t="85379" x="6372225" y="6000750"/>
          <p14:tracePt t="85396" x="6248400" y="6000750"/>
          <p14:tracePt t="85412" x="6124575" y="6000750"/>
          <p14:tracePt t="85429" x="6057900" y="6000750"/>
          <p14:tracePt t="85445" x="6010275" y="6000750"/>
          <p14:tracePt t="85462" x="5972175" y="6010275"/>
          <p14:tracePt t="85479" x="5934075" y="6019800"/>
          <p14:tracePt t="85495" x="5895975" y="6019800"/>
          <p14:tracePt t="85512" x="5829300" y="6019800"/>
          <p14:tracePt t="85529" x="5762625" y="6038850"/>
          <p14:tracePt t="85545" x="5695950" y="6038850"/>
          <p14:tracePt t="85562" x="5629275" y="6038850"/>
          <p14:tracePt t="85564" x="5591175" y="6057900"/>
          <p14:tracePt t="85579" x="5553075" y="6057900"/>
          <p14:tracePt t="85595" x="5476875" y="6067425"/>
          <p14:tracePt t="85613" x="5429250" y="6076950"/>
          <p14:tracePt t="85632" x="5372100" y="6076950"/>
          <p14:tracePt t="85646" x="5305425" y="6076950"/>
          <p14:tracePt t="85663" x="5257800" y="6076950"/>
          <p14:tracePt t="85679" x="5200650" y="6076950"/>
          <p14:tracePt t="85696" x="5105400" y="6076950"/>
          <p14:tracePt t="85713" x="5038725" y="6076950"/>
          <p14:tracePt t="85729" x="4972050" y="6076950"/>
          <p14:tracePt t="85746" x="4905375" y="6076950"/>
          <p14:tracePt t="85763" x="4819650" y="6076950"/>
          <p14:tracePt t="85764" x="4772025" y="6076950"/>
          <p14:tracePt t="85779" x="4676775" y="6076950"/>
          <p14:tracePt t="85796" x="4581525" y="6076950"/>
          <p14:tracePt t="85812" x="4457700" y="6076950"/>
          <p14:tracePt t="85829" x="4324350" y="6076950"/>
          <p14:tracePt t="85846" x="4200525" y="6076950"/>
          <p14:tracePt t="85863" x="4067175" y="6076950"/>
          <p14:tracePt t="85879" x="3924300" y="6076950"/>
          <p14:tracePt t="85896" x="3733800" y="6076950"/>
          <p14:tracePt t="85913" x="3581400" y="6076950"/>
          <p14:tracePt t="85930" x="3429000" y="6076950"/>
          <p14:tracePt t="85946" x="3238500" y="6076950"/>
          <p14:tracePt t="85963" x="3114675" y="6076950"/>
          <p14:tracePt t="85964" x="3048000" y="6076950"/>
          <p14:tracePt t="85980" x="2971800" y="6076950"/>
          <p14:tracePt t="85996" x="2905125" y="6076950"/>
          <p14:tracePt t="86013" x="2847975" y="6076950"/>
          <p14:tracePt t="86029" x="2800350" y="6076950"/>
          <p14:tracePt t="86046" x="2743200" y="6076950"/>
          <p14:tracePt t="86063" x="2638425" y="6076950"/>
          <p14:tracePt t="86079" x="2505075" y="6076950"/>
          <p14:tracePt t="86096" x="2314575" y="6076950"/>
          <p14:tracePt t="86113" x="2124075" y="6076950"/>
          <p14:tracePt t="86129" x="1952625" y="6076950"/>
          <p14:tracePt t="86146" x="1809750" y="6076950"/>
          <p14:tracePt t="86163" x="1724025" y="6076950"/>
          <p14:tracePt t="86164" x="1676400" y="6076950"/>
          <p14:tracePt t="86180" x="1609725" y="6076950"/>
          <p14:tracePt t="86196" x="1562100" y="6076950"/>
          <p14:tracePt t="86213" x="1504950" y="6076950"/>
          <p14:tracePt t="86229" x="1457325" y="6076950"/>
          <p14:tracePt t="86246" x="1400175" y="6076950"/>
          <p14:tracePt t="86263" x="1362075" y="6076950"/>
          <p14:tracePt t="86279" x="1333500" y="6076950"/>
          <p14:tracePt t="86296" x="1314450" y="6076950"/>
          <p14:tracePt t="86313" x="1285875" y="6076950"/>
          <p14:tracePt t="86329" x="1266825" y="6076950"/>
          <p14:tracePt t="86346" x="1238250" y="6076950"/>
          <p14:tracePt t="86364" x="1228725" y="6076950"/>
          <p14:tracePt t="86444" x="1219200" y="6076950"/>
          <p14:tracePt t="86451" x="1181100" y="6076950"/>
          <p14:tracePt t="86464" x="1162050" y="6076950"/>
          <p14:tracePt t="86480" x="1114425" y="6076950"/>
          <p14:tracePt t="86496" x="1057275" y="6067425"/>
          <p14:tracePt t="86513" x="1028700" y="6067425"/>
          <p14:tracePt t="86529" x="1019175" y="6057900"/>
          <p14:tracePt t="86546" x="1009650" y="6057900"/>
          <p14:tracePt t="86564" x="1000125" y="6048375"/>
          <p14:tracePt t="86579" x="990600" y="6048375"/>
          <p14:tracePt t="86804" x="1038225" y="6048375"/>
          <p14:tracePt t="86812" x="1047750" y="6057900"/>
          <p14:tracePt t="86820" x="1076325" y="6067425"/>
          <p14:tracePt t="86831" x="1095375" y="6067425"/>
          <p14:tracePt t="86847" x="1171575" y="6086475"/>
          <p14:tracePt t="86863" x="1257300" y="6115050"/>
          <p14:tracePt t="86880" x="1371600" y="6124575"/>
          <p14:tracePt t="86896" x="1504950" y="6124575"/>
          <p14:tracePt t="86913" x="1647825" y="6124575"/>
          <p14:tracePt t="86930" x="1800225" y="6124575"/>
          <p14:tracePt t="86946" x="1990725" y="6124575"/>
          <p14:tracePt t="86963" x="2152650" y="6124575"/>
          <p14:tracePt t="86980" x="2428875" y="6124575"/>
          <p14:tracePt t="86996" x="2562225" y="6124575"/>
          <p14:tracePt t="87013" x="2657475" y="6124575"/>
          <p14:tracePt t="87030" x="2705100" y="6124575"/>
          <p14:tracePt t="87047" x="2771775" y="6124575"/>
          <p14:tracePt t="87063" x="2838450" y="6124575"/>
          <p14:tracePt t="87080" x="2971800" y="6115050"/>
          <p14:tracePt t="87096" x="3162300" y="6096000"/>
          <p14:tracePt t="87113" x="3333750" y="6096000"/>
          <p14:tracePt t="87129" x="3486150" y="6096000"/>
          <p14:tracePt t="87146" x="3590925" y="6096000"/>
          <p14:tracePt t="87163" x="3667125" y="6096000"/>
          <p14:tracePt t="87180" x="3829050" y="6096000"/>
          <p14:tracePt t="87196" x="3943350" y="6096000"/>
          <p14:tracePt t="87213" x="4048125" y="6096000"/>
          <p14:tracePt t="87229" x="4181475" y="6096000"/>
          <p14:tracePt t="87246" x="4305300" y="6096000"/>
          <p14:tracePt t="87263" x="4429125" y="6096000"/>
          <p14:tracePt t="87279" x="4562475" y="6096000"/>
          <p14:tracePt t="87296" x="4657725" y="6096000"/>
          <p14:tracePt t="87313" x="4781550" y="6096000"/>
          <p14:tracePt t="87330" x="4914900" y="6096000"/>
          <p14:tracePt t="87346" x="5038725" y="6096000"/>
          <p14:tracePt t="87363" x="5172075" y="6096000"/>
          <p14:tracePt t="87380" x="5353050" y="6115050"/>
          <p14:tracePt t="87396" x="5467350" y="6124575"/>
          <p14:tracePt t="87413" x="5534025" y="6143625"/>
          <p14:tracePt t="87430" x="5600700" y="6143625"/>
          <p14:tracePt t="87446" x="5705475" y="6143625"/>
          <p14:tracePt t="87463" x="5838825" y="6143625"/>
          <p14:tracePt t="87480" x="5981700" y="6143625"/>
          <p14:tracePt t="87496" x="6096000" y="6143625"/>
          <p14:tracePt t="87513" x="6191250" y="6143625"/>
          <p14:tracePt t="87530" x="6219825" y="6143625"/>
          <p14:tracePt t="87547" x="6238875" y="6143625"/>
          <p14:tracePt t="87563" x="6248400" y="6143625"/>
          <p14:tracePt t="87580" x="6305550" y="6143625"/>
          <p14:tracePt t="87596" x="6400800" y="6143625"/>
          <p14:tracePt t="87613" x="6524625" y="6143625"/>
          <p14:tracePt t="87630" x="6619875" y="6143625"/>
          <p14:tracePt t="87646" x="6715125" y="6143625"/>
          <p14:tracePt t="87663" x="6772275" y="6124575"/>
          <p14:tracePt t="87680" x="6800850" y="6115050"/>
          <p14:tracePt t="87696" x="6819900" y="6115050"/>
          <p14:tracePt t="87712" x="6838950" y="6115050"/>
          <p14:tracePt t="87729" x="6867525" y="6115050"/>
          <p14:tracePt t="87746" x="6896100" y="6105525"/>
          <p14:tracePt t="87762" x="6905625" y="6105525"/>
          <p14:tracePt t="87796" x="6915150" y="6105525"/>
          <p14:tracePt t="87812" x="6943725" y="6096000"/>
          <p14:tracePt t="87828" x="6953250" y="6096000"/>
          <p14:tracePt t="87844" x="6972300" y="6086475"/>
          <p14:tracePt t="87852" x="6981825" y="6076950"/>
          <p14:tracePt t="87863" x="7000875" y="6076950"/>
          <p14:tracePt t="87879" x="7019925" y="6076950"/>
          <p14:tracePt t="87896" x="7048500" y="6067425"/>
          <p14:tracePt t="87912" x="7096125" y="6067425"/>
          <p14:tracePt t="87929" x="7191375" y="6067425"/>
          <p14:tracePt t="87946" x="7286625" y="6067425"/>
          <p14:tracePt t="87963" x="7343775" y="6067425"/>
          <p14:tracePt t="87979" x="7353300" y="6057900"/>
          <p14:tracePt t="88788" x="0" y="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Model Comparison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578213" cy="4351338"/>
          </a:xfrm>
        </p:spPr>
        <p:txBody>
          <a:bodyPr/>
          <a:lstStyle/>
          <a:p>
            <a:r>
              <a:rPr lang="en-US" dirty="0">
                <a:hlinkClick r:id="rId3"/>
              </a:rPr>
              <a:t>http://www.dataanalysisbook.com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smtClean="0"/>
              <a:t>DATA = MODEL + ERROR</a:t>
            </a:r>
          </a:p>
          <a:p>
            <a:endParaRPr lang="en-US" dirty="0"/>
          </a:p>
          <a:p>
            <a:pPr lvl="1"/>
            <a:r>
              <a:rPr lang="en-US" dirty="0" smtClean="0"/>
              <a:t>DATA are our fundamental scores or observations.</a:t>
            </a:r>
          </a:p>
          <a:p>
            <a:pPr lvl="1"/>
            <a:r>
              <a:rPr lang="en-US" dirty="0" smtClean="0"/>
              <a:t>MODELs are a compact description of representation of the DATA. </a:t>
            </a:r>
          </a:p>
          <a:p>
            <a:pPr lvl="1"/>
            <a:r>
              <a:rPr lang="en-US" dirty="0" smtClean="0"/>
              <a:t>These MODELs are not perfect, however, and will leave behind residual ERROR.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Data Analysis: A Model Comparison Approach To Regression, ANOVA, and Beyond, Third Edition, 3rd Edition (Paperback) book cov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1977231"/>
            <a:ext cx="283845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87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Types of Models	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b="1" dirty="0" smtClean="0"/>
                  <a:t>Unconditional Models</a:t>
                </a:r>
              </a:p>
              <a:p>
                <a:pPr lvl="1"/>
                <a:r>
                  <a:rPr lang="en-US" dirty="0" smtClean="0"/>
                  <a:t>Estimate one value that best explains the data. </a:t>
                </a:r>
              </a:p>
              <a:p>
                <a:pPr lvl="1"/>
                <a:r>
                  <a:rPr lang="en-US" dirty="0" smtClean="0"/>
                  <a:t>On a fair coin,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 smtClean="0"/>
                  <a:t>, so having a model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 smtClean="0"/>
                  <a:t> will leave some amount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𝑅𝑅𝑂𝑅</m:t>
                    </m:r>
                  </m:oMath>
                </a14:m>
                <a:r>
                  <a:rPr lang="en-US" dirty="0" smtClean="0"/>
                  <a:t> depending on how the actual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𝐷𝐴𝑇𝐴</m:t>
                    </m:r>
                  </m:oMath>
                </a14:m>
                <a:r>
                  <a:rPr lang="en-US" dirty="0" smtClean="0"/>
                  <a:t> shook out.</a:t>
                </a:r>
              </a:p>
              <a:p>
                <a:pPr lvl="2"/>
                <a:r>
                  <a:rPr lang="en-US" dirty="0" smtClean="0"/>
                  <a:t>In small samples the results will be more variable, but in large samples 0.5 might be very good approximation.</a:t>
                </a:r>
              </a:p>
              <a:p>
                <a:endParaRPr lang="en-US" dirty="0"/>
              </a:p>
              <a:p>
                <a:r>
                  <a:rPr lang="en-US" b="1" dirty="0" smtClean="0"/>
                  <a:t>Conditional Models</a:t>
                </a:r>
              </a:p>
              <a:p>
                <a:pPr lvl="1"/>
                <a:r>
                  <a:rPr lang="en-US" dirty="0" smtClean="0"/>
                  <a:t>Estimate values contingent on some other factor. </a:t>
                </a:r>
              </a:p>
              <a:p>
                <a:pPr lvl="1"/>
                <a:r>
                  <a:rPr lang="en-US" dirty="0" smtClean="0"/>
                  <a:t>Should our estimate of a person’s height be modified by their weight? (</a:t>
                </a:r>
                <a:r>
                  <a:rPr lang="en-US" i="1" dirty="0" smtClean="0"/>
                  <a:t>Continuous</a:t>
                </a:r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 smtClean="0"/>
                  <a:t>Should our estimate of a person’s height be modified by their sex? (</a:t>
                </a:r>
                <a:r>
                  <a:rPr lang="en-US" i="1" dirty="0" smtClean="0"/>
                  <a:t>Categorical</a:t>
                </a:r>
                <a:r>
                  <a:rPr lang="en-US" dirty="0" smtClean="0"/>
                  <a:t>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101" r="-928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90115" y="3862794"/>
                <a:ext cx="12146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115" y="3862794"/>
                <a:ext cx="1214692" cy="276999"/>
              </a:xfrm>
              <a:prstGeom prst="rect">
                <a:avLst/>
              </a:prstGeom>
              <a:blipFill>
                <a:blip r:embed="rId4"/>
                <a:stretch>
                  <a:fillRect l="-4523" t="-4444" r="-1005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44769" y="6176962"/>
                <a:ext cx="21053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69" y="6176962"/>
                <a:ext cx="2105384" cy="276999"/>
              </a:xfrm>
              <a:prstGeom prst="rect">
                <a:avLst/>
              </a:prstGeom>
              <a:blipFill>
                <a:blip r:embed="rId5"/>
                <a:stretch>
                  <a:fillRect l="-2319" t="-2174" r="-58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60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compare models?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66736"/>
          </a:xfrm>
        </p:spPr>
        <p:txBody>
          <a:bodyPr/>
          <a:lstStyle/>
          <a:p>
            <a:r>
              <a:rPr lang="en-US" dirty="0" smtClean="0"/>
              <a:t>Let’s say that one researcher proposes that a person’s height is totally unrelated to their weight (</a:t>
            </a:r>
            <a:r>
              <a:rPr lang="en-US" b="1" u="sng" dirty="0" smtClean="0"/>
              <a:t>unconditional</a:t>
            </a:r>
            <a:r>
              <a:rPr lang="en-US" dirty="0" smtClean="0"/>
              <a:t>):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96917" y="4678444"/>
                <a:ext cx="28223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917" y="4678444"/>
                <a:ext cx="2822376" cy="369332"/>
              </a:xfrm>
              <a:prstGeom prst="rect">
                <a:avLst/>
              </a:prstGeom>
              <a:blipFill>
                <a:blip r:embed="rId3"/>
                <a:stretch>
                  <a:fillRect l="-3456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05605" y="2927298"/>
                <a:ext cx="27577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 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605" y="2927298"/>
                <a:ext cx="2757743" cy="369332"/>
              </a:xfrm>
              <a:prstGeom prst="rect">
                <a:avLst/>
              </a:prstGeom>
              <a:blipFill>
                <a:blip r:embed="rId4"/>
                <a:stretch>
                  <a:fillRect l="-3311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3674238"/>
            <a:ext cx="10515600" cy="966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Let’s say that another researcher proposes that a person’s height is related to their weight (</a:t>
            </a:r>
            <a:r>
              <a:rPr lang="en-US" b="1" u="sng" dirty="0" smtClean="0"/>
              <a:t>conditional</a:t>
            </a:r>
            <a:r>
              <a:rPr lang="en-US" dirty="0" smtClean="0"/>
              <a:t>):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1229032" y="5389614"/>
                <a:ext cx="10124767" cy="8637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 smtClean="0"/>
                  <a:t>We aren’t saying exactly what the magnitude of the relationship between height and weight 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 smtClean="0"/>
                  <a:t>) but we are proposing that it is not zero. </a:t>
                </a:r>
                <a:endParaRPr lang="en-US" sz="1800" dirty="0"/>
              </a:p>
            </p:txBody>
          </p:sp>
        </mc:Choice>
        <mc:Fallback xmlns=""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032" y="5389614"/>
                <a:ext cx="10124767" cy="863702"/>
              </a:xfrm>
              <a:prstGeom prst="rect">
                <a:avLst/>
              </a:prstGeom>
              <a:blipFill>
                <a:blip r:embed="rId5"/>
                <a:stretch>
                  <a:fillRect l="-422" t="-6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97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compare models?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we had access to all of the DATA (i.e., measured everyone to whom our model applies), then we could simply compare the ERRORs in our two different models:</a:t>
            </a:r>
          </a:p>
          <a:p>
            <a:endParaRPr lang="en-US" dirty="0" smtClean="0"/>
          </a:p>
          <a:p>
            <a:pPr lvl="1"/>
            <a:r>
              <a:rPr lang="en-US" i="1" u="sng" dirty="0" smtClean="0"/>
              <a:t>Augmented</a:t>
            </a:r>
            <a:r>
              <a:rPr lang="en-US" dirty="0" smtClean="0"/>
              <a:t> Model:				and </a:t>
            </a:r>
          </a:p>
          <a:p>
            <a:pPr lvl="1"/>
            <a:endParaRPr lang="en-US" dirty="0" smtClean="0"/>
          </a:p>
          <a:p>
            <a:pPr lvl="1"/>
            <a:r>
              <a:rPr lang="en-US" i="1" u="sng" dirty="0" smtClean="0"/>
              <a:t>Compact</a:t>
            </a:r>
            <a:r>
              <a:rPr lang="en-US" dirty="0" smtClean="0"/>
              <a:t> Model:					</a:t>
            </a:r>
            <a:r>
              <a:rPr lang="en-US" dirty="0"/>
              <a:t> and</a:t>
            </a:r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88536" y="3547850"/>
                <a:ext cx="22222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536" y="3547850"/>
                <a:ext cx="2222211" cy="369332"/>
              </a:xfrm>
              <a:prstGeom prst="rect">
                <a:avLst/>
              </a:prstGeom>
              <a:blipFill>
                <a:blip r:embed="rId3"/>
                <a:stretch>
                  <a:fillRect l="-4384" t="-18033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88025" y="4284149"/>
                <a:ext cx="21586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 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025" y="4284149"/>
                <a:ext cx="2158603" cy="369332"/>
              </a:xfrm>
              <a:prstGeom prst="rect">
                <a:avLst/>
              </a:prstGeom>
              <a:blipFill>
                <a:blip r:embed="rId4"/>
                <a:stretch>
                  <a:fillRect l="-4520" t="-18333" r="-3390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266496" y="4479744"/>
                <a:ext cx="3556486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496" y="4479744"/>
                <a:ext cx="3556486" cy="986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247664" y="4788418"/>
                <a:ext cx="10393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664" y="4788418"/>
                <a:ext cx="1039323" cy="369332"/>
              </a:xfrm>
              <a:prstGeom prst="rect">
                <a:avLst/>
              </a:prstGeom>
              <a:blipFill>
                <a:blip r:embed="rId6"/>
                <a:stretch>
                  <a:fillRect l="-10588" t="-1833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8266496" y="3297469"/>
                <a:ext cx="3556486" cy="9866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496" y="3297469"/>
                <a:ext cx="3556486" cy="9866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30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compare models?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we could measure all of the data, we would simply need to see if ERROR(A) &lt; ERROR(C) to decide if it was the better model.</a:t>
            </a:r>
          </a:p>
          <a:p>
            <a:endParaRPr lang="en-US" dirty="0"/>
          </a:p>
          <a:p>
            <a:r>
              <a:rPr lang="en-US" dirty="0" smtClean="0"/>
              <a:t>However, we face some important issues:</a:t>
            </a:r>
          </a:p>
          <a:p>
            <a:pPr lvl="1"/>
            <a:r>
              <a:rPr lang="en-US" b="1" dirty="0" smtClean="0"/>
              <a:t>How big of a reduction in ERROR is important? </a:t>
            </a:r>
            <a:r>
              <a:rPr lang="en-US" dirty="0" smtClean="0"/>
              <a:t>(Is a 1% reduction in error worth the added complexity.)</a:t>
            </a:r>
          </a:p>
          <a:p>
            <a:pPr lvl="1"/>
            <a:r>
              <a:rPr lang="en-US" b="1" dirty="0" smtClean="0"/>
              <a:t>We aren’t going to get to measure everyone. </a:t>
            </a:r>
            <a:r>
              <a:rPr lang="en-US" dirty="0" smtClean="0"/>
              <a:t>(If I’m sampling from a population, how much faith do I have in the reduction in error in my sample?)</a:t>
            </a:r>
          </a:p>
          <a:p>
            <a:pPr lvl="1"/>
            <a:r>
              <a:rPr lang="en-US" b="1" dirty="0" smtClean="0"/>
              <a:t>Does the absolute or relative error matter? </a:t>
            </a:r>
            <a:r>
              <a:rPr lang="en-US" dirty="0" smtClean="0"/>
              <a:t>(If I take a sample of 100 people, the sum of errors will likely be much larger than a sample of 10 people).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1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compare models?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u="sng" dirty="0" smtClean="0"/>
              <a:t>Proportional Reduction in Error:</a:t>
            </a:r>
          </a:p>
          <a:p>
            <a:endParaRPr lang="en-US" i="1" u="sng" dirty="0"/>
          </a:p>
          <a:p>
            <a:endParaRPr lang="en-US" i="1" u="sng" dirty="0" smtClean="0"/>
          </a:p>
          <a:p>
            <a:endParaRPr lang="en-US" i="1" u="sng" dirty="0"/>
          </a:p>
          <a:p>
            <a:r>
              <a:rPr lang="en-US" dirty="0" smtClean="0"/>
              <a:t>So if ERROR(C) = 100 and ERROR(A) = 90, </a:t>
            </a:r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But again, is 10% reduction in error good? If we had all of the data it certainly sounds good… but what about in a sample?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62980" y="2644878"/>
                <a:ext cx="5046060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𝑃𝑅𝐸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𝐸𝑅𝑅𝑂𝑅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𝐸𝑅𝑅𝑂𝑅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𝐸𝑅𝑅𝑂𝑅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𝐸𝑅𝑅𝑂𝑅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𝐸𝑅𝑅𝑂𝑅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980" y="2644878"/>
                <a:ext cx="5046060" cy="586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62980" y="4547420"/>
                <a:ext cx="232057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𝑃𝑅𝐸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980" y="4547420"/>
                <a:ext cx="2320572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62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12/29/2018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272"/>
          <p:cNvSpPr>
            <a:spLocks noChangeArrowheads="1"/>
          </p:cNvSpPr>
          <p:nvPr/>
        </p:nvSpPr>
        <p:spPr bwMode="auto">
          <a:xfrm rot="-409178">
            <a:off x="2249489" y="3298826"/>
            <a:ext cx="7585075" cy="4048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273"/>
          <p:cNvSpPr txBox="1">
            <a:spLocks noChangeArrowheads="1"/>
          </p:cNvSpPr>
          <p:nvPr/>
        </p:nvSpPr>
        <p:spPr bwMode="auto">
          <a:xfrm rot="-420000">
            <a:off x="2331342" y="3036422"/>
            <a:ext cx="19429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Sample Size</a:t>
            </a:r>
          </a:p>
        </p:txBody>
      </p:sp>
      <p:sp>
        <p:nvSpPr>
          <p:cNvPr id="6" name="Text Box 274"/>
          <p:cNvSpPr txBox="1">
            <a:spLocks noChangeArrowheads="1"/>
          </p:cNvSpPr>
          <p:nvPr/>
        </p:nvSpPr>
        <p:spPr bwMode="auto">
          <a:xfrm rot="-420000">
            <a:off x="2997688" y="2306172"/>
            <a:ext cx="16849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Effect Size</a:t>
            </a:r>
          </a:p>
        </p:txBody>
      </p:sp>
      <p:sp>
        <p:nvSpPr>
          <p:cNvPr id="7" name="Text Box 275"/>
          <p:cNvSpPr txBox="1">
            <a:spLocks noChangeArrowheads="1"/>
          </p:cNvSpPr>
          <p:nvPr/>
        </p:nvSpPr>
        <p:spPr bwMode="auto">
          <a:xfrm rot="-420000">
            <a:off x="8079729" y="2379197"/>
            <a:ext cx="14729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EF1F1D"/>
                </a:solidFill>
              </a:rPr>
              <a:t>Variance</a:t>
            </a:r>
          </a:p>
        </p:txBody>
      </p:sp>
    </p:spTree>
    <p:extLst>
      <p:ext uri="{BB962C8B-B14F-4D97-AF65-F5344CB8AC3E}">
        <p14:creationId xmlns:p14="http://schemas.microsoft.com/office/powerpoint/2010/main" val="145434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12/29/2018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272"/>
          <p:cNvSpPr>
            <a:spLocks noChangeArrowheads="1"/>
          </p:cNvSpPr>
          <p:nvPr/>
        </p:nvSpPr>
        <p:spPr bwMode="auto">
          <a:xfrm rot="-409178">
            <a:off x="2249489" y="3298826"/>
            <a:ext cx="7585075" cy="4048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273"/>
          <p:cNvSpPr txBox="1">
            <a:spLocks noChangeArrowheads="1"/>
          </p:cNvSpPr>
          <p:nvPr/>
        </p:nvSpPr>
        <p:spPr bwMode="auto">
          <a:xfrm rot="-420000">
            <a:off x="2331342" y="3036422"/>
            <a:ext cx="19429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Sample Size</a:t>
            </a:r>
          </a:p>
        </p:txBody>
      </p:sp>
      <p:sp>
        <p:nvSpPr>
          <p:cNvPr id="6" name="Text Box 274"/>
          <p:cNvSpPr txBox="1">
            <a:spLocks noChangeArrowheads="1"/>
          </p:cNvSpPr>
          <p:nvPr/>
        </p:nvSpPr>
        <p:spPr bwMode="auto">
          <a:xfrm rot="-420000">
            <a:off x="2997688" y="2306172"/>
            <a:ext cx="16849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Effect Size</a:t>
            </a:r>
          </a:p>
        </p:txBody>
      </p:sp>
      <p:sp>
        <p:nvSpPr>
          <p:cNvPr id="7" name="Text Box 275"/>
          <p:cNvSpPr txBox="1">
            <a:spLocks noChangeArrowheads="1"/>
          </p:cNvSpPr>
          <p:nvPr/>
        </p:nvSpPr>
        <p:spPr bwMode="auto">
          <a:xfrm rot="-420000">
            <a:off x="8079729" y="2379197"/>
            <a:ext cx="14729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EF1F1D"/>
                </a:solidFill>
              </a:rPr>
              <a:t>Variance</a:t>
            </a:r>
          </a:p>
        </p:txBody>
      </p:sp>
      <p:sp>
        <p:nvSpPr>
          <p:cNvPr id="8" name="AutoShape 271"/>
          <p:cNvSpPr>
            <a:spLocks noChangeArrowheads="1"/>
          </p:cNvSpPr>
          <p:nvPr/>
        </p:nvSpPr>
        <p:spPr bwMode="auto">
          <a:xfrm>
            <a:off x="5708651" y="3741739"/>
            <a:ext cx="733425" cy="92868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370262" y="5601634"/>
            <a:ext cx="5410200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Everything we do is statistics is an elaboration and specification of this idea!</a:t>
            </a:r>
          </a:p>
        </p:txBody>
      </p:sp>
    </p:spTree>
    <p:extLst>
      <p:ext uri="{BB962C8B-B14F-4D97-AF65-F5344CB8AC3E}">
        <p14:creationId xmlns:p14="http://schemas.microsoft.com/office/powerpoint/2010/main" val="186338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3246</TotalTime>
  <Words>572</Words>
  <Application>Microsoft Office PowerPoint</Application>
  <PresentationFormat>Widescreen</PresentationFormat>
  <Paragraphs>107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Introduction to Data Analysis.</vt:lpstr>
      <vt:lpstr>The “flipped” classroom | (╯°□°)╯︵ ┻━┻</vt:lpstr>
      <vt:lpstr>A Model Comparison Approach</vt:lpstr>
      <vt:lpstr>Different Types of Models </vt:lpstr>
      <vt:lpstr>How do we compare models?</vt:lpstr>
      <vt:lpstr>How do we compare models?</vt:lpstr>
      <vt:lpstr>How do we compare models?</vt:lpstr>
      <vt:lpstr>How do we compare models?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324</cp:revision>
  <dcterms:created xsi:type="dcterms:W3CDTF">2017-01-28T12:59:49Z</dcterms:created>
  <dcterms:modified xsi:type="dcterms:W3CDTF">2018-12-29T19:04:11Z</dcterms:modified>
</cp:coreProperties>
</file>
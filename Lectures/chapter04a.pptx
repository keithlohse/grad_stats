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7"/>
  </p:notesMasterIdLst>
  <p:sldIdLst>
    <p:sldId id="382" r:id="rId2"/>
    <p:sldId id="383" r:id="rId3"/>
    <p:sldId id="384" r:id="rId4"/>
    <p:sldId id="386" r:id="rId5"/>
    <p:sldId id="388" r:id="rId6"/>
    <p:sldId id="387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58" d="100"/>
          <a:sy n="58" d="100"/>
        </p:scale>
        <p:origin x="9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12/29/2018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12/29/2018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12/29/2018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Statistical Inferences about Parameters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keith.lohse@health.utah.edu</a:t>
            </a:r>
            <a:endParaRPr lang="en-US" dirty="0"/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‘Fitting’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As we have discussed, the sum of squared errors is an excellent method for measuring total error, for reasons of efficiency, mathematical practicality, and tradition. </a:t>
            </a:r>
          </a:p>
          <a:p>
            <a:endParaRPr lang="en-US" dirty="0"/>
          </a:p>
          <a:p>
            <a:r>
              <a:rPr lang="en-US" dirty="0" smtClean="0"/>
              <a:t>This also means (and we have shown) that the sample mean is an unbiased but </a:t>
            </a:r>
            <a:r>
              <a:rPr lang="en-US" dirty="0" smtClean="0"/>
              <a:t>not necessarily </a:t>
            </a:r>
            <a:r>
              <a:rPr lang="en-US" dirty="0" smtClean="0"/>
              <a:t>accurate estimate of the population mean.</a:t>
            </a:r>
          </a:p>
          <a:p>
            <a:endParaRPr lang="en-US" dirty="0"/>
          </a:p>
          <a:p>
            <a:r>
              <a:rPr lang="en-US" dirty="0" smtClean="0"/>
              <a:t>Armed with this knowledge, we can use the tools we already have to answer some important questions.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09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Does having the flu increase your temperature?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Let’s say that I have a hypothesis that having the flu increases your </a:t>
            </a:r>
            <a:r>
              <a:rPr lang="en-US" dirty="0" smtClean="0"/>
              <a:t>body’s </a:t>
            </a:r>
            <a:r>
              <a:rPr lang="en-US" dirty="0" smtClean="0"/>
              <a:t>temperature. </a:t>
            </a:r>
          </a:p>
          <a:p>
            <a:endParaRPr lang="en-US" dirty="0"/>
          </a:p>
          <a:p>
            <a:r>
              <a:rPr lang="en-US" dirty="0" smtClean="0"/>
              <a:t>I formulated this hypothesis based on the anecdotal observation that when I touch the foreheads of sick people, they seem warmer than me. </a:t>
            </a:r>
          </a:p>
          <a:p>
            <a:endParaRPr lang="en-US" dirty="0"/>
          </a:p>
          <a:p>
            <a:r>
              <a:rPr lang="en-US" dirty="0" smtClean="0"/>
              <a:t>I randomly sample ten people with the flu and take their surface temperature on the forehead. (Arguably not the best, but </a:t>
            </a:r>
            <a:r>
              <a:rPr lang="en-US" dirty="0" smtClean="0"/>
              <a:t>at least a non-invasive </a:t>
            </a:r>
            <a:r>
              <a:rPr lang="en-US" dirty="0" smtClean="0"/>
              <a:t>measure of temperature.)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7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having the flu increase your temperature?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96828454"/>
              </p:ext>
            </p:extLst>
          </p:nvPr>
        </p:nvGraphicFramePr>
        <p:xfrm>
          <a:off x="838198" y="1825625"/>
          <a:ext cx="5199044" cy="1854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599522">
                  <a:extLst>
                    <a:ext uri="{9D8B030D-6E8A-4147-A177-3AD203B41FA5}">
                      <a16:colId xmlns:a16="http://schemas.microsoft.com/office/drawing/2014/main" val="1364147519"/>
                    </a:ext>
                  </a:extLst>
                </a:gridCol>
                <a:gridCol w="2599522">
                  <a:extLst>
                    <a:ext uri="{9D8B030D-6E8A-4147-A177-3AD203B41FA5}">
                      <a16:colId xmlns:a16="http://schemas.microsoft.com/office/drawing/2014/main" val="2240771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37.57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37.98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01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37.79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38.08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2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36.74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37.97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80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37.63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38.26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12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37.98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36.59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467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the sum of squared errors for 37*C?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8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having the flu increase your temperature?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198" y="1825625"/>
          <a:ext cx="5199044" cy="1854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599522">
                  <a:extLst>
                    <a:ext uri="{9D8B030D-6E8A-4147-A177-3AD203B41FA5}">
                      <a16:colId xmlns:a16="http://schemas.microsoft.com/office/drawing/2014/main" val="1364147519"/>
                    </a:ext>
                  </a:extLst>
                </a:gridCol>
                <a:gridCol w="2599522">
                  <a:extLst>
                    <a:ext uri="{9D8B030D-6E8A-4147-A177-3AD203B41FA5}">
                      <a16:colId xmlns:a16="http://schemas.microsoft.com/office/drawing/2014/main" val="2240771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37.57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37.98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01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37.79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38.08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2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36.74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37.97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80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37.63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38.26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12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37.98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36.59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467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the sum of squared errors for 37*C?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7.197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8" name="Content Placeholder 6"/>
          <p:cNvGraphicFramePr>
            <a:graphicFrameLocks/>
          </p:cNvGraphicFramePr>
          <p:nvPr/>
        </p:nvGraphicFramePr>
        <p:xfrm>
          <a:off x="838198" y="4001294"/>
          <a:ext cx="5199044" cy="18542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599522">
                  <a:extLst>
                    <a:ext uri="{9D8B030D-6E8A-4147-A177-3AD203B41FA5}">
                      <a16:colId xmlns:a16="http://schemas.microsoft.com/office/drawing/2014/main" val="1364147519"/>
                    </a:ext>
                  </a:extLst>
                </a:gridCol>
                <a:gridCol w="2599522">
                  <a:extLst>
                    <a:ext uri="{9D8B030D-6E8A-4147-A177-3AD203B41FA5}">
                      <a16:colId xmlns:a16="http://schemas.microsoft.com/office/drawing/2014/main" val="2240771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0.57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01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0.79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1.08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2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-0.26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0.97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80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0.63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1.26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12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-0.41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9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having the flu increase your temperature?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198" y="1825625"/>
          <a:ext cx="5199044" cy="1854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599522">
                  <a:extLst>
                    <a:ext uri="{9D8B030D-6E8A-4147-A177-3AD203B41FA5}">
                      <a16:colId xmlns:a16="http://schemas.microsoft.com/office/drawing/2014/main" val="1364147519"/>
                    </a:ext>
                  </a:extLst>
                </a:gridCol>
                <a:gridCol w="2599522">
                  <a:extLst>
                    <a:ext uri="{9D8B030D-6E8A-4147-A177-3AD203B41FA5}">
                      <a16:colId xmlns:a16="http://schemas.microsoft.com/office/drawing/2014/main" val="2240771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37.57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37.98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01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37.79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38.08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2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36.74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37.97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80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37.63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38.26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12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37.98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36.59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467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the sum of squared errors if we “fit” beta with our sample mean?</a:t>
            </a:r>
          </a:p>
          <a:p>
            <a:endParaRPr lang="en-US" dirty="0"/>
          </a:p>
          <a:p>
            <a:r>
              <a:rPr lang="en-US" dirty="0" smtClean="0"/>
              <a:t>Sample mean = 37.659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03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having the flu increase your temperature?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</p:nvPr>
        </p:nvGraphicFramePr>
        <p:xfrm>
          <a:off x="838198" y="1825625"/>
          <a:ext cx="5199044" cy="1854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599522">
                  <a:extLst>
                    <a:ext uri="{9D8B030D-6E8A-4147-A177-3AD203B41FA5}">
                      <a16:colId xmlns:a16="http://schemas.microsoft.com/office/drawing/2014/main" val="1364147519"/>
                    </a:ext>
                  </a:extLst>
                </a:gridCol>
                <a:gridCol w="2599522">
                  <a:extLst>
                    <a:ext uri="{9D8B030D-6E8A-4147-A177-3AD203B41FA5}">
                      <a16:colId xmlns:a16="http://schemas.microsoft.com/office/drawing/2014/main" val="2240771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37.57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37.98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01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37.79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38.08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2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36.74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37.97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80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37.63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38.26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12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37.98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36.59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467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the sum of squared errors if we “fit” beta with our sample mean?</a:t>
            </a:r>
          </a:p>
          <a:p>
            <a:endParaRPr lang="en-US" dirty="0"/>
          </a:p>
          <a:p>
            <a:r>
              <a:rPr lang="en-US" dirty="0" smtClean="0"/>
              <a:t>Sample mean = 37.659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2.854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8" name="Content Placeholder 6"/>
          <p:cNvGraphicFramePr>
            <a:graphicFrameLocks/>
          </p:cNvGraphicFramePr>
          <p:nvPr/>
        </p:nvGraphicFramePr>
        <p:xfrm>
          <a:off x="838198" y="4001294"/>
          <a:ext cx="5199044" cy="18542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599522">
                  <a:extLst>
                    <a:ext uri="{9D8B030D-6E8A-4147-A177-3AD203B41FA5}">
                      <a16:colId xmlns:a16="http://schemas.microsoft.com/office/drawing/2014/main" val="1364147519"/>
                    </a:ext>
                  </a:extLst>
                </a:gridCol>
                <a:gridCol w="2599522">
                  <a:extLst>
                    <a:ext uri="{9D8B030D-6E8A-4147-A177-3AD203B41FA5}">
                      <a16:colId xmlns:a16="http://schemas.microsoft.com/office/drawing/2014/main" val="2240771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-0.089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0.321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01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0.131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0.421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2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-0.919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0.311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80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-0.029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0.601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12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0.321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-1.069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069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having the flu increase your temperature?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Which estimate is a better explanation of our data? </a:t>
                </a:r>
              </a:p>
              <a:p>
                <a:endParaRPr lang="en-US" dirty="0"/>
              </a:p>
              <a:p>
                <a:r>
                  <a:rPr lang="en-US" dirty="0" smtClean="0"/>
                  <a:t>To answer this question, we can calculate the proportional reduction in error, </a:t>
                </a:r>
                <a:r>
                  <a:rPr lang="en-US" b="1" i="1" u="sng" dirty="0" smtClean="0"/>
                  <a:t>PRE</a:t>
                </a:r>
                <a:r>
                  <a:rPr lang="en-US" dirty="0" smtClean="0"/>
                  <a:t>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𝑃𝑅𝐸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18" t="-2241" r="-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8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4032505"/>
              </p:ext>
            </p:extLst>
          </p:nvPr>
        </p:nvGraphicFramePr>
        <p:xfrm>
          <a:off x="838198" y="4543103"/>
          <a:ext cx="5199044" cy="18542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599522">
                  <a:extLst>
                    <a:ext uri="{9D8B030D-6E8A-4147-A177-3AD203B41FA5}">
                      <a16:colId xmlns:a16="http://schemas.microsoft.com/office/drawing/2014/main" val="1364147519"/>
                    </a:ext>
                  </a:extLst>
                </a:gridCol>
                <a:gridCol w="2599522">
                  <a:extLst>
                    <a:ext uri="{9D8B030D-6E8A-4147-A177-3AD203B41FA5}">
                      <a16:colId xmlns:a16="http://schemas.microsoft.com/office/drawing/2014/main" val="2240771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-0.089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0.321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01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0.131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0.421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2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-0.919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0.311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80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-0.029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0.601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12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0.321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-1.069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467"/>
                  </a:ext>
                </a:extLst>
              </a:tr>
            </a:tbl>
          </a:graphicData>
        </a:graphic>
      </p:graphicFrame>
      <p:graphicFrame>
        <p:nvGraphicFramePr>
          <p:cNvPr id="9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0221111"/>
              </p:ext>
            </p:extLst>
          </p:nvPr>
        </p:nvGraphicFramePr>
        <p:xfrm>
          <a:off x="838198" y="2139231"/>
          <a:ext cx="5199044" cy="18542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599522">
                  <a:extLst>
                    <a:ext uri="{9D8B030D-6E8A-4147-A177-3AD203B41FA5}">
                      <a16:colId xmlns:a16="http://schemas.microsoft.com/office/drawing/2014/main" val="1364147519"/>
                    </a:ext>
                  </a:extLst>
                </a:gridCol>
                <a:gridCol w="2599522">
                  <a:extLst>
                    <a:ext uri="{9D8B030D-6E8A-4147-A177-3AD203B41FA5}">
                      <a16:colId xmlns:a16="http://schemas.microsoft.com/office/drawing/2014/main" val="2240771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0.57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01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0.79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1.08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2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-0.26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0.97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80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0.63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1.26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12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-0.41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46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8198" y="1769899"/>
            <a:ext cx="1252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Residuals 1</a:t>
            </a:r>
            <a:endParaRPr lang="en-US" b="1" u="sng" dirty="0"/>
          </a:p>
        </p:txBody>
      </p:sp>
      <p:sp>
        <p:nvSpPr>
          <p:cNvPr id="11" name="TextBox 10"/>
          <p:cNvSpPr txBox="1"/>
          <p:nvPr/>
        </p:nvSpPr>
        <p:spPr>
          <a:xfrm>
            <a:off x="838197" y="4178097"/>
            <a:ext cx="1252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Residuals 2</a:t>
            </a:r>
            <a:endParaRPr lang="en-US" b="1" u="sng" dirty="0"/>
          </a:p>
        </p:txBody>
      </p:sp>
      <p:sp>
        <p:nvSpPr>
          <p:cNvPr id="12" name="TextBox 11"/>
          <p:cNvSpPr txBox="1"/>
          <p:nvPr/>
        </p:nvSpPr>
        <p:spPr>
          <a:xfrm>
            <a:off x="3945955" y="1748510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SSE(C) = 7.197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45955" y="4173771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SSE(A) = 2.854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90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having the flu increase your temperature?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Which estimate is a better explanation of our data? </a:t>
                </a:r>
              </a:p>
              <a:p>
                <a:endParaRPr lang="en-US" dirty="0"/>
              </a:p>
              <a:p>
                <a:r>
                  <a:rPr lang="en-US" dirty="0" smtClean="0"/>
                  <a:t>To answer this question, we can calculate the proportional reduction in error, </a:t>
                </a:r>
                <a:r>
                  <a:rPr lang="en-US" b="1" i="1" u="sng" dirty="0" smtClean="0"/>
                  <a:t>PRE</a:t>
                </a:r>
                <a:r>
                  <a:rPr lang="en-US" dirty="0" smtClean="0"/>
                  <a:t>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𝑃𝑅𝐸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7.197−2.854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7.197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=0.603</m:t>
                    </m:r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18" t="-2241" r="-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12/29/2018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8" name="Content Placeholder 6"/>
          <p:cNvGraphicFramePr>
            <a:graphicFrameLocks/>
          </p:cNvGraphicFramePr>
          <p:nvPr/>
        </p:nvGraphicFramePr>
        <p:xfrm>
          <a:off x="838198" y="4543103"/>
          <a:ext cx="5199044" cy="18542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599522">
                  <a:extLst>
                    <a:ext uri="{9D8B030D-6E8A-4147-A177-3AD203B41FA5}">
                      <a16:colId xmlns:a16="http://schemas.microsoft.com/office/drawing/2014/main" val="1364147519"/>
                    </a:ext>
                  </a:extLst>
                </a:gridCol>
                <a:gridCol w="2599522">
                  <a:extLst>
                    <a:ext uri="{9D8B030D-6E8A-4147-A177-3AD203B41FA5}">
                      <a16:colId xmlns:a16="http://schemas.microsoft.com/office/drawing/2014/main" val="2240771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-0.089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0.321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01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0.131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0.421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2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-0.919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0.311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80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-0.029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0.601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12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0.321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-1.069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467"/>
                  </a:ext>
                </a:extLst>
              </a:tr>
            </a:tbl>
          </a:graphicData>
        </a:graphic>
      </p:graphicFrame>
      <p:graphicFrame>
        <p:nvGraphicFramePr>
          <p:cNvPr id="9" name="Content Placeholder 6"/>
          <p:cNvGraphicFramePr>
            <a:graphicFrameLocks/>
          </p:cNvGraphicFramePr>
          <p:nvPr/>
        </p:nvGraphicFramePr>
        <p:xfrm>
          <a:off x="838198" y="2139231"/>
          <a:ext cx="5199044" cy="18542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599522">
                  <a:extLst>
                    <a:ext uri="{9D8B030D-6E8A-4147-A177-3AD203B41FA5}">
                      <a16:colId xmlns:a16="http://schemas.microsoft.com/office/drawing/2014/main" val="1364147519"/>
                    </a:ext>
                  </a:extLst>
                </a:gridCol>
                <a:gridCol w="2599522">
                  <a:extLst>
                    <a:ext uri="{9D8B030D-6E8A-4147-A177-3AD203B41FA5}">
                      <a16:colId xmlns:a16="http://schemas.microsoft.com/office/drawing/2014/main" val="2240771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0.57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010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0.79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1.08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82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-0.26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0.97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80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0.63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1.26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12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-0.41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46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8198" y="1769899"/>
            <a:ext cx="1252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Residuals 1</a:t>
            </a:r>
            <a:endParaRPr lang="en-US" b="1" u="sng" dirty="0"/>
          </a:p>
        </p:txBody>
      </p:sp>
      <p:sp>
        <p:nvSpPr>
          <p:cNvPr id="11" name="TextBox 10"/>
          <p:cNvSpPr txBox="1"/>
          <p:nvPr/>
        </p:nvSpPr>
        <p:spPr>
          <a:xfrm>
            <a:off x="838197" y="4178097"/>
            <a:ext cx="1252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Residuals 2</a:t>
            </a:r>
            <a:endParaRPr lang="en-US" b="1" u="sng" dirty="0"/>
          </a:p>
        </p:txBody>
      </p:sp>
      <p:sp>
        <p:nvSpPr>
          <p:cNvPr id="12" name="TextBox 11"/>
          <p:cNvSpPr txBox="1"/>
          <p:nvPr/>
        </p:nvSpPr>
        <p:spPr>
          <a:xfrm>
            <a:off x="3945955" y="1748510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SSE(C) = 7.197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45955" y="4173771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SSE(A) = 2.854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86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having the flu increase your temperature?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Thus, using our sample </a:t>
            </a:r>
            <a:r>
              <a:rPr lang="en-US" dirty="0" smtClean="0"/>
              <a:t>mean led </a:t>
            </a:r>
            <a:r>
              <a:rPr lang="en-US" dirty="0" smtClean="0"/>
              <a:t>to ~60% less error than estimating the average human body temperature of 37*C.</a:t>
            </a:r>
          </a:p>
          <a:p>
            <a:endParaRPr lang="en-US" dirty="0"/>
          </a:p>
          <a:p>
            <a:r>
              <a:rPr lang="en-US" dirty="0" smtClean="0"/>
              <a:t>But does this mean that having the flu increases your temperature? How much better does an explanation need to be before we decide it is the better explanation?</a:t>
            </a:r>
          </a:p>
          <a:p>
            <a:endParaRPr lang="en-US" dirty="0"/>
          </a:p>
          <a:p>
            <a:r>
              <a:rPr lang="en-US" dirty="0" smtClean="0"/>
              <a:t>How can we use the proportional reduction in error to make an </a:t>
            </a:r>
            <a:r>
              <a:rPr lang="en-US" b="1" i="1" u="sng" dirty="0" smtClean="0"/>
              <a:t>inference</a:t>
            </a:r>
            <a:r>
              <a:rPr lang="en-US" dirty="0" smtClean="0"/>
              <a:t> from our sample to the population?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81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sampling distribution of PRE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Recall that the mean will always produce the smallest SSE for a given set of numbers. Thus, it is not unusual that SSE(A) &lt; SSE(C).</a:t>
            </a:r>
          </a:p>
          <a:p>
            <a:endParaRPr lang="en-US" dirty="0"/>
          </a:p>
          <a:p>
            <a:r>
              <a:rPr lang="en-US" dirty="0" smtClean="0"/>
              <a:t>In order to make an inference, therefore, we need to see if SSE(A) is sufficiently smaller than SSE(C) to make the result </a:t>
            </a:r>
            <a:r>
              <a:rPr lang="en-US" b="1" i="1" u="sng" dirty="0" smtClean="0"/>
              <a:t>statistically interesting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That is, is the reduction in SSE large enough that we think it is </a:t>
            </a:r>
            <a:r>
              <a:rPr lang="en-US" b="1" i="1" u="sng" dirty="0" smtClean="0"/>
              <a:t>unlikely</a:t>
            </a:r>
            <a:r>
              <a:rPr lang="en-US" dirty="0" smtClean="0"/>
              <a:t> to happen by </a:t>
            </a:r>
            <a:r>
              <a:rPr lang="en-US" b="1" i="1" u="sng" dirty="0" smtClean="0"/>
              <a:t>sampling variability alone</a:t>
            </a:r>
            <a:r>
              <a:rPr lang="en-US" dirty="0"/>
              <a:t>?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1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sampling distribution of PRE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In class, we will show the sampling distribution of PRE using simulations. </a:t>
            </a:r>
          </a:p>
          <a:p>
            <a:endParaRPr lang="en-US" dirty="0"/>
          </a:p>
          <a:p>
            <a:r>
              <a:rPr lang="en-US" dirty="0" smtClean="0"/>
              <a:t>For now, let’s focus on two key concepts:</a:t>
            </a:r>
          </a:p>
          <a:p>
            <a:pPr lvl="1"/>
            <a:r>
              <a:rPr lang="en-US" dirty="0" smtClean="0"/>
              <a:t>The proportional reduction in error will always be ≥ 0 in this situation, because the sample mean will provide the smallest SSE for a set of numbers. (If the mean had been 37 exactly, PRE would be 0.)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larger the proportional reduction in error, the less likely we think a result is to have occurred from sampling variability alone. </a:t>
            </a:r>
            <a:endParaRPr lang="en-US" dirty="0" smtClean="0"/>
          </a:p>
          <a:p>
            <a:pPr lvl="2"/>
            <a:r>
              <a:rPr lang="en-US" dirty="0" smtClean="0"/>
              <a:t>(</a:t>
            </a:r>
            <a:r>
              <a:rPr lang="en-US" dirty="0" smtClean="0"/>
              <a:t>That is, if the variability explained by the estimate is large compared to the residual variability, there might be something </a:t>
            </a:r>
            <a:r>
              <a:rPr lang="en-US" b="1" i="1" u="sng" dirty="0" smtClean="0"/>
              <a:t>systematic</a:t>
            </a:r>
            <a:r>
              <a:rPr lang="en-US" dirty="0" smtClean="0"/>
              <a:t> rather than </a:t>
            </a:r>
            <a:r>
              <a:rPr lang="en-US" b="1" i="1" u="sng" dirty="0" smtClean="0"/>
              <a:t>random</a:t>
            </a:r>
            <a:r>
              <a:rPr lang="en-US" dirty="0" smtClean="0"/>
              <a:t> happening in our data.) 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6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sampling distribution of PRE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“Know thy distributions.”</a:t>
                </a:r>
              </a:p>
              <a:p>
                <a:endParaRPr lang="en-US" dirty="0"/>
              </a:p>
              <a:p>
                <a:r>
                  <a:rPr lang="en-US" dirty="0" smtClean="0"/>
                  <a:t>In order for us to make an inferential statement about the probability of observing PRE, we need to make an estimate about the variance in the population.</a:t>
                </a:r>
              </a:p>
              <a:p>
                <a:endParaRPr lang="en-US" dirty="0"/>
              </a:p>
              <a:p>
                <a:r>
                  <a:rPr lang="en-US" dirty="0" smtClean="0"/>
                  <a:t>As we have shown, the sample variance is an unbiased estimate of the population variance: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1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sampling distribution of PRE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Critically, the shape of the sampling distribution depends on the number of estimated parameters in Model A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𝑃𝐴</m:t>
                    </m:r>
                  </m:oMath>
                </a14:m>
                <a:r>
                  <a:rPr lang="en-US" dirty="0" smtClean="0"/>
                  <a:t>) and the number of observations in the sample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). </a:t>
                </a: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𝑃𝐴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endParaRPr lang="en-US" dirty="0" smtClean="0"/>
              </a:p>
              <a:p>
                <a:r>
                  <a:rPr lang="en-US" dirty="0" smtClean="0"/>
                  <a:t>We are estimating one parameter (the mean) and we have 10 observations. </a:t>
                </a:r>
              </a:p>
              <a:p>
                <a:pPr lvl="1"/>
                <a:r>
                  <a:rPr lang="en-US" dirty="0" smtClean="0"/>
                  <a:t>As the number of observations increases,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will be a more consistent approximation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and thus a larger PRE is more surprising. </a:t>
                </a:r>
              </a:p>
              <a:p>
                <a:pPr lvl="1"/>
                <a:r>
                  <a:rPr lang="en-US" dirty="0" smtClean="0"/>
                  <a:t>As the number of parameters increases, we expect to explain more error (even just by chance) and thus a larger PRE is less surprising. 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696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1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sampling distribution of PRE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Thus, the number of parameters in Model A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𝑃𝐴</m:t>
                    </m:r>
                  </m:oMath>
                </a14:m>
                <a:r>
                  <a:rPr lang="en-US" dirty="0" smtClean="0"/>
                  <a:t>) and the number of observations in the sample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) work against each other in how we interpret the PRE we observe.  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However, critical values of PRE and its distribution are rare in statistics books. Instead, it is much more common to see PRE converted into an </a:t>
                </a:r>
                <a:r>
                  <a:rPr lang="en-US" b="1" i="1" u="sng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F-value</a:t>
                </a: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, and interpreted with respect to the </a:t>
                </a:r>
                <a:r>
                  <a:rPr lang="en-US" b="1" i="1" u="sng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F-distribution</a:t>
                </a: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b="1" i="1" u="sng" dirty="0" smtClean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12/29/2018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7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5175</TotalTime>
  <Words>1006</Words>
  <Application>Microsoft Office PowerPoint</Application>
  <PresentationFormat>Widescreen</PresentationFormat>
  <Paragraphs>223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Statistical Inferences about Parameters</vt:lpstr>
      <vt:lpstr>‘Fitting’ Parameters</vt:lpstr>
      <vt:lpstr>Does having the flu increase your temperature?</vt:lpstr>
      <vt:lpstr>Does having the flu increase your temperature?</vt:lpstr>
      <vt:lpstr>Does having the flu increase your temperature?</vt:lpstr>
      <vt:lpstr>Does having the flu increase your temperature?</vt:lpstr>
      <vt:lpstr>Does having the flu increase your temperature?</vt:lpstr>
      <vt:lpstr>Does having the flu increase your temperature?</vt:lpstr>
      <vt:lpstr>Does having the flu increase your temperature?</vt:lpstr>
      <vt:lpstr>Does having the flu increase your temperature?</vt:lpstr>
      <vt:lpstr>The sampling distribution of PRE</vt:lpstr>
      <vt:lpstr>The sampling distribution of PRE</vt:lpstr>
      <vt:lpstr>The sampling distribution of PRE</vt:lpstr>
      <vt:lpstr>The sampling distribution of PRE</vt:lpstr>
      <vt:lpstr>The sampling distribution of PRE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396</cp:revision>
  <dcterms:created xsi:type="dcterms:W3CDTF">2017-01-28T12:59:49Z</dcterms:created>
  <dcterms:modified xsi:type="dcterms:W3CDTF">2018-12-29T19:27:48Z</dcterms:modified>
</cp:coreProperties>
</file>
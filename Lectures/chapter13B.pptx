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82" r:id="rId2"/>
    <p:sldId id="383" r:id="rId3"/>
    <p:sldId id="384" r:id="rId4"/>
    <p:sldId id="385" r:id="rId5"/>
    <p:sldId id="386" r:id="rId6"/>
    <p:sldId id="3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>
        <p:scale>
          <a:sx n="66" d="100"/>
          <a:sy n="66" d="100"/>
        </p:scale>
        <p:origin x="616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4/10/2020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4/10/2020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Leverage – Unusual Values in X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</a:t>
            </a:r>
            <a:r>
              <a:rPr lang="en-US" b="1" dirty="0" smtClean="0"/>
              <a:t>PhD, </a:t>
            </a:r>
            <a:r>
              <a:rPr lang="en-US" b="1" dirty="0" err="1" smtClean="0"/>
              <a:t>PStat</a:t>
            </a:r>
            <a:endParaRPr lang="en-US" b="1" dirty="0"/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Identifying “Levers”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899860"/>
            <a:ext cx="2416046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a-DK" dirty="0">
                <a:latin typeface="Consolas" panose="020B0609020204030204" pitchFamily="49" charset="0"/>
              </a:rPr>
              <a:t>&gt; DAT2</a:t>
            </a:r>
          </a:p>
          <a:p>
            <a:r>
              <a:rPr lang="da-DK" dirty="0">
                <a:latin typeface="Consolas" panose="020B0609020204030204" pitchFamily="49" charset="0"/>
              </a:rPr>
              <a:t> </a:t>
            </a:r>
            <a:r>
              <a:rPr lang="da-DK" b="1" u="sng" dirty="0" smtClean="0">
                <a:latin typeface="Consolas" panose="020B0609020204030204" pitchFamily="49" charset="0"/>
              </a:rPr>
              <a:t>ID</a:t>
            </a:r>
            <a:r>
              <a:rPr lang="da-DK" dirty="0" smtClean="0">
                <a:latin typeface="Consolas" panose="020B0609020204030204" pitchFamily="49" charset="0"/>
              </a:rPr>
              <a:t>  	</a:t>
            </a:r>
            <a:r>
              <a:rPr lang="da-DK" b="1" u="sng" dirty="0" smtClean="0">
                <a:latin typeface="Consolas" panose="020B0609020204030204" pitchFamily="49" charset="0"/>
              </a:rPr>
              <a:t>SAT </a:t>
            </a:r>
            <a:r>
              <a:rPr lang="da-DK" b="1" dirty="0" smtClean="0">
                <a:latin typeface="Consolas" panose="020B0609020204030204" pitchFamily="49" charset="0"/>
              </a:rPr>
              <a:t>	</a:t>
            </a:r>
            <a:r>
              <a:rPr lang="da-DK" b="1" u="sng" dirty="0" smtClean="0">
                <a:latin typeface="Consolas" panose="020B0609020204030204" pitchFamily="49" charset="0"/>
              </a:rPr>
              <a:t>HSR</a:t>
            </a:r>
            <a:endParaRPr lang="da-DK" b="1" u="sng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1  </a:t>
            </a:r>
            <a:r>
              <a:rPr lang="da-DK" dirty="0" smtClean="0">
                <a:latin typeface="Consolas" panose="020B0609020204030204" pitchFamily="49" charset="0"/>
              </a:rPr>
              <a:t>	42	91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2   </a:t>
            </a:r>
            <a:r>
              <a:rPr lang="da-DK" dirty="0" smtClean="0">
                <a:latin typeface="Consolas" panose="020B0609020204030204" pitchFamily="49" charset="0"/>
              </a:rPr>
              <a:t>	48  	87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3   </a:t>
            </a:r>
            <a:r>
              <a:rPr lang="da-DK" dirty="0" smtClean="0">
                <a:latin typeface="Consolas" panose="020B0609020204030204" pitchFamily="49" charset="0"/>
              </a:rPr>
              <a:t>	58  	85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4   </a:t>
            </a:r>
            <a:r>
              <a:rPr lang="da-DK" dirty="0" smtClean="0">
                <a:latin typeface="Consolas" panose="020B0609020204030204" pitchFamily="49" charset="0"/>
              </a:rPr>
              <a:t>	45  	79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5   </a:t>
            </a:r>
            <a:r>
              <a:rPr lang="da-DK" dirty="0" smtClean="0">
                <a:latin typeface="Consolas" panose="020B0609020204030204" pitchFamily="49" charset="0"/>
              </a:rPr>
              <a:t>	45  	90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b="1" dirty="0">
                <a:solidFill>
                  <a:srgbClr val="FF0000"/>
                </a:solidFill>
                <a:latin typeface="Consolas" panose="020B0609020204030204" pitchFamily="49" charset="0"/>
              </a:rPr>
              <a:t>6   </a:t>
            </a:r>
            <a:r>
              <a:rPr lang="da-DK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	86  	48</a:t>
            </a:r>
            <a:endParaRPr lang="da-DK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7   </a:t>
            </a:r>
            <a:r>
              <a:rPr lang="da-DK" dirty="0" smtClean="0">
                <a:latin typeface="Consolas" panose="020B0609020204030204" pitchFamily="49" charset="0"/>
              </a:rPr>
              <a:t>	51  	83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8   </a:t>
            </a:r>
            <a:r>
              <a:rPr lang="da-DK" dirty="0" smtClean="0">
                <a:latin typeface="Consolas" panose="020B0609020204030204" pitchFamily="49" charset="0"/>
              </a:rPr>
              <a:t>	56  	99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9   </a:t>
            </a:r>
            <a:r>
              <a:rPr lang="da-DK" dirty="0" smtClean="0">
                <a:latin typeface="Consolas" panose="020B0609020204030204" pitchFamily="49" charset="0"/>
              </a:rPr>
              <a:t>	51  	81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10  </a:t>
            </a:r>
            <a:r>
              <a:rPr lang="da-DK" dirty="0" smtClean="0">
                <a:latin typeface="Consolas" panose="020B0609020204030204" pitchFamily="49" charset="0"/>
              </a:rPr>
              <a:t>	58  	94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11  </a:t>
            </a:r>
            <a:r>
              <a:rPr lang="da-DK" dirty="0" smtClean="0">
                <a:latin typeface="Consolas" panose="020B0609020204030204" pitchFamily="49" charset="0"/>
              </a:rPr>
              <a:t>	42  	86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12  </a:t>
            </a:r>
            <a:r>
              <a:rPr lang="da-DK" dirty="0" smtClean="0">
                <a:latin typeface="Consolas" panose="020B0609020204030204" pitchFamily="49" charset="0"/>
              </a:rPr>
              <a:t>	55  	99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13  </a:t>
            </a:r>
            <a:r>
              <a:rPr lang="da-DK" dirty="0" smtClean="0">
                <a:latin typeface="Consolas" panose="020B0609020204030204" pitchFamily="49" charset="0"/>
              </a:rPr>
              <a:t>	61  	99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690688"/>
            <a:ext cx="3810196" cy="38101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1690688"/>
            <a:ext cx="3810196" cy="3810196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4162575" y="2258218"/>
            <a:ext cx="4931229" cy="1760897"/>
            <a:chOff x="4162575" y="2258218"/>
            <a:chExt cx="4931229" cy="1760897"/>
          </a:xfrm>
        </p:grpSpPr>
        <p:sp>
          <p:nvSpPr>
            <p:cNvPr id="10" name="Oval 9"/>
            <p:cNvSpPr/>
            <p:nvPr/>
          </p:nvSpPr>
          <p:spPr>
            <a:xfrm>
              <a:off x="9039376" y="3964251"/>
              <a:ext cx="54428" cy="5486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162575" y="2258218"/>
              <a:ext cx="54428" cy="5486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52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Identifying “Levers”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3602"/>
            <a:ext cx="3810196" cy="3810196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1424455" y="2176938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476775" y="3746658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964455" y="3746658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254010" y="3594258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370095" y="4148994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232484" y="3871626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242644" y="3931220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583696" y="4316284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248175" y="4148994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746015" y="4488338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131335" y="4488338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809392" y="4661058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535072" y="4666104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13" idx="5"/>
            <a:endCxn id="27" idx="1"/>
          </p:cNvCxnSpPr>
          <p:nvPr/>
        </p:nvCxnSpPr>
        <p:spPr>
          <a:xfrm>
            <a:off x="1470912" y="2223767"/>
            <a:ext cx="2324657" cy="1911186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4" idx="5"/>
            <a:endCxn id="27" idx="1"/>
          </p:cNvCxnSpPr>
          <p:nvPr/>
        </p:nvCxnSpPr>
        <p:spPr>
          <a:xfrm>
            <a:off x="3523232" y="3793487"/>
            <a:ext cx="272337" cy="341466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5" idx="3"/>
            <a:endCxn id="27" idx="7"/>
          </p:cNvCxnSpPr>
          <p:nvPr/>
        </p:nvCxnSpPr>
        <p:spPr>
          <a:xfrm flipH="1">
            <a:off x="3860227" y="3793487"/>
            <a:ext cx="112199" cy="341466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7" idx="3"/>
            <a:endCxn id="27" idx="7"/>
          </p:cNvCxnSpPr>
          <p:nvPr/>
        </p:nvCxnSpPr>
        <p:spPr>
          <a:xfrm flipH="1">
            <a:off x="3860227" y="3641087"/>
            <a:ext cx="401754" cy="493866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9" idx="3"/>
            <a:endCxn id="27" idx="6"/>
          </p:cNvCxnSpPr>
          <p:nvPr/>
        </p:nvCxnSpPr>
        <p:spPr>
          <a:xfrm flipH="1">
            <a:off x="3873618" y="3918455"/>
            <a:ext cx="366837" cy="248827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20" idx="3"/>
            <a:endCxn id="27" idx="6"/>
          </p:cNvCxnSpPr>
          <p:nvPr/>
        </p:nvCxnSpPr>
        <p:spPr>
          <a:xfrm flipH="1">
            <a:off x="3873618" y="3978049"/>
            <a:ext cx="376997" cy="189233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27" idx="4"/>
            <a:endCxn id="23" idx="0"/>
          </p:cNvCxnSpPr>
          <p:nvPr/>
        </p:nvCxnSpPr>
        <p:spPr>
          <a:xfrm flipH="1">
            <a:off x="3773229" y="4213002"/>
            <a:ext cx="54669" cy="275336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27" idx="4"/>
            <a:endCxn id="25" idx="0"/>
          </p:cNvCxnSpPr>
          <p:nvPr/>
        </p:nvCxnSpPr>
        <p:spPr>
          <a:xfrm>
            <a:off x="3827898" y="4213002"/>
            <a:ext cx="8708" cy="448056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3"/>
            <a:endCxn id="26" idx="7"/>
          </p:cNvCxnSpPr>
          <p:nvPr/>
        </p:nvCxnSpPr>
        <p:spPr>
          <a:xfrm flipH="1">
            <a:off x="3581529" y="4199611"/>
            <a:ext cx="214040" cy="474528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7" idx="3"/>
            <a:endCxn id="21" idx="7"/>
          </p:cNvCxnSpPr>
          <p:nvPr/>
        </p:nvCxnSpPr>
        <p:spPr>
          <a:xfrm flipH="1">
            <a:off x="3630153" y="4199611"/>
            <a:ext cx="165416" cy="124708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7" idx="3"/>
            <a:endCxn id="24" idx="6"/>
          </p:cNvCxnSpPr>
          <p:nvPr/>
        </p:nvCxnSpPr>
        <p:spPr>
          <a:xfrm flipH="1">
            <a:off x="3185763" y="4199611"/>
            <a:ext cx="609806" cy="316159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27" idx="2"/>
            <a:endCxn id="18" idx="6"/>
          </p:cNvCxnSpPr>
          <p:nvPr/>
        </p:nvCxnSpPr>
        <p:spPr>
          <a:xfrm flipH="1">
            <a:off x="3424523" y="4167282"/>
            <a:ext cx="357655" cy="9144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27" idx="2"/>
            <a:endCxn id="22" idx="6"/>
          </p:cNvCxnSpPr>
          <p:nvPr/>
        </p:nvCxnSpPr>
        <p:spPr>
          <a:xfrm flipH="1">
            <a:off x="3302603" y="4167282"/>
            <a:ext cx="479575" cy="9144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782178" y="412156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/>
              <p:cNvSpPr txBox="1"/>
              <p:nvPr/>
            </p:nvSpPr>
            <p:spPr>
              <a:xfrm>
                <a:off x="5072514" y="2019704"/>
                <a:ext cx="3828099" cy="6710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Recall that the formula for the slope is: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)/(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)]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514" y="2019704"/>
                <a:ext cx="3828099" cy="671081"/>
              </a:xfrm>
              <a:prstGeom prst="rect">
                <a:avLst/>
              </a:prstGeom>
              <a:blipFill>
                <a:blip r:embed="rId3"/>
                <a:stretch>
                  <a:fillRect l="-1274" t="-4545" r="-637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/>
              <p:cNvSpPr txBox="1"/>
              <p:nvPr/>
            </p:nvSpPr>
            <p:spPr>
              <a:xfrm>
                <a:off x="5072513" y="2837619"/>
                <a:ext cx="1953227" cy="97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Where: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513" y="2837619"/>
                <a:ext cx="1953227" cy="974306"/>
              </a:xfrm>
              <a:prstGeom prst="rect">
                <a:avLst/>
              </a:prstGeom>
              <a:blipFill>
                <a:blip r:embed="rId4"/>
                <a:stretch>
                  <a:fillRect l="-2492" t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/>
          <p:cNvSpPr txBox="1"/>
          <p:nvPr/>
        </p:nvSpPr>
        <p:spPr>
          <a:xfrm>
            <a:off x="5071257" y="3958652"/>
            <a:ext cx="62825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Thus, the farther away a single data-point is, relative to the total distance in the data-points, the more weight that data point will have over the slope. </a:t>
            </a:r>
          </a:p>
          <a:p>
            <a:endParaRPr lang="en-US" dirty="0"/>
          </a:p>
          <a:p>
            <a:r>
              <a:rPr lang="en-US" dirty="0" smtClean="0"/>
              <a:t>Thus, we refer to these data points as “</a:t>
            </a:r>
            <a:r>
              <a:rPr lang="en-US" dirty="0" smtClean="0">
                <a:solidFill>
                  <a:schemeClr val="accent1"/>
                </a:solidFill>
              </a:rPr>
              <a:t>levers</a:t>
            </a:r>
            <a:r>
              <a:rPr lang="en-US" dirty="0" smtClean="0"/>
              <a:t>” because the farther away they are, the easier it is to move the slope around.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3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Calculating a Lever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3602"/>
            <a:ext cx="3810196" cy="3810196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1424455" y="2176938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13" idx="5"/>
            <a:endCxn id="27" idx="1"/>
          </p:cNvCxnSpPr>
          <p:nvPr/>
        </p:nvCxnSpPr>
        <p:spPr>
          <a:xfrm>
            <a:off x="1470912" y="2223767"/>
            <a:ext cx="2324657" cy="1911186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/>
              <p:cNvSpPr txBox="1"/>
              <p:nvPr/>
            </p:nvSpPr>
            <p:spPr>
              <a:xfrm>
                <a:off x="4694853" y="2163697"/>
                <a:ext cx="6533819" cy="3464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The magnitude of the lever is referred to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The letter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used to represent the lever historically because it is also the “diagonal of the </a:t>
                </a:r>
                <a:r>
                  <a:rPr lang="en-US" i="1" dirty="0" smtClean="0"/>
                  <a:t>hat</a:t>
                </a:r>
                <a:r>
                  <a:rPr lang="en-US" dirty="0" smtClean="0"/>
                  <a:t> matrix”.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This naming convention is a bit beyond our scope, but the hat matrix compares actual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) to predicted values, or “y-hats”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 smtClean="0"/>
                  <a:t>When there is only </a:t>
                </a:r>
                <a:r>
                  <a:rPr lang="en-US" b="1" u="sng" dirty="0" smtClean="0"/>
                  <a:t>one</a:t>
                </a:r>
                <a:r>
                  <a:rPr lang="en-US" dirty="0" smtClean="0"/>
                  <a:t> predictor variable, the lever can be calculated as: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853" y="2163697"/>
                <a:ext cx="6533819" cy="3464988"/>
              </a:xfrm>
              <a:prstGeom prst="rect">
                <a:avLst/>
              </a:prstGeom>
              <a:blipFill>
                <a:blip r:embed="rId3"/>
                <a:stretch>
                  <a:fillRect l="-746" t="-1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89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Calculating a Lever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3602"/>
            <a:ext cx="3810196" cy="3810196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1424455" y="2176938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13" idx="5"/>
            <a:endCxn id="27" idx="1"/>
          </p:cNvCxnSpPr>
          <p:nvPr/>
        </p:nvCxnSpPr>
        <p:spPr>
          <a:xfrm>
            <a:off x="1470912" y="2223767"/>
            <a:ext cx="2324657" cy="1911186"/>
          </a:xfrm>
          <a:prstGeom prst="line">
            <a:avLst/>
          </a:prstGeom>
          <a:ln w="63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/>
              <p:cNvSpPr txBox="1"/>
              <p:nvPr/>
            </p:nvSpPr>
            <p:spPr>
              <a:xfrm>
                <a:off x="4694853" y="2163697"/>
                <a:ext cx="6533819" cy="4018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When there is only </a:t>
                </a:r>
                <a:r>
                  <a:rPr lang="en-US" b="1" u="sng" dirty="0" smtClean="0"/>
                  <a:t>one</a:t>
                </a:r>
                <a:r>
                  <a:rPr lang="en-US" dirty="0" smtClean="0"/>
                  <a:t> predictor variable, the lever can be calculated as: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The 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more unusual the x-value</a:t>
                </a:r>
                <a:r>
                  <a:rPr lang="en-US" dirty="0" smtClean="0"/>
                  <a:t>, the greater influence that data point will have on our statistics. </a:t>
                </a:r>
              </a:p>
              <a:p>
                <a:endParaRPr lang="en-US" dirty="0"/>
              </a:p>
              <a:p>
                <a:r>
                  <a:rPr lang="en-US" dirty="0" smtClean="0"/>
                  <a:t>This can be attenuated by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having more data</a:t>
                </a:r>
                <a:r>
                  <a:rPr lang="en-US" dirty="0" smtClean="0"/>
                  <a:t>, but even in large samples, it is a good idea to check for large levers.</a:t>
                </a:r>
              </a:p>
              <a:p>
                <a:endParaRPr lang="en-US" dirty="0"/>
              </a:p>
              <a:p>
                <a:r>
                  <a:rPr lang="en-US" dirty="0" smtClean="0"/>
                  <a:t>Specifically, we check to see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, where p = the number of parameters being estimated in the model and n = the number of observations.</a:t>
                </a:r>
                <a:endParaRPr lang="en-US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853" y="2163697"/>
                <a:ext cx="6533819" cy="4018985"/>
              </a:xfrm>
              <a:prstGeom prst="rect">
                <a:avLst/>
              </a:prstGeom>
              <a:blipFill>
                <a:blip r:embed="rId3"/>
                <a:stretch>
                  <a:fillRect l="-746" t="-910" r="-187" b="-1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64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leverage bad?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Ideally, we want a model that accurately represents all of the data. </a:t>
            </a:r>
          </a:p>
          <a:p>
            <a:endParaRPr lang="en-US" dirty="0"/>
          </a:p>
          <a:p>
            <a:r>
              <a:rPr lang="en-US" dirty="0" smtClean="0"/>
              <a:t>If leverage is high, that means one data point has disproportionate influence on the model. </a:t>
            </a:r>
          </a:p>
          <a:p>
            <a:endParaRPr lang="en-US" dirty="0"/>
          </a:p>
          <a:p>
            <a:r>
              <a:rPr lang="en-US" dirty="0" smtClean="0"/>
              <a:t>Having the model driven by a single observation is clearly inconsistent with the goal of having the model describe all of the data.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624</Words>
  <Application>Microsoft Office PowerPoint</Application>
  <PresentationFormat>Widescreen</PresentationFormat>
  <Paragraphs>67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Consolas</vt:lpstr>
      <vt:lpstr>Office Theme</vt:lpstr>
      <vt:lpstr>Leverage – Unusual Values in X</vt:lpstr>
      <vt:lpstr>Identifying “Levers”</vt:lpstr>
      <vt:lpstr>Identifying “Levers”</vt:lpstr>
      <vt:lpstr>Calculating a Lever</vt:lpstr>
      <vt:lpstr>Calculating a Lever</vt:lpstr>
      <vt:lpstr>Why is leverage bad?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47</cp:revision>
  <dcterms:created xsi:type="dcterms:W3CDTF">2019-02-09T14:44:07Z</dcterms:created>
  <dcterms:modified xsi:type="dcterms:W3CDTF">2020-04-10T15:23:20Z</dcterms:modified>
</cp:coreProperties>
</file>
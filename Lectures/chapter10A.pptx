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82" r:id="rId2"/>
    <p:sldId id="383" r:id="rId3"/>
    <p:sldId id="384" r:id="rId4"/>
    <p:sldId id="385" r:id="rId5"/>
    <p:sldId id="396" r:id="rId6"/>
    <p:sldId id="386" r:id="rId7"/>
    <p:sldId id="394" r:id="rId8"/>
    <p:sldId id="387" r:id="rId9"/>
    <p:sldId id="397" r:id="rId10"/>
    <p:sldId id="395" r:id="rId11"/>
    <p:sldId id="388" r:id="rId12"/>
    <p:sldId id="389" r:id="rId13"/>
    <p:sldId id="390" r:id="rId14"/>
    <p:sldId id="391" r:id="rId15"/>
    <p:sldId id="392" r:id="rId16"/>
    <p:sldId id="39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C000"/>
    <a:srgbClr val="FFFFFF"/>
    <a:srgbClr val="4472C4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4424" autoAdjust="0"/>
  </p:normalViewPr>
  <p:slideViewPr>
    <p:cSldViewPr snapToGrid="0">
      <p:cViewPr varScale="1">
        <p:scale>
          <a:sx n="97" d="100"/>
          <a:sy n="97" d="100"/>
        </p:scale>
        <p:origin x="10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05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41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35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80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44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761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107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536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003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26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6991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850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361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551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1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3/26/2019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3/26/2019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3/26/2019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3/26/2019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3/26/2019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3/26/2019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smtClean="0"/>
              <a:t>Models </a:t>
            </a:r>
            <a:r>
              <a:rPr lang="en-US" sz="5400" dirty="0" smtClean="0"/>
              <a:t>with Non-Independent Errors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Assumptions so far…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09025"/>
            <a:ext cx="10515600" cy="2967937"/>
          </a:xfrm>
        </p:spPr>
        <p:txBody>
          <a:bodyPr>
            <a:normAutofit/>
          </a:bodyPr>
          <a:lstStyle/>
          <a:p>
            <a:r>
              <a:rPr lang="en-US" dirty="0" smtClean="0"/>
              <a:t>In these models, we have made important assumptions about the residuals (</a:t>
            </a:r>
            <a:r>
              <a:rPr lang="el-GR" dirty="0" smtClean="0"/>
              <a:t>ε</a:t>
            </a:r>
            <a:r>
              <a:rPr lang="en-US" dirty="0" smtClean="0"/>
              <a:t>’s).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They are normally distributed. </a:t>
            </a:r>
            <a:r>
              <a:rPr lang="en-US" b="1" i="1" dirty="0" smtClean="0"/>
              <a:t>(normality assumption)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They have a constant variance. </a:t>
            </a:r>
            <a:r>
              <a:rPr lang="en-US" b="1" i="1" dirty="0" smtClean="0"/>
              <a:t>(homoscedasticity/homogeneity of variance assumption)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They are independent of each other. </a:t>
            </a:r>
            <a:r>
              <a:rPr lang="en-US" b="1" i="1" dirty="0" smtClean="0"/>
              <a:t>(independence assumption)</a:t>
            </a:r>
            <a:endParaRPr lang="en-US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38200" y="1690688"/>
                <a:ext cx="23904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𝐷𝑎𝑡𝑎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𝑀𝑜𝑑𝑒𝑙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2390463" cy="276999"/>
              </a:xfrm>
              <a:prstGeom prst="rect">
                <a:avLst/>
              </a:prstGeom>
              <a:blipFill>
                <a:blip r:embed="rId3"/>
                <a:stretch>
                  <a:fillRect l="-2041" r="-1786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38200" y="2172857"/>
                <a:ext cx="38537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72857"/>
                <a:ext cx="3853747" cy="276999"/>
              </a:xfrm>
              <a:prstGeom prst="rect">
                <a:avLst/>
              </a:prstGeom>
              <a:blipFill>
                <a:blip r:embed="rId4"/>
                <a:stretch>
                  <a:fillRect l="-1108" t="-217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3211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non-independence.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 smtClean="0"/>
              <a:t>Positive non-independence</a:t>
            </a:r>
            <a:r>
              <a:rPr lang="en-US" dirty="0" smtClean="0"/>
              <a:t>: linked data are more alike than non-linked data.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b="1" i="1" dirty="0" smtClean="0"/>
              <a:t>Negative non-independence</a:t>
            </a:r>
            <a:r>
              <a:rPr lang="en-US" dirty="0" smtClean="0"/>
              <a:t>: linked data are more different than non-linked data.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5037826" y="2357563"/>
          <a:ext cx="5182557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519">
                  <a:extLst>
                    <a:ext uri="{9D8B030D-6E8A-4147-A177-3AD203B41FA5}">
                      <a16:colId xmlns:a16="http://schemas.microsoft.com/office/drawing/2014/main" val="27676538"/>
                    </a:ext>
                  </a:extLst>
                </a:gridCol>
                <a:gridCol w="1727519">
                  <a:extLst>
                    <a:ext uri="{9D8B030D-6E8A-4147-A177-3AD203B41FA5}">
                      <a16:colId xmlns:a16="http://schemas.microsoft.com/office/drawing/2014/main" val="3976971883"/>
                    </a:ext>
                  </a:extLst>
                </a:gridCol>
                <a:gridCol w="1727519">
                  <a:extLst>
                    <a:ext uri="{9D8B030D-6E8A-4147-A177-3AD203B41FA5}">
                      <a16:colId xmlns:a16="http://schemas.microsoft.com/office/drawing/2014/main" val="3905305623"/>
                    </a:ext>
                  </a:extLst>
                </a:gridCol>
              </a:tblGrid>
              <a:tr h="31671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School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Calculus 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College Algebra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74385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660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00791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740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560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07945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780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650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19749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500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92619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04514" y="2872598"/>
            <a:ext cx="2788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Proficiency on a mathematical aptitude test: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5037826" y="4735581"/>
          <a:ext cx="518255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519">
                  <a:extLst>
                    <a:ext uri="{9D8B030D-6E8A-4147-A177-3AD203B41FA5}">
                      <a16:colId xmlns:a16="http://schemas.microsoft.com/office/drawing/2014/main" val="27676538"/>
                    </a:ext>
                  </a:extLst>
                </a:gridCol>
                <a:gridCol w="1727519">
                  <a:extLst>
                    <a:ext uri="{9D8B030D-6E8A-4147-A177-3AD203B41FA5}">
                      <a16:colId xmlns:a16="http://schemas.microsoft.com/office/drawing/2014/main" val="3976971883"/>
                    </a:ext>
                  </a:extLst>
                </a:gridCol>
                <a:gridCol w="1727519">
                  <a:extLst>
                    <a:ext uri="{9D8B030D-6E8A-4147-A177-3AD203B41FA5}">
                      <a16:colId xmlns:a16="http://schemas.microsoft.com/office/drawing/2014/main" val="3905305623"/>
                    </a:ext>
                  </a:extLst>
                </a:gridCol>
              </a:tblGrid>
              <a:tr h="31671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School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End Term Performance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Change over the Term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74385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585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00791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07945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19749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575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92619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414732" y="5405889"/>
            <a:ext cx="2977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Proficiency versus Growth on a mathematical aptitude test: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767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Sources of non-independence.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practice, non-independence is likely to arise to a surfeit of factors:</a:t>
            </a:r>
          </a:p>
          <a:p>
            <a:pPr lvl="1"/>
            <a:r>
              <a:rPr lang="en-US" dirty="0" smtClean="0"/>
              <a:t>E.g., time within a person, kids within schools, patients with therapists, hospitals within counties, etc.</a:t>
            </a:r>
          </a:p>
          <a:p>
            <a:pPr lvl="1"/>
            <a:endParaRPr lang="en-US" dirty="0"/>
          </a:p>
          <a:p>
            <a:r>
              <a:rPr lang="en-US" dirty="0" smtClean="0"/>
              <a:t>Broadly speaking, we can think about these different sources of dependence as either </a:t>
            </a:r>
            <a:r>
              <a:rPr lang="en-US" b="1" i="1" u="sng" dirty="0" smtClean="0"/>
              <a:t>grouped</a:t>
            </a:r>
            <a:r>
              <a:rPr lang="en-US" dirty="0" smtClean="0"/>
              <a:t> data or </a:t>
            </a:r>
            <a:r>
              <a:rPr lang="en-US" b="1" i="1" u="sng" dirty="0" smtClean="0"/>
              <a:t>sequential</a:t>
            </a:r>
            <a:r>
              <a:rPr lang="en-US" dirty="0" smtClean="0"/>
              <a:t> data.  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424022" y="4451230"/>
            <a:ext cx="2156604" cy="22428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u="sng" dirty="0" smtClean="0"/>
              <a:t>Team A</a:t>
            </a:r>
            <a:endParaRPr lang="en-US" b="1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2424022" y="5264887"/>
            <a:ext cx="7786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Player A</a:t>
            </a:r>
            <a:endParaRPr lang="en-US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3677500" y="4978828"/>
            <a:ext cx="4987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 smtClean="0"/>
              <a:t>Year</a:t>
            </a:r>
            <a:endParaRPr lang="en-US" sz="1400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2424021" y="5523454"/>
            <a:ext cx="772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Player B</a:t>
            </a:r>
            <a:endParaRPr 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2424020" y="5782021"/>
            <a:ext cx="770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Player C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2422416" y="6050826"/>
            <a:ext cx="3193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…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612517" y="5264887"/>
            <a:ext cx="80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1, 2, 3, 4</a:t>
            </a:r>
            <a:endParaRPr 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3612516" y="5523454"/>
            <a:ext cx="80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1, 2, 3, 4</a:t>
            </a:r>
            <a:endParaRPr 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3612515" y="5782021"/>
            <a:ext cx="80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1, 2, 3, 4</a:t>
            </a:r>
            <a:endParaRPr lang="en-US" sz="1400" dirty="0"/>
          </a:p>
        </p:txBody>
      </p:sp>
      <p:sp>
        <p:nvSpPr>
          <p:cNvPr id="13" name="Rounded Rectangle 12"/>
          <p:cNvSpPr/>
          <p:nvPr/>
        </p:nvSpPr>
        <p:spPr>
          <a:xfrm>
            <a:off x="5277927" y="4451230"/>
            <a:ext cx="2156604" cy="224286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u="sng" dirty="0" smtClean="0"/>
              <a:t>Team B</a:t>
            </a:r>
            <a:endParaRPr lang="en-US" b="1" u="sng" dirty="0"/>
          </a:p>
        </p:txBody>
      </p:sp>
      <p:sp>
        <p:nvSpPr>
          <p:cNvPr id="14" name="TextBox 13"/>
          <p:cNvSpPr txBox="1"/>
          <p:nvPr/>
        </p:nvSpPr>
        <p:spPr>
          <a:xfrm>
            <a:off x="5277927" y="5264887"/>
            <a:ext cx="785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Player D</a:t>
            </a:r>
            <a:endParaRPr lang="en-US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6531405" y="4978828"/>
            <a:ext cx="4987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 smtClean="0"/>
              <a:t>Year</a:t>
            </a:r>
            <a:endParaRPr lang="en-US" sz="1400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5277926" y="5523454"/>
            <a:ext cx="7626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Player E</a:t>
            </a:r>
            <a:endParaRPr 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5277925" y="5782021"/>
            <a:ext cx="756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Player F</a:t>
            </a:r>
            <a:endParaRPr lang="en-US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5276321" y="6050826"/>
            <a:ext cx="3193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…</a:t>
            </a:r>
            <a:endParaRPr lang="en-US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6466422" y="5264887"/>
            <a:ext cx="80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1, 2, 3, 4</a:t>
            </a:r>
            <a:endParaRPr 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6466421" y="5523454"/>
            <a:ext cx="80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1, 2, 3, 4</a:t>
            </a:r>
            <a:endParaRPr lang="en-US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6466420" y="5782021"/>
            <a:ext cx="80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1, 2, 3, 4</a:t>
            </a:r>
            <a:endParaRPr lang="en-US" sz="1400" dirty="0"/>
          </a:p>
        </p:txBody>
      </p:sp>
      <p:sp>
        <p:nvSpPr>
          <p:cNvPr id="22" name="Rounded Rectangle 21"/>
          <p:cNvSpPr/>
          <p:nvPr/>
        </p:nvSpPr>
        <p:spPr>
          <a:xfrm>
            <a:off x="8131832" y="4451230"/>
            <a:ext cx="2156604" cy="2242868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u="sng" dirty="0" smtClean="0"/>
              <a:t>Team C</a:t>
            </a:r>
            <a:endParaRPr lang="en-US" b="1" u="sng" dirty="0"/>
          </a:p>
        </p:txBody>
      </p:sp>
      <p:sp>
        <p:nvSpPr>
          <p:cNvPr id="23" name="TextBox 22"/>
          <p:cNvSpPr txBox="1"/>
          <p:nvPr/>
        </p:nvSpPr>
        <p:spPr>
          <a:xfrm>
            <a:off x="8131832" y="5264887"/>
            <a:ext cx="7882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Player G</a:t>
            </a:r>
            <a:endParaRPr lang="en-US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9385310" y="4978828"/>
            <a:ext cx="4987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 smtClean="0"/>
              <a:t>Year</a:t>
            </a:r>
            <a:endParaRPr lang="en-US" sz="1400" u="sng" dirty="0"/>
          </a:p>
        </p:txBody>
      </p:sp>
      <p:sp>
        <p:nvSpPr>
          <p:cNvPr id="25" name="TextBox 24"/>
          <p:cNvSpPr txBox="1"/>
          <p:nvPr/>
        </p:nvSpPr>
        <p:spPr>
          <a:xfrm>
            <a:off x="8131831" y="5523454"/>
            <a:ext cx="786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Player H</a:t>
            </a:r>
            <a:endParaRPr lang="en-US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8131830" y="5782021"/>
            <a:ext cx="719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Player I</a:t>
            </a:r>
            <a:endParaRPr lang="en-US"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8130226" y="6050826"/>
            <a:ext cx="3193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…</a:t>
            </a:r>
            <a:endParaRPr 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9320327" y="5264887"/>
            <a:ext cx="80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1, 2, 3, 4</a:t>
            </a:r>
            <a:endParaRPr lang="en-US"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9320326" y="5523454"/>
            <a:ext cx="80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1, 2, 3, 4</a:t>
            </a:r>
            <a:endParaRPr lang="en-US"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9320325" y="5782021"/>
            <a:ext cx="80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1, 2, 3, 4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71200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Returning to our examples…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 smtClean="0"/>
              <a:t>Positive non-independence</a:t>
            </a:r>
            <a:r>
              <a:rPr lang="en-US" dirty="0" smtClean="0"/>
              <a:t>: linked data are more alike than non-linked data.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3706761" y="2426217"/>
              <a:ext cx="7054460" cy="25191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0892">
                      <a:extLst>
                        <a:ext uri="{9D8B030D-6E8A-4147-A177-3AD203B41FA5}">
                          <a16:colId xmlns:a16="http://schemas.microsoft.com/office/drawing/2014/main" val="27676538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3976971883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3905305623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808830282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561329432"/>
                        </a:ext>
                      </a:extLst>
                    </a:gridCol>
                  </a:tblGrid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School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Calculus I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College Algebra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err="1" smtClean="0"/>
                            <a:t>Resid_calc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err="1" smtClean="0"/>
                            <a:t>Resid_alg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5743855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660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510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-47.5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-45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2007918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2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740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560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32.5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8079458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780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72.5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95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8197495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4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500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-57.5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-55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0926197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𝑐𝑎𝑙𝑐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=707.5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𝑎𝑙𝑔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=555.0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78921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3706761" y="2426217"/>
              <a:ext cx="7054460" cy="25191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0892">
                      <a:extLst>
                        <a:ext uri="{9D8B030D-6E8A-4147-A177-3AD203B41FA5}">
                          <a16:colId xmlns:a16="http://schemas.microsoft.com/office/drawing/2014/main" val="27676538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3976971883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3905305623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808830282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561329432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School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Calculus I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College Algebra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err="1" smtClean="0"/>
                            <a:t>Resid_calc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err="1" smtClean="0"/>
                            <a:t>Resid_alg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574385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660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510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-47.5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-45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200791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2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740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560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32.5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807945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780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72.5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95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819749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4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500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-57.5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-55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0926197"/>
                      </a:ext>
                    </a:extLst>
                  </a:tr>
                  <a:tr h="598932"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66" t="-325510" r="-302597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25510" r="-201293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78921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491707" y="2941610"/>
            <a:ext cx="2788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Proficiency on a mathematical aptitude test as a function of Class: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38200" y="4743952"/>
                <a:ext cx="18763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𝑐𝑙𝑎𝑠𝑠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43952"/>
                <a:ext cx="1876347" cy="276999"/>
              </a:xfrm>
              <a:prstGeom prst="rect">
                <a:avLst/>
              </a:prstGeom>
              <a:blipFill>
                <a:blip r:embed="rId4"/>
                <a:stretch>
                  <a:fillRect l="-2606" t="-23913" r="-977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9069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Returning to our examples…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 smtClean="0"/>
              <a:t>Positive non-independence</a:t>
            </a:r>
            <a:r>
              <a:rPr lang="en-US" dirty="0" smtClean="0"/>
              <a:t>: linked data are more alike than non-linked data.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2741931"/>
                  </p:ext>
                </p:extLst>
              </p:nvPr>
            </p:nvGraphicFramePr>
            <p:xfrm>
              <a:off x="3706761" y="2426217"/>
              <a:ext cx="7054460" cy="25191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0892">
                      <a:extLst>
                        <a:ext uri="{9D8B030D-6E8A-4147-A177-3AD203B41FA5}">
                          <a16:colId xmlns:a16="http://schemas.microsoft.com/office/drawing/2014/main" val="27676538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3976971883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3905305623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808830282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561329432"/>
                        </a:ext>
                      </a:extLst>
                    </a:gridCol>
                  </a:tblGrid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School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Calculus I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College Algebra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err="1" smtClean="0"/>
                            <a:t>Resid_calc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err="1" smtClean="0"/>
                            <a:t>Resid_alg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5743855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660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510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-47.5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-45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2007918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2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740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560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32.5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8079458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780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72.5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95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8197495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4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500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-57.5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-55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0926197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𝑐𝑎𝑙𝑐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=707.5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𝑎𝑙𝑔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=555.0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78921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2741931"/>
                  </p:ext>
                </p:extLst>
              </p:nvPr>
            </p:nvGraphicFramePr>
            <p:xfrm>
              <a:off x="3706761" y="2426217"/>
              <a:ext cx="7054460" cy="25191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0892">
                      <a:extLst>
                        <a:ext uri="{9D8B030D-6E8A-4147-A177-3AD203B41FA5}">
                          <a16:colId xmlns:a16="http://schemas.microsoft.com/office/drawing/2014/main" val="27676538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3976971883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3905305623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808830282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561329432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School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Calculus I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College Algebra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err="1" smtClean="0"/>
                            <a:t>Resid_calc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err="1" smtClean="0"/>
                            <a:t>Resid_alg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574385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660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510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-47.5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-45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200791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2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740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560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32.5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807945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780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72.5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95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819749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4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500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-57.5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-55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0926197"/>
                      </a:ext>
                    </a:extLst>
                  </a:tr>
                  <a:tr h="598932"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66" t="-325510" r="-302597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25510" r="-201293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78921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491707" y="2941610"/>
            <a:ext cx="2788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Proficiency on a mathematical aptitude test as a function of Class: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38200" y="4743952"/>
                <a:ext cx="18763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𝑐𝑙𝑎𝑠𝑠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43952"/>
                <a:ext cx="1876347" cy="276999"/>
              </a:xfrm>
              <a:prstGeom prst="rect">
                <a:avLst/>
              </a:prstGeom>
              <a:blipFill>
                <a:blip r:embed="rId4"/>
                <a:stretch>
                  <a:fillRect l="-2606" t="-23913" r="-977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7881304" y="2962264"/>
            <a:ext cx="2708695" cy="154014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772396" y="5026602"/>
            <a:ext cx="2926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Clearly, the residuals of this model are not independent.</a:t>
            </a:r>
            <a:endParaRPr lang="en-US" dirty="0"/>
          </a:p>
        </p:txBody>
      </p:sp>
      <p:cxnSp>
        <p:nvCxnSpPr>
          <p:cNvPr id="12" name="Straight Arrow Connector 11"/>
          <p:cNvCxnSpPr>
            <a:stCxn id="9" idx="2"/>
            <a:endCxn id="10" idx="0"/>
          </p:cNvCxnSpPr>
          <p:nvPr/>
        </p:nvCxnSpPr>
        <p:spPr>
          <a:xfrm flipH="1">
            <a:off x="9235651" y="4502406"/>
            <a:ext cx="1" cy="5241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103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Returning to our examples…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 smtClean="0"/>
              <a:t>Positive non-independence</a:t>
            </a:r>
            <a:r>
              <a:rPr lang="en-US" dirty="0" smtClean="0"/>
              <a:t>: linked data are more alike than non-linked data.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3706761" y="2426217"/>
              <a:ext cx="7054460" cy="25191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0892">
                      <a:extLst>
                        <a:ext uri="{9D8B030D-6E8A-4147-A177-3AD203B41FA5}">
                          <a16:colId xmlns:a16="http://schemas.microsoft.com/office/drawing/2014/main" val="27676538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3976971883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3905305623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808830282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561329432"/>
                        </a:ext>
                      </a:extLst>
                    </a:gridCol>
                  </a:tblGrid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School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Calculus I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College Algebra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err="1" smtClean="0"/>
                            <a:t>Resid_calc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err="1" smtClean="0"/>
                            <a:t>Resid_alg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5743855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660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510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-47.5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-45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2007918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2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740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560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32.5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8079458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780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72.5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95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8197495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4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500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-57.5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-55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0926197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𝑐𝑎𝑙𝑐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=707.5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𝑎𝑙𝑔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=555.0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78921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3706761" y="2426217"/>
              <a:ext cx="7054460" cy="25191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0892">
                      <a:extLst>
                        <a:ext uri="{9D8B030D-6E8A-4147-A177-3AD203B41FA5}">
                          <a16:colId xmlns:a16="http://schemas.microsoft.com/office/drawing/2014/main" val="27676538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3976971883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3905305623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808830282"/>
                        </a:ext>
                      </a:extLst>
                    </a:gridCol>
                    <a:gridCol w="1410892">
                      <a:extLst>
                        <a:ext uri="{9D8B030D-6E8A-4147-A177-3AD203B41FA5}">
                          <a16:colId xmlns:a16="http://schemas.microsoft.com/office/drawing/2014/main" val="561329432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School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Calculus I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College Algebra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err="1" smtClean="0"/>
                            <a:t>Resid_calc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err="1" smtClean="0"/>
                            <a:t>Resid_alg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574385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660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510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-47.5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-45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200791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2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740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560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32.5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807945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780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72.5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95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819749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4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500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-57.5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-55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0926197"/>
                      </a:ext>
                    </a:extLst>
                  </a:tr>
                  <a:tr h="598932"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66" t="-325510" r="-302597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25510" r="-201293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78921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491707" y="2941610"/>
            <a:ext cx="2788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Proficiency on a mathematical aptitude test as a function of Class: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38200" y="4743952"/>
                <a:ext cx="18763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𝑐𝑙𝑎𝑠𝑠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43952"/>
                <a:ext cx="1876347" cy="276999"/>
              </a:xfrm>
              <a:prstGeom prst="rect">
                <a:avLst/>
              </a:prstGeom>
              <a:blipFill>
                <a:blip r:embed="rId4"/>
                <a:stretch>
                  <a:fillRect l="-2606" t="-23913" r="-977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7881304" y="2962264"/>
            <a:ext cx="2708695" cy="154014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772396" y="5026602"/>
            <a:ext cx="2926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Clearly, the residuals of this model are not independent.</a:t>
            </a:r>
            <a:endParaRPr lang="en-US" dirty="0"/>
          </a:p>
        </p:txBody>
      </p:sp>
      <p:cxnSp>
        <p:nvCxnSpPr>
          <p:cNvPr id="12" name="Straight Arrow Connector 11"/>
          <p:cNvCxnSpPr>
            <a:stCxn id="9" idx="2"/>
            <a:endCxn id="10" idx="0"/>
          </p:cNvCxnSpPr>
          <p:nvPr/>
        </p:nvCxnSpPr>
        <p:spPr>
          <a:xfrm flipH="1">
            <a:off x="9235651" y="4502406"/>
            <a:ext cx="1" cy="5241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38200" y="5912100"/>
            <a:ext cx="99230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If we ignore the fact that these classes are nested within schools, we violate a major assumption!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118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Returning to our examples…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 smtClean="0"/>
              <a:t>Negative non-independence</a:t>
            </a:r>
            <a:r>
              <a:rPr lang="en-US" dirty="0" smtClean="0"/>
              <a:t>: linked data are more different than non-linked data.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2472418"/>
                  </p:ext>
                </p:extLst>
              </p:nvPr>
            </p:nvGraphicFramePr>
            <p:xfrm>
              <a:off x="4227370" y="2466834"/>
              <a:ext cx="7332025" cy="2255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6405">
                      <a:extLst>
                        <a:ext uri="{9D8B030D-6E8A-4147-A177-3AD203B41FA5}">
                          <a16:colId xmlns:a16="http://schemas.microsoft.com/office/drawing/2014/main" val="27676538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3976971883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3905305623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2873688168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1048351360"/>
                        </a:ext>
                      </a:extLst>
                    </a:gridCol>
                  </a:tblGrid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School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End Term Proficiency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Change over the Term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1" i="0" u="none" strike="noStrike" dirty="0" err="1">
                              <a:solidFill>
                                <a:srgbClr val="FFFF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resid_prof</a:t>
                          </a:r>
                          <a:endParaRPr lang="en-US" sz="16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resid_growth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95743855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585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100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-46.25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27.5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72007918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2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-22.5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108079458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715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83.75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-42.5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608197495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4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575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110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-56.25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37.5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640926197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𝑝𝑟𝑜𝑓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=631.25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𝑔𝑟𝑤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=72.50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endParaRPr lang="en-US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endParaRPr lang="en-US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494141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2472418"/>
                  </p:ext>
                </p:extLst>
              </p:nvPr>
            </p:nvGraphicFramePr>
            <p:xfrm>
              <a:off x="4227370" y="2466834"/>
              <a:ext cx="7332025" cy="2255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6405">
                      <a:extLst>
                        <a:ext uri="{9D8B030D-6E8A-4147-A177-3AD203B41FA5}">
                          <a16:colId xmlns:a16="http://schemas.microsoft.com/office/drawing/2014/main" val="27676538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3976971883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3905305623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2873688168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1048351360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School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End Term </a:t>
                          </a:r>
                          <a:r>
                            <a:rPr lang="en-US" sz="1600" dirty="0" smtClean="0"/>
                            <a:t>Proficiency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Change over the Term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1" i="0" u="none" strike="noStrike" dirty="0" err="1">
                              <a:solidFill>
                                <a:srgbClr val="FFFF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resid_prof</a:t>
                          </a:r>
                          <a:endParaRPr lang="en-US" sz="16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resid_growth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9574385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585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100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-46.25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27.5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7200791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2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-22.5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10807945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715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83.75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-42.5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60819749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4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575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110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-56.25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37.5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64092619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415" t="-578182" r="-301245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250" t="-578182" r="-202500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endParaRPr lang="en-US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endParaRPr lang="en-US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494141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/>
          <p:cNvSpPr txBox="1"/>
          <p:nvPr/>
        </p:nvSpPr>
        <p:spPr>
          <a:xfrm>
            <a:off x="1043796" y="3137142"/>
            <a:ext cx="2977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Proficiency versus Growth on a mathematical aptitude test: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38200" y="4743952"/>
                <a:ext cx="18122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𝑝𝑟𝑜𝑓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43952"/>
                <a:ext cx="1812291" cy="276999"/>
              </a:xfrm>
              <a:prstGeom prst="rect">
                <a:avLst/>
              </a:prstGeom>
              <a:blipFill>
                <a:blip r:embed="rId4"/>
                <a:stretch>
                  <a:fillRect l="-2694" t="-23913" r="-2020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4549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Returning to our examples…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 smtClean="0"/>
              <a:t>Negative non-independence</a:t>
            </a:r>
            <a:r>
              <a:rPr lang="en-US" dirty="0" smtClean="0"/>
              <a:t>: linked data are more different than non-linked data.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4227370" y="2466834"/>
              <a:ext cx="7332025" cy="2255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6405">
                      <a:extLst>
                        <a:ext uri="{9D8B030D-6E8A-4147-A177-3AD203B41FA5}">
                          <a16:colId xmlns:a16="http://schemas.microsoft.com/office/drawing/2014/main" val="27676538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3976971883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3905305623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2873688168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1048351360"/>
                        </a:ext>
                      </a:extLst>
                    </a:gridCol>
                  </a:tblGrid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School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End Term Proficiency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Change over the Term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1" i="0" u="none" strike="noStrike" dirty="0" err="1">
                              <a:solidFill>
                                <a:srgbClr val="FFFF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resid_prof</a:t>
                          </a:r>
                          <a:endParaRPr lang="en-US" sz="16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resid_growth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95743855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585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100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-46.25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27.5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72007918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2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-22.5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108079458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715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83.75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-42.5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608197495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4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575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110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-56.25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37.5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640926197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𝑝𝑟𝑜𝑓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=631.25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𝑔𝑟𝑤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=72.50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endParaRPr lang="en-US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endParaRPr lang="en-US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494141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4227370" y="2466834"/>
              <a:ext cx="7332025" cy="2255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6405">
                      <a:extLst>
                        <a:ext uri="{9D8B030D-6E8A-4147-A177-3AD203B41FA5}">
                          <a16:colId xmlns:a16="http://schemas.microsoft.com/office/drawing/2014/main" val="27676538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3976971883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3905305623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2873688168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1048351360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School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End Term </a:t>
                          </a:r>
                          <a:r>
                            <a:rPr lang="en-US" sz="1600" dirty="0" smtClean="0"/>
                            <a:t>Proficiency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Change over the Term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1" i="0" u="none" strike="noStrike" dirty="0" err="1">
                              <a:solidFill>
                                <a:srgbClr val="FFFF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resid_prof</a:t>
                          </a:r>
                          <a:endParaRPr lang="en-US" sz="16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resid_growth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9574385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585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100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-46.25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27.5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7200791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2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-22.5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10807945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715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83.75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-42.5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60819749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4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575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110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-56.25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37.5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64092619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415" t="-578182" r="-301245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250" t="-578182" r="-202500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endParaRPr lang="en-US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endParaRPr lang="en-US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494141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/>
          <p:cNvSpPr txBox="1"/>
          <p:nvPr/>
        </p:nvSpPr>
        <p:spPr>
          <a:xfrm>
            <a:off x="1043796" y="3137142"/>
            <a:ext cx="2977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Proficiency versus Growth on a mathematical aptitude test: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38200" y="4743952"/>
                <a:ext cx="18122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𝑝𝑟𝑜𝑓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43952"/>
                <a:ext cx="1812291" cy="276999"/>
              </a:xfrm>
              <a:prstGeom prst="rect">
                <a:avLst/>
              </a:prstGeom>
              <a:blipFill>
                <a:blip r:embed="rId4"/>
                <a:stretch>
                  <a:fillRect l="-2694" t="-23913" r="-2020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8536199" y="3024387"/>
            <a:ext cx="3023196" cy="154014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584542" y="5020951"/>
            <a:ext cx="2926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Clearly, the residuals of this model are not independent.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9" idx="2"/>
            <a:endCxn id="10" idx="0"/>
          </p:cNvCxnSpPr>
          <p:nvPr/>
        </p:nvCxnSpPr>
        <p:spPr>
          <a:xfrm>
            <a:off x="10047797" y="4564529"/>
            <a:ext cx="0" cy="4564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086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Returning to our examples…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 smtClean="0"/>
              <a:t>Negative non-independence</a:t>
            </a:r>
            <a:r>
              <a:rPr lang="en-US" dirty="0" smtClean="0"/>
              <a:t>: linked data are more different than non-linked data.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4227370" y="2466834"/>
              <a:ext cx="7332025" cy="2255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6405">
                      <a:extLst>
                        <a:ext uri="{9D8B030D-6E8A-4147-A177-3AD203B41FA5}">
                          <a16:colId xmlns:a16="http://schemas.microsoft.com/office/drawing/2014/main" val="27676538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3976971883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3905305623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2873688168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1048351360"/>
                        </a:ext>
                      </a:extLst>
                    </a:gridCol>
                  </a:tblGrid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School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End Term Proficiency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Change over the Term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1" i="0" u="none" strike="noStrike" dirty="0" err="1">
                              <a:solidFill>
                                <a:srgbClr val="FFFF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resid_prof</a:t>
                          </a:r>
                          <a:endParaRPr lang="en-US" sz="16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resid_growth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95743855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585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100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-46.25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27.5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72007918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2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-22.5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108079458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715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83.75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-42.5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608197495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4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575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110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-56.25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37.5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640926197"/>
                      </a:ext>
                    </a:extLst>
                  </a:tr>
                  <a:tr h="316717"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𝑝𝑟𝑜𝑓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=631.25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𝑔𝑟𝑤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=72.50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endParaRPr lang="en-US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endParaRPr lang="en-US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494141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4227370" y="2466834"/>
              <a:ext cx="7332025" cy="2255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6405">
                      <a:extLst>
                        <a:ext uri="{9D8B030D-6E8A-4147-A177-3AD203B41FA5}">
                          <a16:colId xmlns:a16="http://schemas.microsoft.com/office/drawing/2014/main" val="27676538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3976971883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3905305623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2873688168"/>
                        </a:ext>
                      </a:extLst>
                    </a:gridCol>
                    <a:gridCol w="1466405">
                      <a:extLst>
                        <a:ext uri="{9D8B030D-6E8A-4147-A177-3AD203B41FA5}">
                          <a16:colId xmlns:a16="http://schemas.microsoft.com/office/drawing/2014/main" val="1048351360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School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End Term </a:t>
                          </a:r>
                          <a:r>
                            <a:rPr lang="en-US" sz="1600" dirty="0" smtClean="0"/>
                            <a:t>Proficiency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Change over the Term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1" i="0" u="none" strike="noStrike" dirty="0" err="1">
                              <a:solidFill>
                                <a:srgbClr val="FFFF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resid_prof</a:t>
                          </a:r>
                          <a:endParaRPr lang="en-US" sz="16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resid_growth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9574385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585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100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-46.25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27.5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7200791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2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650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-22.5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10807945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715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30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83.75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-42.5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60819749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4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575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110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-56.25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37.5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64092619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415" t="-578182" r="-301245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250" t="-578182" r="-202500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endParaRPr lang="en-US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rtl="0" fontAlgn="ctr"/>
                          <a:endParaRPr lang="en-US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494141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/>
          <p:cNvSpPr txBox="1"/>
          <p:nvPr/>
        </p:nvSpPr>
        <p:spPr>
          <a:xfrm>
            <a:off x="1043796" y="3137142"/>
            <a:ext cx="2977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Proficiency versus Growth on a mathematical aptitude test: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38200" y="4743952"/>
                <a:ext cx="18122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𝑝𝑟𝑜𝑓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43952"/>
                <a:ext cx="1812291" cy="276999"/>
              </a:xfrm>
              <a:prstGeom prst="rect">
                <a:avLst/>
              </a:prstGeom>
              <a:blipFill>
                <a:blip r:embed="rId4"/>
                <a:stretch>
                  <a:fillRect l="-2694" t="-23913" r="-2020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8536199" y="3024387"/>
            <a:ext cx="3023196" cy="154014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584542" y="5020951"/>
            <a:ext cx="2926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Clearly, the residuals of this model are not independent.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9" idx="2"/>
            <a:endCxn id="10" idx="0"/>
          </p:cNvCxnSpPr>
          <p:nvPr/>
        </p:nvCxnSpPr>
        <p:spPr>
          <a:xfrm>
            <a:off x="10047797" y="4564529"/>
            <a:ext cx="0" cy="4564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8200" y="5912100"/>
            <a:ext cx="107211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If we ignore the fact that these classes are nested within schools, we violate a major assumption!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178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we handle the violation of this assumption?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Control the data so that we no longer dealing with non-independent observation.</a:t>
            </a:r>
          </a:p>
          <a:p>
            <a:pPr lvl="1"/>
            <a:r>
              <a:rPr lang="en-US" dirty="0" smtClean="0"/>
              <a:t>I.e., if scores from the same school are more likely to be like each other, we need to remove the </a:t>
            </a:r>
            <a:r>
              <a:rPr lang="en-US" b="1" i="1" u="sng" dirty="0" smtClean="0"/>
              <a:t>variation due to school</a:t>
            </a:r>
            <a:r>
              <a:rPr lang="en-US" dirty="0" smtClean="0"/>
              <a:t>, then we can get a clean look at variation due to </a:t>
            </a:r>
            <a:r>
              <a:rPr lang="en-US" b="1" i="1" u="sng" dirty="0" smtClean="0"/>
              <a:t>class</a:t>
            </a:r>
            <a:r>
              <a:rPr lang="en-US" dirty="0" smtClean="0"/>
              <a:t> or </a:t>
            </a:r>
            <a:r>
              <a:rPr lang="en-US" b="1" i="1" u="sng" dirty="0" smtClean="0"/>
              <a:t>proficiency versus growth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The exact way that we do this will depend on whether our data are crossed or nested.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29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factors are </a:t>
            </a:r>
            <a:r>
              <a:rPr lang="en-US" b="1" i="1" u="sng" dirty="0"/>
              <a:t>crossed</a:t>
            </a:r>
            <a:r>
              <a:rPr lang="en-US" dirty="0"/>
              <a:t> when every </a:t>
            </a:r>
            <a:r>
              <a:rPr lang="en-US" dirty="0" smtClean="0"/>
              <a:t>level </a:t>
            </a:r>
            <a:r>
              <a:rPr lang="en-US" dirty="0"/>
              <a:t>of one factor co-occurs in the design with every </a:t>
            </a:r>
            <a:r>
              <a:rPr lang="en-US" dirty="0" smtClean="0"/>
              <a:t>level </a:t>
            </a:r>
            <a:r>
              <a:rPr lang="en-US" dirty="0"/>
              <a:t>of the other factor. </a:t>
            </a:r>
            <a:endParaRPr lang="en-US" dirty="0" smtClean="0"/>
          </a:p>
          <a:p>
            <a:pPr lvl="1"/>
            <a:r>
              <a:rPr lang="en-US" dirty="0" smtClean="0"/>
              <a:t>I.e., there </a:t>
            </a:r>
            <a:r>
              <a:rPr lang="en-US" dirty="0"/>
              <a:t>is at least one observation in every combination of </a:t>
            </a:r>
            <a:r>
              <a:rPr lang="en-US" dirty="0" smtClean="0"/>
              <a:t>levels </a:t>
            </a:r>
            <a:r>
              <a:rPr lang="en-US" dirty="0"/>
              <a:t>for the two factors.</a:t>
            </a:r>
          </a:p>
          <a:p>
            <a:endParaRPr lang="en-US" dirty="0"/>
          </a:p>
          <a:p>
            <a:r>
              <a:rPr lang="en-US" dirty="0"/>
              <a:t>A factor is </a:t>
            </a:r>
            <a:r>
              <a:rPr lang="en-US" b="1" i="1" u="sng" dirty="0"/>
              <a:t>nested</a:t>
            </a:r>
            <a:r>
              <a:rPr lang="en-US" dirty="0"/>
              <a:t> within another factor when each category of the first factor co-occurs with only one category of the other. </a:t>
            </a:r>
            <a:endParaRPr lang="en-US" dirty="0" smtClean="0"/>
          </a:p>
          <a:p>
            <a:pPr lvl="1"/>
            <a:r>
              <a:rPr lang="en-US" dirty="0" smtClean="0"/>
              <a:t>I.e., an </a:t>
            </a:r>
            <a:r>
              <a:rPr lang="en-US" dirty="0"/>
              <a:t>observation has to be within one </a:t>
            </a:r>
            <a:r>
              <a:rPr lang="en-US" dirty="0" smtClean="0"/>
              <a:t>level </a:t>
            </a:r>
            <a:r>
              <a:rPr lang="en-US" dirty="0"/>
              <a:t>of Factor 2 in order to have a specific </a:t>
            </a:r>
            <a:r>
              <a:rPr lang="en-US" dirty="0" smtClean="0"/>
              <a:t>level </a:t>
            </a:r>
            <a:r>
              <a:rPr lang="en-US" dirty="0"/>
              <a:t>of Factor 1. </a:t>
            </a:r>
            <a:r>
              <a:rPr lang="en-US" dirty="0" smtClean="0"/>
              <a:t>Not all </a:t>
            </a:r>
            <a:r>
              <a:rPr lang="en-US" dirty="0"/>
              <a:t>combinations of </a:t>
            </a:r>
            <a:r>
              <a:rPr lang="en-US" dirty="0" smtClean="0"/>
              <a:t>levels are represented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6376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many experimental paradigms, we refer to </a:t>
            </a:r>
            <a:r>
              <a:rPr lang="en-US" b="1" i="1" u="sng" dirty="0" smtClean="0"/>
              <a:t>crossed</a:t>
            </a:r>
            <a:r>
              <a:rPr lang="en-US" dirty="0" smtClean="0"/>
              <a:t> factors as </a:t>
            </a:r>
            <a:r>
              <a:rPr lang="en-US" dirty="0" smtClean="0"/>
              <a:t>“within-subject” </a:t>
            </a:r>
            <a:r>
              <a:rPr lang="en-US" dirty="0" smtClean="0"/>
              <a:t>and </a:t>
            </a:r>
            <a:r>
              <a:rPr lang="en-US" b="1" i="1" u="sng" dirty="0" smtClean="0"/>
              <a:t>nested</a:t>
            </a:r>
            <a:r>
              <a:rPr lang="en-US" dirty="0" smtClean="0"/>
              <a:t> factors as </a:t>
            </a:r>
            <a:r>
              <a:rPr lang="en-US" dirty="0" smtClean="0"/>
              <a:t>“between-subjects”.</a:t>
            </a:r>
            <a:endParaRPr lang="en-US" dirty="0" smtClean="0"/>
          </a:p>
          <a:p>
            <a:pPr lvl="1"/>
            <a:r>
              <a:rPr lang="en-US" dirty="0" smtClean="0"/>
              <a:t>This nomenclature is valid, but understanding crossed versus nested as terms will help us understand more complicated statistical models later. </a:t>
            </a:r>
          </a:p>
          <a:p>
            <a:pPr lvl="1"/>
            <a:endParaRPr lang="en-US" dirty="0"/>
          </a:p>
          <a:p>
            <a:r>
              <a:rPr lang="en-US" dirty="0" smtClean="0"/>
              <a:t>To illustrate, consider two different training paradigms for changing body composition (%BF).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9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illustrate, consider two different training paradigms for changing body composition (%BF)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2924355"/>
            <a:ext cx="303474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Participants at different levels:</a:t>
            </a:r>
          </a:p>
          <a:p>
            <a:r>
              <a:rPr lang="en-US" dirty="0" smtClean="0"/>
              <a:t>	</a:t>
            </a:r>
            <a:r>
              <a:rPr lang="en-US" u="sng" dirty="0" smtClean="0"/>
              <a:t>Time Point</a:t>
            </a:r>
          </a:p>
          <a:p>
            <a:r>
              <a:rPr lang="en-US" u="sng" dirty="0" smtClean="0"/>
              <a:t>Group	Pre	Post</a:t>
            </a:r>
          </a:p>
          <a:p>
            <a:r>
              <a:rPr lang="en-US" i="1" dirty="0" smtClean="0"/>
              <a:t>HIIT	10	10</a:t>
            </a:r>
          </a:p>
          <a:p>
            <a:r>
              <a:rPr lang="en-US" i="1" dirty="0" smtClean="0"/>
              <a:t>Aerobic	10	10</a:t>
            </a:r>
            <a:endParaRPr lang="en-US" i="1" dirty="0"/>
          </a:p>
        </p:txBody>
      </p:sp>
      <p:sp>
        <p:nvSpPr>
          <p:cNvPr id="6" name="TextBox 5"/>
          <p:cNvSpPr txBox="1"/>
          <p:nvPr/>
        </p:nvSpPr>
        <p:spPr>
          <a:xfrm>
            <a:off x="838201" y="4735325"/>
            <a:ext cx="30347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Time and Group are crossed factors (every level of group is represented at every level of time).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898468" y="2777706"/>
            <a:ext cx="3034742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Participants at different levels:</a:t>
            </a:r>
          </a:p>
          <a:p>
            <a:r>
              <a:rPr lang="en-US" dirty="0" smtClean="0"/>
              <a:t>	</a:t>
            </a:r>
            <a:r>
              <a:rPr lang="en-US" u="sng" dirty="0" smtClean="0"/>
              <a:t>Time Point</a:t>
            </a:r>
          </a:p>
          <a:p>
            <a:r>
              <a:rPr lang="en-US" u="sng" dirty="0" smtClean="0"/>
              <a:t>Subject	Pre	Post</a:t>
            </a:r>
          </a:p>
          <a:p>
            <a:r>
              <a:rPr lang="en-US" dirty="0" smtClean="0"/>
              <a:t>1	1	1</a:t>
            </a:r>
          </a:p>
          <a:p>
            <a:r>
              <a:rPr lang="en-US" dirty="0" smtClean="0"/>
              <a:t>2	1	1</a:t>
            </a:r>
          </a:p>
          <a:p>
            <a:r>
              <a:rPr lang="en-US" dirty="0" smtClean="0"/>
              <a:t>3	1	1</a:t>
            </a:r>
          </a:p>
          <a:p>
            <a:r>
              <a:rPr lang="en-US" dirty="0" smtClean="0"/>
              <a:t>4	1	1</a:t>
            </a:r>
          </a:p>
          <a:p>
            <a:r>
              <a:rPr lang="en-US" dirty="0" smtClean="0"/>
              <a:t>5	1	1</a:t>
            </a:r>
          </a:p>
          <a:p>
            <a:r>
              <a:rPr lang="en-US" dirty="0" smtClean="0"/>
              <a:t>…</a:t>
            </a:r>
          </a:p>
          <a:p>
            <a:r>
              <a:rPr lang="en-US" dirty="0" smtClean="0"/>
              <a:t>17	1	1</a:t>
            </a:r>
          </a:p>
          <a:p>
            <a:r>
              <a:rPr lang="en-US" dirty="0" smtClean="0"/>
              <a:t>18	1	1</a:t>
            </a:r>
          </a:p>
          <a:p>
            <a:r>
              <a:rPr lang="en-US" dirty="0" smtClean="0"/>
              <a:t>19	1	1</a:t>
            </a:r>
          </a:p>
          <a:p>
            <a:r>
              <a:rPr lang="en-US" dirty="0" smtClean="0"/>
              <a:t>20	1	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59253" y="3054705"/>
            <a:ext cx="28156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Time and Subject are also crossed factors (every level of Subject is represented at every level of Time).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417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illustrate, consider two different training paradigms for changing body composition (%BF)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395479" y="2863970"/>
            <a:ext cx="3034742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Participants at different levels:</a:t>
            </a:r>
          </a:p>
          <a:p>
            <a:r>
              <a:rPr lang="en-US" dirty="0" smtClean="0"/>
              <a:t>	</a:t>
            </a:r>
            <a:r>
              <a:rPr lang="en-US" u="sng" dirty="0" smtClean="0"/>
              <a:t>Group</a:t>
            </a:r>
          </a:p>
          <a:p>
            <a:r>
              <a:rPr lang="en-US" u="sng" dirty="0" smtClean="0"/>
              <a:t>Subject	HIIT	Aerobic</a:t>
            </a:r>
          </a:p>
          <a:p>
            <a:r>
              <a:rPr lang="en-US" dirty="0" smtClean="0"/>
              <a:t>1	2	0</a:t>
            </a:r>
          </a:p>
          <a:p>
            <a:r>
              <a:rPr lang="en-US" dirty="0" smtClean="0"/>
              <a:t>2	2	0</a:t>
            </a:r>
          </a:p>
          <a:p>
            <a:r>
              <a:rPr lang="en-US" dirty="0" smtClean="0"/>
              <a:t>…</a:t>
            </a:r>
          </a:p>
          <a:p>
            <a:r>
              <a:rPr lang="en-US" dirty="0" smtClean="0"/>
              <a:t>9	2	0</a:t>
            </a:r>
          </a:p>
          <a:p>
            <a:r>
              <a:rPr lang="en-US" dirty="0" smtClean="0"/>
              <a:t>10	2	0</a:t>
            </a:r>
          </a:p>
          <a:p>
            <a:r>
              <a:rPr lang="en-US" dirty="0" smtClean="0"/>
              <a:t>11	0	2</a:t>
            </a:r>
          </a:p>
          <a:p>
            <a:r>
              <a:rPr lang="en-US" dirty="0" smtClean="0"/>
              <a:t>12	0	2</a:t>
            </a:r>
          </a:p>
          <a:p>
            <a:r>
              <a:rPr lang="en-US" dirty="0" smtClean="0"/>
              <a:t>…</a:t>
            </a:r>
          </a:p>
          <a:p>
            <a:r>
              <a:rPr lang="en-US" dirty="0" smtClean="0"/>
              <a:t>19	0	2</a:t>
            </a:r>
          </a:p>
          <a:p>
            <a:r>
              <a:rPr lang="en-US" dirty="0" smtClean="0"/>
              <a:t>20	0	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5057" y="3320139"/>
            <a:ext cx="44014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Subject, however, is nested within group, because only some subjects are represented in the HIIT group (1-10) and some are in the Aerobic group (11-20). </a:t>
            </a:r>
          </a:p>
          <a:p>
            <a:endParaRPr lang="en-US" dirty="0" smtClean="0"/>
          </a:p>
          <a:p>
            <a:r>
              <a:rPr lang="en-US" dirty="0" smtClean="0"/>
              <a:t>(I.e., Only some levels of Subject are represented at every level of Time).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277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Moving ahead: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the next two modules, we will demonstrate how to deal with non-independence </a:t>
            </a:r>
          </a:p>
          <a:p>
            <a:pPr lvl="1"/>
            <a:r>
              <a:rPr lang="en-US" dirty="0" smtClean="0"/>
              <a:t>in </a:t>
            </a:r>
            <a:r>
              <a:rPr lang="en-US" b="1" i="1" u="sng" dirty="0" smtClean="0"/>
              <a:t>nested</a:t>
            </a:r>
            <a:r>
              <a:rPr lang="en-US" dirty="0" smtClean="0"/>
              <a:t> designs (e.g., students within classrooms), </a:t>
            </a:r>
          </a:p>
          <a:p>
            <a:pPr lvl="1"/>
            <a:r>
              <a:rPr lang="en-US" dirty="0" smtClean="0"/>
              <a:t>in </a:t>
            </a:r>
            <a:r>
              <a:rPr lang="en-US" b="1" i="1" u="sng" dirty="0" smtClean="0"/>
              <a:t>crossed</a:t>
            </a:r>
            <a:r>
              <a:rPr lang="en-US" dirty="0" smtClean="0"/>
              <a:t> designs (e.g., participants exposed to different experimental conditions), </a:t>
            </a:r>
          </a:p>
          <a:p>
            <a:pPr lvl="1"/>
            <a:r>
              <a:rPr lang="en-US" dirty="0" smtClean="0"/>
              <a:t>and then in situations where we are </a:t>
            </a:r>
            <a:r>
              <a:rPr lang="en-US" b="1" i="1" u="sng" dirty="0" smtClean="0"/>
              <a:t>mixing</a:t>
            </a:r>
            <a:r>
              <a:rPr lang="en-US" dirty="0" smtClean="0"/>
              <a:t> crossed and nested variables.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867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1207</Words>
  <Application>Microsoft Office PowerPoint</Application>
  <PresentationFormat>Widescreen</PresentationFormat>
  <Paragraphs>359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Office Theme</vt:lpstr>
      <vt:lpstr>Models with Non-Independent Errors</vt:lpstr>
      <vt:lpstr>Assumptions so far…</vt:lpstr>
      <vt:lpstr>Types of non-independence.</vt:lpstr>
      <vt:lpstr>Sources of non-independence.</vt:lpstr>
      <vt:lpstr>Returning to our examples…</vt:lpstr>
      <vt:lpstr>Returning to our examples…</vt:lpstr>
      <vt:lpstr>Returning to our examples…</vt:lpstr>
      <vt:lpstr>Returning to our examples…</vt:lpstr>
      <vt:lpstr>Returning to our examples…</vt:lpstr>
      <vt:lpstr>Returning to our examples…</vt:lpstr>
      <vt:lpstr>How do we handle the violation of this assumption?</vt:lpstr>
      <vt:lpstr>Definitions</vt:lpstr>
      <vt:lpstr>Definitions</vt:lpstr>
      <vt:lpstr>Definitions</vt:lpstr>
      <vt:lpstr>Definitions</vt:lpstr>
      <vt:lpstr>Moving ahead: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Nonlinear and Moderated Models.</dc:title>
  <dc:creator>Keith Lohse</dc:creator>
  <cp:lastModifiedBy>Keith Lohse</cp:lastModifiedBy>
  <cp:revision>32</cp:revision>
  <dcterms:created xsi:type="dcterms:W3CDTF">2019-02-09T14:44:07Z</dcterms:created>
  <dcterms:modified xsi:type="dcterms:W3CDTF">2019-03-26T18:22:31Z</dcterms:modified>
</cp:coreProperties>
</file>
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82" r:id="rId2"/>
    <p:sldId id="391" r:id="rId3"/>
    <p:sldId id="383" r:id="rId4"/>
    <p:sldId id="384" r:id="rId5"/>
    <p:sldId id="403" r:id="rId6"/>
    <p:sldId id="385" r:id="rId7"/>
    <p:sldId id="390" r:id="rId8"/>
    <p:sldId id="392" r:id="rId9"/>
    <p:sldId id="393" r:id="rId10"/>
    <p:sldId id="394" r:id="rId11"/>
    <p:sldId id="386" r:id="rId12"/>
    <p:sldId id="387" r:id="rId13"/>
    <p:sldId id="395" r:id="rId14"/>
    <p:sldId id="396" r:id="rId15"/>
    <p:sldId id="397" r:id="rId16"/>
    <p:sldId id="401" r:id="rId17"/>
    <p:sldId id="388" r:id="rId18"/>
    <p:sldId id="389" r:id="rId19"/>
    <p:sldId id="398" r:id="rId20"/>
    <p:sldId id="399" r:id="rId21"/>
    <p:sldId id="400" r:id="rId22"/>
    <p:sldId id="40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59" d="100"/>
          <a:sy n="59" d="100"/>
        </p:scale>
        <p:origin x="9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4/14/2020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4/14/2020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Systematics Violations of Error Assumptions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</a:t>
            </a:r>
            <a:r>
              <a:rPr lang="en-US" b="1" dirty="0" smtClean="0"/>
              <a:t>PhD, </a:t>
            </a:r>
            <a:r>
              <a:rPr lang="en-US" b="1" dirty="0" err="1" smtClean="0"/>
              <a:t>PStat</a:t>
            </a:r>
            <a:endParaRPr lang="en-US" b="1" dirty="0"/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Normality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15043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i="1" dirty="0" smtClean="0"/>
              <a:t>Assumption</a:t>
            </a:r>
            <a:r>
              <a:rPr lang="en-US" dirty="0" smtClean="0"/>
              <a:t>: Our residuals follow a normal distribution.</a:t>
            </a:r>
          </a:p>
          <a:p>
            <a:endParaRPr lang="en-US" dirty="0"/>
          </a:p>
          <a:p>
            <a:r>
              <a:rPr lang="en-US" dirty="0" smtClean="0"/>
              <a:t>This assumption can be checked with a quantile-quantile normal plot, histogram, or density plot of the residuals. </a:t>
            </a:r>
          </a:p>
          <a:p>
            <a:endParaRPr lang="en-US" dirty="0"/>
          </a:p>
          <a:p>
            <a:r>
              <a:rPr lang="en-US" dirty="0" smtClean="0"/>
              <a:t>It can also be checked with goodness of fit tests like the </a:t>
            </a:r>
            <a:r>
              <a:rPr lang="en-US" b="1" i="1" dirty="0" smtClean="0"/>
              <a:t>Shapiro-Wilk</a:t>
            </a:r>
            <a:r>
              <a:rPr lang="en-US" dirty="0" smtClean="0"/>
              <a:t> test or the </a:t>
            </a:r>
            <a:r>
              <a:rPr lang="en-US" b="1" i="1" dirty="0" smtClean="0"/>
              <a:t>Kolmogorov-Smirnov</a:t>
            </a:r>
            <a:r>
              <a:rPr lang="en-US" dirty="0" smtClean="0"/>
              <a:t> test.</a:t>
            </a:r>
          </a:p>
          <a:p>
            <a:pPr lvl="1"/>
            <a:r>
              <a:rPr lang="en-US" dirty="0" smtClean="0"/>
              <a:t>But remember that violation is continuous not categorical.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690688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Normality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15043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 smtClean="0"/>
              <a:t>Assumption</a:t>
            </a:r>
            <a:r>
              <a:rPr lang="en-US" dirty="0" smtClean="0"/>
              <a:t>: Our residuals follow a normal distribution.</a:t>
            </a:r>
          </a:p>
          <a:p>
            <a:endParaRPr lang="en-US" dirty="0"/>
          </a:p>
          <a:p>
            <a:r>
              <a:rPr lang="en-US" b="1" dirty="0" smtClean="0">
                <a:solidFill>
                  <a:srgbClr val="FF0000"/>
                </a:solidFill>
              </a:rPr>
              <a:t>What happens if we violate this assumption?</a:t>
            </a:r>
          </a:p>
          <a:p>
            <a:pPr lvl="1"/>
            <a:r>
              <a:rPr lang="en-US" dirty="0" smtClean="0"/>
              <a:t>Violation of the normality assumption does not create bias or inefficiency in our estimation.</a:t>
            </a:r>
          </a:p>
          <a:p>
            <a:pPr lvl="1"/>
            <a:r>
              <a:rPr lang="en-US" dirty="0" smtClean="0"/>
              <a:t>However, it does affect our error terms and thus the calculation of p-values.</a:t>
            </a:r>
          </a:p>
          <a:p>
            <a:pPr lvl="1"/>
            <a:r>
              <a:rPr lang="en-US" b="1" i="1" dirty="0" smtClean="0"/>
              <a:t>The more your residuals depart from normality, the less reliable your p-values are.</a:t>
            </a:r>
            <a:endParaRPr lang="en-US" b="1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630" y="1825625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3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Homoscedasticity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25625"/>
            <a:ext cx="61504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 smtClean="0"/>
              <a:t>Assumption</a:t>
            </a:r>
            <a:r>
              <a:rPr lang="en-US" dirty="0" smtClean="0"/>
              <a:t>: Our residuals have an equal variance across all levels of the fitted-values.</a:t>
            </a:r>
          </a:p>
          <a:p>
            <a:endParaRPr lang="en-US" dirty="0" smtClean="0"/>
          </a:p>
          <a:p>
            <a:r>
              <a:rPr lang="en-US" dirty="0" smtClean="0"/>
              <a:t>This assumption can be checked with a Scale-Location plot, or by regressing the standardized/</a:t>
            </a:r>
            <a:r>
              <a:rPr lang="en-US" dirty="0" err="1" smtClean="0"/>
              <a:t>studentized</a:t>
            </a:r>
            <a:r>
              <a:rPr lang="en-US" dirty="0" smtClean="0"/>
              <a:t> residuals onto the fitted values.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604" y="1825625"/>
            <a:ext cx="3810196" cy="38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4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Homoscedasticity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825625"/>
            <a:ext cx="61504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 smtClean="0"/>
              <a:t>Assumption</a:t>
            </a:r>
            <a:r>
              <a:rPr lang="en-US" dirty="0" smtClean="0"/>
              <a:t>: </a:t>
            </a:r>
            <a:r>
              <a:rPr lang="en-US" dirty="0"/>
              <a:t>Our residuals have an equal variance across all levels of the fitted-values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>
                <a:solidFill>
                  <a:srgbClr val="FF0000"/>
                </a:solidFill>
              </a:rPr>
              <a:t>What happens if we violate this assumption</a:t>
            </a:r>
            <a:r>
              <a:rPr lang="en-US" b="1" dirty="0" smtClean="0">
                <a:solidFill>
                  <a:srgbClr val="FF0000"/>
                </a:solidFill>
              </a:rPr>
              <a:t>?</a:t>
            </a:r>
          </a:p>
          <a:p>
            <a:pPr lvl="1"/>
            <a:r>
              <a:rPr lang="en-US" dirty="0" smtClean="0"/>
              <a:t>In OLS regression, we assume constant variance in the calculation of standard errors, which are necessary for the calculation of p-values.</a:t>
            </a:r>
          </a:p>
          <a:p>
            <a:pPr lvl="1"/>
            <a:r>
              <a:rPr lang="en-US" b="1" i="1" dirty="0"/>
              <a:t>The more </a:t>
            </a:r>
            <a:r>
              <a:rPr lang="en-US" b="1" i="1" dirty="0" smtClean="0"/>
              <a:t>heterogeneous your residuals, </a:t>
            </a:r>
            <a:r>
              <a:rPr lang="en-US" b="1" i="1" dirty="0"/>
              <a:t>the less reliable your p-values are.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b="1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604" y="1690688"/>
            <a:ext cx="3810196" cy="38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0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Well-Behaved Residuals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73" y="1825625"/>
            <a:ext cx="3810196" cy="25401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6172004" y="1526913"/>
            <a:ext cx="3810196" cy="5080262"/>
            <a:chOff x="6172004" y="1526913"/>
            <a:chExt cx="3810196" cy="508026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2004" y="1526913"/>
              <a:ext cx="3810196" cy="2540131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2004" y="4067044"/>
              <a:ext cx="3810196" cy="2540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868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73" y="1825625"/>
            <a:ext cx="3810196" cy="25401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Well-Behaved Residuals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02" y="2046368"/>
            <a:ext cx="3810196" cy="38101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45037" y="4696091"/>
                <a:ext cx="3801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𝐶𝑜𝑑𝑖𝑛𝑔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𝐴𝑔𝑒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𝐺𝑟𝑜𝑢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37" y="4696091"/>
                <a:ext cx="3801232" cy="276999"/>
              </a:xfrm>
              <a:prstGeom prst="rect">
                <a:avLst/>
              </a:prstGeom>
              <a:blipFill>
                <a:blip r:embed="rId4"/>
                <a:stretch>
                  <a:fillRect l="-481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6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73" y="1825625"/>
            <a:ext cx="3810196" cy="25401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Well-Behaved Residuals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02" y="2010290"/>
            <a:ext cx="3810196" cy="38101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45037" y="4696091"/>
                <a:ext cx="3801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𝐶𝑜𝑑𝑖𝑛𝑔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𝐴𝑔𝑒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𝐺𝑟𝑜𝑢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37" y="4696091"/>
                <a:ext cx="3801232" cy="276999"/>
              </a:xfrm>
              <a:prstGeom prst="rect">
                <a:avLst/>
              </a:prstGeom>
              <a:blipFill>
                <a:blip r:embed="rId4"/>
                <a:stretch>
                  <a:fillRect l="-481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6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73" y="1825625"/>
            <a:ext cx="3810196" cy="25401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Well-Behaved Residuals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02" y="2010290"/>
            <a:ext cx="3810196" cy="38101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45037" y="4696091"/>
                <a:ext cx="3801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𝐶𝑜𝑑𝑖𝑛𝑔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𝐴𝑔𝑒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𝐺𝑟𝑜𝑢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37" y="4696091"/>
                <a:ext cx="3801232" cy="276999"/>
              </a:xfrm>
              <a:prstGeom prst="rect">
                <a:avLst/>
              </a:prstGeom>
              <a:blipFill>
                <a:blip r:embed="rId4"/>
                <a:stretch>
                  <a:fillRect l="-481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65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73" y="1825625"/>
            <a:ext cx="3810196" cy="25401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Well-Behaved Residuals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020" y="2010290"/>
            <a:ext cx="3810196" cy="38101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45037" y="4696091"/>
                <a:ext cx="3801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𝐶𝑜𝑑𝑖𝑛𝑔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𝐴𝑔𝑒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𝐺𝑟𝑜𝑢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37" y="4696091"/>
                <a:ext cx="3801232" cy="276999"/>
              </a:xfrm>
              <a:prstGeom prst="rect">
                <a:avLst/>
              </a:prstGeom>
              <a:blipFill>
                <a:blip r:embed="rId4"/>
                <a:stretch>
                  <a:fillRect l="-481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02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Clear Violations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810196" cy="38101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64630" y="2180545"/>
            <a:ext cx="5508171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 this example, we will be looking at a binomial outcome (did a person experience a fall or not) as a function of their score on a cognitive assessment. </a:t>
            </a:r>
          </a:p>
          <a:p>
            <a:endParaRPr lang="en-US" dirty="0"/>
          </a:p>
          <a:p>
            <a:r>
              <a:rPr lang="en-US" dirty="0" smtClean="0"/>
              <a:t>We would never want to do this, as the binomial data will lead to substantial violations of our assumptions, but it is illustrative for educational purposes.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27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810196" cy="38101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Clear Violations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020" y="2010290"/>
            <a:ext cx="3810196" cy="38101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329362" y="5651617"/>
                <a:ext cx="3155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𝐴𝑀𝑃𝐴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62" y="5651617"/>
                <a:ext cx="3155992" cy="276999"/>
              </a:xfrm>
              <a:prstGeom prst="rect">
                <a:avLst/>
              </a:prstGeom>
              <a:blipFill>
                <a:blip r:embed="rId4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30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810196" cy="38101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Clear Violations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020" y="2010290"/>
            <a:ext cx="3810196" cy="38101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329362" y="5651617"/>
                <a:ext cx="3155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𝐴𝑀𝑃𝐴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62" y="5651617"/>
                <a:ext cx="3155992" cy="276999"/>
              </a:xfrm>
              <a:prstGeom prst="rect">
                <a:avLst/>
              </a:prstGeom>
              <a:blipFill>
                <a:blip r:embed="rId4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51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810196" cy="38101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Clear Violations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02" y="1979920"/>
            <a:ext cx="3810196" cy="38101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329362" y="5651617"/>
                <a:ext cx="3155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𝐴𝑀𝑃𝐴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62" y="5651617"/>
                <a:ext cx="3155992" cy="276999"/>
              </a:xfrm>
              <a:prstGeom prst="rect">
                <a:avLst/>
              </a:prstGeom>
              <a:blipFill>
                <a:blip r:embed="rId4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67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3810196" cy="38101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Clear Violations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02" y="2010290"/>
            <a:ext cx="3810196" cy="38101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329362" y="5651617"/>
                <a:ext cx="3155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𝐴𝑀𝑃𝐴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9362" y="5651617"/>
                <a:ext cx="3155992" cy="276999"/>
              </a:xfrm>
              <a:prstGeom prst="rect">
                <a:avLst/>
              </a:prstGeom>
              <a:blipFill>
                <a:blip r:embed="rId4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44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Clear Violations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What do we do in these situations?</a:t>
            </a:r>
          </a:p>
          <a:p>
            <a:pPr lvl="1"/>
            <a:r>
              <a:rPr lang="en-US" dirty="0" smtClean="0"/>
              <a:t>Generally, when our assumptions are this substantially violated, that means we have chosen a poor statistical model to explain our data.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This will require us to use “generalized linear models”, of which there are several families:</a:t>
            </a:r>
          </a:p>
          <a:p>
            <a:pPr lvl="2"/>
            <a:r>
              <a:rPr lang="en-US" dirty="0" smtClean="0"/>
              <a:t>For instance, with a binomial outcome we should use a </a:t>
            </a:r>
            <a:r>
              <a:rPr lang="en-US" b="1" dirty="0" smtClean="0"/>
              <a:t>logistic regression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For count data, we will need to use </a:t>
            </a:r>
            <a:r>
              <a:rPr lang="en-US" b="1" dirty="0" err="1" smtClean="0"/>
              <a:t>poisson</a:t>
            </a:r>
            <a:r>
              <a:rPr lang="en-US" b="1" dirty="0" smtClean="0"/>
              <a:t> regression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For categorical data (e.g., choices among multiple candidate), we will need to use </a:t>
            </a:r>
            <a:r>
              <a:rPr lang="en-US" b="1" dirty="0" smtClean="0"/>
              <a:t>multinomial logistic regression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For ordinal data (e.g., ranks), we will need to use </a:t>
            </a:r>
            <a:r>
              <a:rPr lang="en-US" b="1" dirty="0" smtClean="0"/>
              <a:t>ordered logistic regression</a:t>
            </a:r>
            <a:r>
              <a:rPr lang="en-US" dirty="0" smtClean="0"/>
              <a:t>.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Fortunately, everything we have learned carriers over, so you should be well suited to tackle these advanced topics in future classes.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4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5. Difficult Residuals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50" y="1898475"/>
            <a:ext cx="5080261" cy="3810196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6958760" y="1263442"/>
            <a:ext cx="3810196" cy="5080262"/>
            <a:chOff x="6947874" y="628409"/>
            <a:chExt cx="3810196" cy="508026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7874" y="628409"/>
              <a:ext cx="3810196" cy="2540131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7874" y="3168540"/>
              <a:ext cx="3810196" cy="2540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097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5. Difficult Residuals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020" y="2010290"/>
            <a:ext cx="3810196" cy="38101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76" y="1566682"/>
            <a:ext cx="4572000" cy="3429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28676" y="4995682"/>
                <a:ext cx="4604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" y="4995682"/>
                <a:ext cx="4604529" cy="276999"/>
              </a:xfrm>
              <a:prstGeom prst="rect">
                <a:avLst/>
              </a:prstGeom>
              <a:blipFill>
                <a:blip r:embed="rId4"/>
                <a:stretch>
                  <a:fillRect l="-795" t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59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5. Difficult Residuals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020" y="1825624"/>
            <a:ext cx="3810196" cy="38101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76" y="1566682"/>
            <a:ext cx="4572000" cy="3429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28676" y="4995682"/>
                <a:ext cx="4604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" y="4995682"/>
                <a:ext cx="4604529" cy="276999"/>
              </a:xfrm>
              <a:prstGeom prst="rect">
                <a:avLst/>
              </a:prstGeom>
              <a:blipFill>
                <a:blip r:embed="rId4"/>
                <a:stretch>
                  <a:fillRect l="-795" t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605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5. Difficult Residuals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02" y="2010290"/>
            <a:ext cx="3810196" cy="38101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76" y="1566682"/>
            <a:ext cx="4572000" cy="3429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28676" y="4995682"/>
                <a:ext cx="4604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" y="4995682"/>
                <a:ext cx="4604529" cy="276999"/>
              </a:xfrm>
              <a:prstGeom prst="rect">
                <a:avLst/>
              </a:prstGeom>
              <a:blipFill>
                <a:blip r:embed="rId4"/>
                <a:stretch>
                  <a:fillRect l="-795" t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93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5. Difficult Residuals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4/15/2020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020" y="2010290"/>
            <a:ext cx="3810196" cy="38101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76" y="1566682"/>
            <a:ext cx="4572000" cy="3429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28676" y="4995682"/>
                <a:ext cx="4604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76" y="4995682"/>
                <a:ext cx="4604529" cy="276999"/>
              </a:xfrm>
              <a:prstGeom prst="rect">
                <a:avLst/>
              </a:prstGeom>
              <a:blipFill>
                <a:blip r:embed="rId4"/>
                <a:stretch>
                  <a:fillRect l="-795" t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705502" y="1640958"/>
            <a:ext cx="380571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</a:t>
            </a:r>
            <a:r>
              <a:rPr lang="en-US" dirty="0" smtClean="0">
                <a:latin typeface="Consolas" panose="020B0609020204030204" pitchFamily="49" charset="0"/>
              </a:rPr>
              <a:t>lot(</a:t>
            </a:r>
            <a:r>
              <a:rPr lang="en-US" dirty="0" err="1" smtClean="0">
                <a:latin typeface="Consolas" panose="020B0609020204030204" pitchFamily="49" charset="0"/>
              </a:rPr>
              <a:t>model_name</a:t>
            </a:r>
            <a:r>
              <a:rPr lang="en-US" dirty="0" smtClean="0">
                <a:latin typeface="Consolas" panose="020B0609020204030204" pitchFamily="49" charset="0"/>
              </a:rPr>
              <a:t>)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17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5. Difficult Residuals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do we do in these situations?</a:t>
            </a:r>
          </a:p>
          <a:p>
            <a:pPr lvl="1"/>
            <a:r>
              <a:rPr lang="en-US" dirty="0" smtClean="0"/>
              <a:t>In these situations, we might transform of the outcome variable.</a:t>
            </a:r>
          </a:p>
          <a:p>
            <a:pPr lvl="2"/>
            <a:r>
              <a:rPr lang="en-US" dirty="0" smtClean="0"/>
              <a:t>E.g., the square-root or log-transformation to remove positive skew.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Visually assessing our data, we might also consider different models.</a:t>
            </a:r>
          </a:p>
          <a:p>
            <a:pPr lvl="2"/>
            <a:r>
              <a:rPr lang="en-US" dirty="0" smtClean="0"/>
              <a:t>E.g., in this example we have a non-linear relationship between Age and Rate, but specifically at low values of Age. </a:t>
            </a:r>
          </a:p>
          <a:p>
            <a:pPr lvl="2"/>
            <a:r>
              <a:rPr lang="en-US" dirty="0" smtClean="0"/>
              <a:t>Splines, polynomials, or a categorical approach to age might prove to be a better explanation of our data, and lead to better behaved residuals.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In cases when homoscedasticity is violated, there are other methods for getting “</a:t>
            </a:r>
            <a:r>
              <a:rPr lang="en-US" b="1" dirty="0" smtClean="0"/>
              <a:t>robust”</a:t>
            </a:r>
            <a:r>
              <a:rPr lang="en-US" dirty="0" smtClean="0"/>
              <a:t> standard errors that lead to more accurate p-values.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5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1149</Words>
  <Application>Microsoft Office PowerPoint</Application>
  <PresentationFormat>Widescreen</PresentationFormat>
  <Paragraphs>139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Consolas</vt:lpstr>
      <vt:lpstr>Office Theme</vt:lpstr>
      <vt:lpstr>Systematics Violations of Error Assumptions</vt:lpstr>
      <vt:lpstr>1. Normality</vt:lpstr>
      <vt:lpstr>1. Normality</vt:lpstr>
      <vt:lpstr>2. Homoscedasticity</vt:lpstr>
      <vt:lpstr>2. Homoscedasticity</vt:lpstr>
      <vt:lpstr>3. Well-Behaved Residuals</vt:lpstr>
      <vt:lpstr>3. Well-Behaved Residuals</vt:lpstr>
      <vt:lpstr>3. Well-Behaved Residuals</vt:lpstr>
      <vt:lpstr>3. Well-Behaved Residuals</vt:lpstr>
      <vt:lpstr>3. Well-Behaved Residuals</vt:lpstr>
      <vt:lpstr>4. Clear Violations</vt:lpstr>
      <vt:lpstr>4. Clear Violations</vt:lpstr>
      <vt:lpstr>4. Clear Violations</vt:lpstr>
      <vt:lpstr>4. Clear Violations</vt:lpstr>
      <vt:lpstr>4. Clear Violations</vt:lpstr>
      <vt:lpstr>4. Clear Violations</vt:lpstr>
      <vt:lpstr> 5. Difficult Residuals </vt:lpstr>
      <vt:lpstr> 5. Difficult Residuals </vt:lpstr>
      <vt:lpstr> 5. Difficult Residuals </vt:lpstr>
      <vt:lpstr> 5. Difficult Residuals </vt:lpstr>
      <vt:lpstr> 5. Difficult Residuals </vt:lpstr>
      <vt:lpstr> 5. Difficult Residuals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83</cp:revision>
  <dcterms:created xsi:type="dcterms:W3CDTF">2019-02-09T14:44:07Z</dcterms:created>
  <dcterms:modified xsi:type="dcterms:W3CDTF">2020-04-15T14:43:21Z</dcterms:modified>
</cp:coreProperties>
</file>
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3"/>
  </p:notesMasterIdLst>
  <p:sldIdLst>
    <p:sldId id="382" r:id="rId2"/>
    <p:sldId id="394" r:id="rId3"/>
    <p:sldId id="395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2" d="100"/>
          <a:sy n="92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0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7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2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Estimating Statistical Power using PRE and F-distributions.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decisions and types of errors.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0677"/>
            <a:ext cx="10515600" cy="181628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False Positive (Type 1) Error</a:t>
            </a:r>
            <a:r>
              <a:rPr lang="en-US" dirty="0"/>
              <a:t>: We reject Model C when model C is ultimately correct. </a:t>
            </a:r>
          </a:p>
          <a:p>
            <a:endParaRPr lang="en-US" dirty="0"/>
          </a:p>
          <a:p>
            <a:r>
              <a:rPr lang="en-US" b="1" dirty="0"/>
              <a:t>False Negative (Type 2) Error</a:t>
            </a:r>
            <a:r>
              <a:rPr lang="en-US" dirty="0"/>
              <a:t>: We do not reject Model C when model C is ultimately not correct.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F9A996-FDE6-4EC6-BB32-368F9AEE5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43389"/>
              </p:ext>
            </p:extLst>
          </p:nvPr>
        </p:nvGraphicFramePr>
        <p:xfrm>
          <a:off x="4020129" y="1945640"/>
          <a:ext cx="7333671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4557">
                  <a:extLst>
                    <a:ext uri="{9D8B030D-6E8A-4147-A177-3AD203B41FA5}">
                      <a16:colId xmlns:a16="http://schemas.microsoft.com/office/drawing/2014/main" val="2619248366"/>
                    </a:ext>
                  </a:extLst>
                </a:gridCol>
                <a:gridCol w="2444557">
                  <a:extLst>
                    <a:ext uri="{9D8B030D-6E8A-4147-A177-3AD203B41FA5}">
                      <a16:colId xmlns:a16="http://schemas.microsoft.com/office/drawing/2014/main" val="3459458114"/>
                    </a:ext>
                  </a:extLst>
                </a:gridCol>
                <a:gridCol w="2444557">
                  <a:extLst>
                    <a:ext uri="{9D8B030D-6E8A-4147-A177-3AD203B41FA5}">
                      <a16:colId xmlns:a16="http://schemas.microsoft.com/office/drawing/2014/main" val="1039842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i="1" u="none" dirty="0"/>
                        <a:t>True State of Nature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67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i="1" dirty="0"/>
                        <a:t>Statistical Decision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Model C Correct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Model C Incorrect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64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1" dirty="0"/>
                        <a:t>“Reject Model C”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31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1" dirty="0"/>
                        <a:t>“Do not reject Model C”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3938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D381C-1C18-4815-9FD5-F63502056FDD}"/>
                  </a:ext>
                </a:extLst>
              </p:cNvPr>
              <p:cNvSpPr txBox="1"/>
              <p:nvPr/>
            </p:nvSpPr>
            <p:spPr>
              <a:xfrm>
                <a:off x="1295029" y="2222410"/>
                <a:ext cx="783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D381C-1C18-4815-9FD5-F63502056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29" y="2222410"/>
                <a:ext cx="783868" cy="276999"/>
              </a:xfrm>
              <a:prstGeom prst="rect">
                <a:avLst/>
              </a:prstGeom>
              <a:blipFill>
                <a:blip r:embed="rId3"/>
                <a:stretch>
                  <a:fillRect l="-6977" t="-4444" r="-310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6F3638-B3B9-49DB-8B6E-727493B4BB8A}"/>
                  </a:ext>
                </a:extLst>
              </p:cNvPr>
              <p:cNvSpPr txBox="1"/>
              <p:nvPr/>
            </p:nvSpPr>
            <p:spPr>
              <a:xfrm>
                <a:off x="1295029" y="3003235"/>
                <a:ext cx="14822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6F3638-B3B9-49DB-8B6E-727493B4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29" y="3003235"/>
                <a:ext cx="1482201" cy="276999"/>
              </a:xfrm>
              <a:prstGeom prst="rect">
                <a:avLst/>
              </a:prstGeom>
              <a:blipFill>
                <a:blip r:embed="rId4"/>
                <a:stretch>
                  <a:fillRect l="-3689" t="-4444" r="-123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8C4C92E-B5A8-4A1F-A197-34D78F20691C}"/>
              </a:ext>
            </a:extLst>
          </p:cNvPr>
          <p:cNvSpPr txBox="1"/>
          <p:nvPr/>
        </p:nvSpPr>
        <p:spPr>
          <a:xfrm>
            <a:off x="1165924" y="189588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5A064-828D-4F5A-8495-C413738433C3}"/>
              </a:ext>
            </a:extLst>
          </p:cNvPr>
          <p:cNvSpPr txBox="1"/>
          <p:nvPr/>
        </p:nvSpPr>
        <p:spPr>
          <a:xfrm>
            <a:off x="1165924" y="2678797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</p:spTree>
    <p:extLst>
      <p:ext uri="{BB962C8B-B14F-4D97-AF65-F5344CB8AC3E}">
        <p14:creationId xmlns:p14="http://schemas.microsoft.com/office/powerpoint/2010/main" val="298336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false positive rate (</a:t>
            </a:r>
            <a:r>
              <a:rPr lang="el-GR" dirty="0"/>
              <a:t>α</a:t>
            </a:r>
            <a:r>
              <a:rPr lang="en-US" dirty="0"/>
              <a:t>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0677"/>
            <a:ext cx="10515600" cy="1816286"/>
          </a:xfrm>
        </p:spPr>
        <p:txBody>
          <a:bodyPr>
            <a:normAutofit/>
          </a:bodyPr>
          <a:lstStyle/>
          <a:p>
            <a:r>
              <a:rPr lang="en-US" b="1" dirty="0"/>
              <a:t>Given the null distributions,</a:t>
            </a:r>
            <a:r>
              <a:rPr lang="en-US" dirty="0"/>
              <a:t> we can find *critical* values of F.</a:t>
            </a:r>
          </a:p>
          <a:p>
            <a:r>
              <a:rPr lang="en-US" dirty="0"/>
              <a:t>These values divide the F-distribution into different proportions, allowing us to make statements about the probability of F-observed.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BE849-1714-495C-8EAE-30183FFED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8090"/>
            <a:ext cx="4572000" cy="27432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9710B-CEA2-477B-93F8-9088A1EBCCA3}"/>
              </a:ext>
            </a:extLst>
          </p:cNvPr>
          <p:cNvCxnSpPr/>
          <p:nvPr/>
        </p:nvCxnSpPr>
        <p:spPr>
          <a:xfrm flipV="1">
            <a:off x="2410691" y="2140527"/>
            <a:ext cx="0" cy="115339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3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false positive rate (</a:t>
            </a:r>
            <a:r>
              <a:rPr lang="el-GR" dirty="0"/>
              <a:t>α</a:t>
            </a:r>
            <a:r>
              <a:rPr lang="en-US" dirty="0"/>
              <a:t>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0677"/>
            <a:ext cx="10515600" cy="1816286"/>
          </a:xfrm>
        </p:spPr>
        <p:txBody>
          <a:bodyPr>
            <a:normAutofit/>
          </a:bodyPr>
          <a:lstStyle/>
          <a:p>
            <a:r>
              <a:rPr lang="en-US" b="1" dirty="0"/>
              <a:t>Given the null distributions,</a:t>
            </a:r>
            <a:r>
              <a:rPr lang="en-US" dirty="0"/>
              <a:t> we can find *critical* values of F.</a:t>
            </a:r>
          </a:p>
          <a:p>
            <a:r>
              <a:rPr lang="en-US" dirty="0"/>
              <a:t>These values divide the F-distribution into different proportions, allowing us to make statements about the probability of F-observed.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BE849-1714-495C-8EAE-30183FFED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8090"/>
            <a:ext cx="4572000" cy="27432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9710B-CEA2-477B-93F8-9088A1EBCCA3}"/>
              </a:ext>
            </a:extLst>
          </p:cNvPr>
          <p:cNvCxnSpPr/>
          <p:nvPr/>
        </p:nvCxnSpPr>
        <p:spPr>
          <a:xfrm flipV="1">
            <a:off x="2410691" y="2140527"/>
            <a:ext cx="0" cy="115339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6D8FB4-2AF6-434B-893E-D6161948B76E}"/>
              </a:ext>
            </a:extLst>
          </p:cNvPr>
          <p:cNvCxnSpPr/>
          <p:nvPr/>
        </p:nvCxnSpPr>
        <p:spPr>
          <a:xfrm flipV="1">
            <a:off x="3224646" y="2140527"/>
            <a:ext cx="0" cy="1153391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1BC27-E1F5-4E37-B6F3-1E5F1BF0F196}"/>
                  </a:ext>
                </a:extLst>
              </p:cNvPr>
              <p:cNvSpPr txBox="1"/>
              <p:nvPr/>
            </p:nvSpPr>
            <p:spPr>
              <a:xfrm>
                <a:off x="5229504" y="1721797"/>
                <a:ext cx="1916230" cy="296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1,9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=5.12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1BC27-E1F5-4E37-B6F3-1E5F1BF0F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504" y="1721797"/>
                <a:ext cx="1916230" cy="296556"/>
              </a:xfrm>
              <a:prstGeom prst="rect">
                <a:avLst/>
              </a:prstGeom>
              <a:blipFill>
                <a:blip r:embed="rId4"/>
                <a:stretch>
                  <a:fillRect l="-2548" r="-2548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D95D91-9BF3-40F6-B2E9-1CA3AABC8584}"/>
                  </a:ext>
                </a:extLst>
              </p:cNvPr>
              <p:cNvSpPr txBox="1"/>
              <p:nvPr/>
            </p:nvSpPr>
            <p:spPr>
              <a:xfrm>
                <a:off x="5219113" y="2139823"/>
                <a:ext cx="2108591" cy="296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1,9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D95D91-9BF3-40F6-B2E9-1CA3AABC8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113" y="2139823"/>
                <a:ext cx="2108591" cy="296556"/>
              </a:xfrm>
              <a:prstGeom prst="rect">
                <a:avLst/>
              </a:prstGeom>
              <a:blipFill>
                <a:blip r:embed="rId5"/>
                <a:stretch>
                  <a:fillRect l="-578" r="-1156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09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false positive rate (</a:t>
            </a:r>
            <a:r>
              <a:rPr lang="el-GR" dirty="0"/>
              <a:t>α</a:t>
            </a:r>
            <a:r>
              <a:rPr lang="en-US" dirty="0"/>
              <a:t>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0677"/>
            <a:ext cx="10515600" cy="1816286"/>
          </a:xfrm>
        </p:spPr>
        <p:txBody>
          <a:bodyPr>
            <a:normAutofit/>
          </a:bodyPr>
          <a:lstStyle/>
          <a:p>
            <a:r>
              <a:rPr lang="en-US" b="1" dirty="0"/>
              <a:t>Given the null distributions,</a:t>
            </a:r>
            <a:r>
              <a:rPr lang="en-US" dirty="0"/>
              <a:t> we can find *critical* values of F.</a:t>
            </a:r>
          </a:p>
          <a:p>
            <a:r>
              <a:rPr lang="en-US" dirty="0"/>
              <a:t>These values divide the F-distribution into different proportions, allowing us to make statements about the probability of F-observed.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BE849-1714-495C-8EAE-30183FFED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8090"/>
            <a:ext cx="4572000" cy="27432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9710B-CEA2-477B-93F8-9088A1EBCCA3}"/>
              </a:ext>
            </a:extLst>
          </p:cNvPr>
          <p:cNvCxnSpPr/>
          <p:nvPr/>
        </p:nvCxnSpPr>
        <p:spPr>
          <a:xfrm flipV="1">
            <a:off x="2410691" y="2140527"/>
            <a:ext cx="0" cy="115339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6D8FB4-2AF6-434B-893E-D6161948B76E}"/>
              </a:ext>
            </a:extLst>
          </p:cNvPr>
          <p:cNvCxnSpPr/>
          <p:nvPr/>
        </p:nvCxnSpPr>
        <p:spPr>
          <a:xfrm flipV="1">
            <a:off x="3224646" y="2140527"/>
            <a:ext cx="0" cy="1153391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1BC27-E1F5-4E37-B6F3-1E5F1BF0F196}"/>
                  </a:ext>
                </a:extLst>
              </p:cNvPr>
              <p:cNvSpPr txBox="1"/>
              <p:nvPr/>
            </p:nvSpPr>
            <p:spPr>
              <a:xfrm>
                <a:off x="5229504" y="1721797"/>
                <a:ext cx="1916230" cy="296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1,9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=5.12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1BC27-E1F5-4E37-B6F3-1E5F1BF0F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504" y="1721797"/>
                <a:ext cx="1916230" cy="296556"/>
              </a:xfrm>
              <a:prstGeom prst="rect">
                <a:avLst/>
              </a:prstGeom>
              <a:blipFill>
                <a:blip r:embed="rId4"/>
                <a:stretch>
                  <a:fillRect l="-2548" r="-2548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D95D91-9BF3-40F6-B2E9-1CA3AABC8584}"/>
                  </a:ext>
                </a:extLst>
              </p:cNvPr>
              <p:cNvSpPr txBox="1"/>
              <p:nvPr/>
            </p:nvSpPr>
            <p:spPr>
              <a:xfrm>
                <a:off x="5219113" y="2139823"/>
                <a:ext cx="2108591" cy="296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1,9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D95D91-9BF3-40F6-B2E9-1CA3AABC8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113" y="2139823"/>
                <a:ext cx="2108591" cy="296556"/>
              </a:xfrm>
              <a:prstGeom prst="rect">
                <a:avLst/>
              </a:prstGeom>
              <a:blipFill>
                <a:blip r:embed="rId5"/>
                <a:stretch>
                  <a:fillRect l="-578" r="-1156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8C8EC4-57BA-4C91-B126-1ECBE112CB09}"/>
                  </a:ext>
                </a:extLst>
              </p:cNvPr>
              <p:cNvSpPr txBox="1"/>
              <p:nvPr/>
            </p:nvSpPr>
            <p:spPr>
              <a:xfrm>
                <a:off x="7605560" y="752664"/>
                <a:ext cx="3748240" cy="3139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en-US" dirty="0"/>
                  <a:t> then we would reject the null hypothesis. </a:t>
                </a:r>
              </a:p>
              <a:p>
                <a:endParaRPr lang="en-US" dirty="0"/>
              </a:p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determines how conservative we want to be about this decision. Lower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means fewer FP errors, but also more FN errors (all else being equal).</a:t>
                </a:r>
              </a:p>
              <a:p>
                <a:endParaRPr lang="en-US" dirty="0"/>
              </a:p>
              <a:p>
                <a:r>
                  <a:rPr lang="en-US" b="1" i="1" dirty="0"/>
                  <a:t>So, how can we avoid FP errors and reduce the change of FN errors?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8C8EC4-57BA-4C91-B126-1ECBE112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560" y="752664"/>
                <a:ext cx="3748240" cy="3139321"/>
              </a:xfrm>
              <a:prstGeom prst="rect">
                <a:avLst/>
              </a:prstGeom>
              <a:blipFill>
                <a:blip r:embed="rId6"/>
                <a:stretch>
                  <a:fillRect l="-1297" t="-774" r="-1945" b="-19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52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Statistical power is the probability of rejecting the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null</a:t>
                </a:r>
                <a:r>
                  <a:rPr lang="en-US" dirty="0"/>
                  <a:t> hypothesis when a specific </a:t>
                </a:r>
                <a:r>
                  <a:rPr lang="en-US" b="1" u="sng" dirty="0">
                    <a:solidFill>
                      <a:schemeClr val="accent1"/>
                    </a:solidFill>
                  </a:rPr>
                  <a:t>alternative</a:t>
                </a:r>
                <a:r>
                  <a:rPr lang="en-US" dirty="0"/>
                  <a:t> hypothesis is assumed. </a:t>
                </a:r>
              </a:p>
              <a:p>
                <a:pPr lvl="1"/>
                <a:r>
                  <a:rPr lang="en-US" dirty="0"/>
                  <a:t>We know what the null F-distribution would look like, but we need make some informed assumptions about the effect we expect.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To distinguish this effect from the PRE we observe in our sample, the book refers to this value as the “</a:t>
                </a:r>
                <a:r>
                  <a:rPr lang="en-US" b="1" i="1" dirty="0"/>
                  <a:t>True PRE” </a:t>
                </a:r>
                <a:r>
                  <a:rPr lang="en-US" dirty="0"/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This estimate should ideally be based on previous empirical data or a critical meaningful value (e.g., what is the smallest clinically meaningful change?).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When all else fails, there are “rule of thumb” effect-sizes that can be a useful starting point.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32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0B1C9-0D06-45C1-BBC5-F7F9B0F0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For instance, the difference in mass between adult men and women in the United States is about 0.56 standard deviations. </a:t>
            </a:r>
            <a:r>
              <a:rPr lang="en-US" sz="1600" dirty="0"/>
              <a:t>(NHANES dataset. </a:t>
            </a:r>
            <a:r>
              <a:rPr lang="en-US" sz="1600" dirty="0" err="1"/>
              <a:t>Heymsfield</a:t>
            </a:r>
            <a:r>
              <a:rPr lang="en-US" sz="1600" dirty="0"/>
              <a:t> et al., 2014)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0C784D-DCEF-497A-82E5-4E8E3CB40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7486"/>
            <a:ext cx="4761905" cy="28571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B623314-F635-45F5-AC3D-D7727DC4BE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00104" y="3305825"/>
                <a:ext cx="5753695" cy="27888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By many, this would be considered a “moderate-sized” effect.</a:t>
                </a:r>
              </a:p>
              <a:p>
                <a:endParaRPr lang="en-US" dirty="0"/>
              </a:p>
              <a:p>
                <a:r>
                  <a:rPr lang="en-US" dirty="0"/>
                  <a:t>This standardized difference translates into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𝟎𝟕𝟑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B623314-F635-45F5-AC3D-D7727DC4B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104" y="3305825"/>
                <a:ext cx="5753695" cy="2788804"/>
              </a:xfrm>
              <a:prstGeom prst="rect">
                <a:avLst/>
              </a:prstGeom>
              <a:blipFill>
                <a:blip r:embed="rId3"/>
                <a:stretch>
                  <a:fillRect l="-1909" t="-3493" r="-1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357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Our power to detect this assumed difference thus depends on FP rate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FN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the sample size.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1043" t="-7339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6C919-03BD-4013-9DF8-5BDDC1FA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86125"/>
            <a:ext cx="5691601" cy="2141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BC6367-59D7-4810-8CF9-C692AFC59D79}"/>
              </a:ext>
            </a:extLst>
          </p:cNvPr>
          <p:cNvSpPr txBox="1"/>
          <p:nvPr/>
        </p:nvSpPr>
        <p:spPr>
          <a:xfrm>
            <a:off x="2984770" y="2823647"/>
            <a:ext cx="13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n/group =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/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Given our assumed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=0.073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, our Power (1-</a:t>
                </a:r>
                <a:r>
                  <a:rPr lang="el-GR" dirty="0"/>
                  <a:t>β</a:t>
                </a:r>
                <a:r>
                  <a:rPr lang="en-US" dirty="0"/>
                  <a:t>) = 0.22.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blipFill>
                <a:blip r:embed="rId4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416275F-2D9E-4FA9-AFCB-E81CD8444E3D}"/>
              </a:ext>
            </a:extLst>
          </p:cNvPr>
          <p:cNvSpPr txBox="1">
            <a:spLocks/>
          </p:cNvSpPr>
          <p:nvPr/>
        </p:nvSpPr>
        <p:spPr>
          <a:xfrm>
            <a:off x="6847609" y="3286126"/>
            <a:ext cx="4426527" cy="2141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we have 10 people per group, we correctly conclude that men weigh more than women (on average) in only 22% of studies. </a:t>
            </a:r>
          </a:p>
        </p:txBody>
      </p:sp>
    </p:spTree>
    <p:extLst>
      <p:ext uri="{BB962C8B-B14F-4D97-AF65-F5344CB8AC3E}">
        <p14:creationId xmlns:p14="http://schemas.microsoft.com/office/powerpoint/2010/main" val="9816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ED9445-A6D0-4C7D-BEAC-27789DF4B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84430"/>
            <a:ext cx="5691601" cy="2141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Our power to detect this assumed difference thus depends on FP rate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FN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the sample size.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3"/>
                <a:stretch>
                  <a:fillRect l="-1043" t="-7339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C6367-59D7-4810-8CF9-C692AFC59D79}"/>
              </a:ext>
            </a:extLst>
          </p:cNvPr>
          <p:cNvSpPr txBox="1"/>
          <p:nvPr/>
        </p:nvSpPr>
        <p:spPr>
          <a:xfrm>
            <a:off x="2984770" y="2823647"/>
            <a:ext cx="13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n/group =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/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Given our assumed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=0.073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, our Power (1-</a:t>
                </a:r>
                <a:r>
                  <a:rPr lang="el-GR" dirty="0"/>
                  <a:t>β</a:t>
                </a:r>
                <a:r>
                  <a:rPr lang="en-US" dirty="0"/>
                  <a:t>) = 0.41.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blipFill>
                <a:blip r:embed="rId4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416275F-2D9E-4FA9-AFCB-E81CD8444E3D}"/>
              </a:ext>
            </a:extLst>
          </p:cNvPr>
          <p:cNvSpPr txBox="1">
            <a:spLocks/>
          </p:cNvSpPr>
          <p:nvPr/>
        </p:nvSpPr>
        <p:spPr>
          <a:xfrm>
            <a:off x="6847609" y="3286126"/>
            <a:ext cx="4426527" cy="2141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we have </a:t>
            </a:r>
            <a:r>
              <a:rPr lang="en-US" u="sng" dirty="0"/>
              <a:t>20</a:t>
            </a:r>
            <a:r>
              <a:rPr lang="en-US" dirty="0"/>
              <a:t> people per group, we correctly conclude that men weigh more than women (on average) in only </a:t>
            </a:r>
            <a:r>
              <a:rPr lang="en-US" u="sng" dirty="0"/>
              <a:t>41%</a:t>
            </a:r>
            <a:r>
              <a:rPr lang="en-US" dirty="0"/>
              <a:t> of studies. </a:t>
            </a:r>
          </a:p>
        </p:txBody>
      </p:sp>
    </p:spTree>
    <p:extLst>
      <p:ext uri="{BB962C8B-B14F-4D97-AF65-F5344CB8AC3E}">
        <p14:creationId xmlns:p14="http://schemas.microsoft.com/office/powerpoint/2010/main" val="416822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6C8162-1A6C-4691-A944-9B35B872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84429"/>
            <a:ext cx="5691601" cy="2141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Our power to detect this assumed difference thus depends on FP rate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FN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the sample size.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0B1C9-0D06-45C1-BBC5-F7F9B0F00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3"/>
                <a:stretch>
                  <a:fillRect l="-1043" t="-7339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C6367-59D7-4810-8CF9-C692AFC59D79}"/>
              </a:ext>
            </a:extLst>
          </p:cNvPr>
          <p:cNvSpPr txBox="1"/>
          <p:nvPr/>
        </p:nvSpPr>
        <p:spPr>
          <a:xfrm>
            <a:off x="2984770" y="2823647"/>
            <a:ext cx="13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n/group = 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/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Given our assumed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=0.073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, our Power (1-</a:t>
                </a:r>
                <a:r>
                  <a:rPr lang="el-GR" dirty="0"/>
                  <a:t>β</a:t>
                </a:r>
                <a:r>
                  <a:rPr lang="en-US" dirty="0"/>
                  <a:t>) = 0.81.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53F9-806C-4B21-828E-3FBC8B98C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20338"/>
                <a:ext cx="5691601" cy="646331"/>
              </a:xfrm>
              <a:prstGeom prst="rect">
                <a:avLst/>
              </a:prstGeom>
              <a:blipFill>
                <a:blip r:embed="rId4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416275F-2D9E-4FA9-AFCB-E81CD8444E3D}"/>
              </a:ext>
            </a:extLst>
          </p:cNvPr>
          <p:cNvSpPr txBox="1">
            <a:spLocks/>
          </p:cNvSpPr>
          <p:nvPr/>
        </p:nvSpPr>
        <p:spPr>
          <a:xfrm>
            <a:off x="6847609" y="3286126"/>
            <a:ext cx="4426527" cy="2141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we have </a:t>
            </a:r>
            <a:r>
              <a:rPr lang="en-US" u="sng" dirty="0"/>
              <a:t>52</a:t>
            </a:r>
            <a:r>
              <a:rPr lang="en-US" dirty="0"/>
              <a:t> people per group, we correctly conclude that men weigh more than women (on average) in </a:t>
            </a:r>
            <a:r>
              <a:rPr lang="en-US" u="sng" dirty="0"/>
              <a:t>81%</a:t>
            </a:r>
            <a:r>
              <a:rPr lang="en-US" dirty="0"/>
              <a:t> of studies. </a:t>
            </a:r>
          </a:p>
        </p:txBody>
      </p:sp>
    </p:spTree>
    <p:extLst>
      <p:ext uri="{BB962C8B-B14F-4D97-AF65-F5344CB8AC3E}">
        <p14:creationId xmlns:p14="http://schemas.microsoft.com/office/powerpoint/2010/main" val="3231766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6B5D-4DFC-473B-B3FA-DB977BA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0B1C9-0D06-45C1-BBC5-F7F9B0F0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81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Thus, if you think the effect you are trying to ascertain is more subtle than the fact that men weigh more than women, you probably want more than 50 people per group!</a:t>
            </a:r>
          </a:p>
          <a:p>
            <a:endParaRPr lang="en-US" dirty="0"/>
          </a:p>
          <a:p>
            <a:r>
              <a:rPr lang="en-US" dirty="0"/>
              <a:t> Fortunately, there are other things we can do besides increasing </a:t>
            </a:r>
            <a:r>
              <a:rPr lang="en-US" i="1" dirty="0"/>
              <a:t>n</a:t>
            </a:r>
            <a:r>
              <a:rPr lang="en-US" dirty="0"/>
              <a:t> to improve statistical power.</a:t>
            </a:r>
          </a:p>
          <a:p>
            <a:pPr lvl="1"/>
            <a:r>
              <a:rPr lang="en-US" dirty="0"/>
              <a:t>Justify your α (e.g., if you are replicating an established effect or if the cost of a false positive is low, could α = 0.10?).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Reduce variability/error in your data (e.g. stratifying your sample or proper use of covariates can reduce unwanted variability).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Increase the effect-size (e.g., in a drug trial, do you need to use a subtle dose, or could you use a substantial dose?).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7FE3-32F7-4BB9-B4E6-0722B9F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547C99B-7F2C-4E84-8128-EB3E64FAD082}" type="datetime1">
              <a:rPr lang="en-US" smtClean="0"/>
              <a:t>1/19/2019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0B355-8D1B-48A8-87FA-560C4E9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7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927</Words>
  <Application>Microsoft Office PowerPoint</Application>
  <PresentationFormat>Widescreen</PresentationFormat>
  <Paragraphs>108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Estimating Statistical Power using PRE and F-distributions.</vt:lpstr>
      <vt:lpstr>Statistical decisions and types of errors.</vt:lpstr>
      <vt:lpstr>The false positive rate (α).</vt:lpstr>
      <vt:lpstr>The false positive rate (α).</vt:lpstr>
      <vt:lpstr>The false positive rate (α).</vt:lpstr>
      <vt:lpstr>Statistical Power</vt:lpstr>
      <vt:lpstr>Statistical Power</vt:lpstr>
      <vt:lpstr>Statistical Power</vt:lpstr>
      <vt:lpstr>Statistical Power</vt:lpstr>
      <vt:lpstr>Statistical Power</vt:lpstr>
      <vt:lpstr>Statistical Power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418</cp:revision>
  <dcterms:created xsi:type="dcterms:W3CDTF">2017-01-28T12:59:49Z</dcterms:created>
  <dcterms:modified xsi:type="dcterms:W3CDTF">2019-01-19T15:39:47Z</dcterms:modified>
</cp:coreProperties>
</file>
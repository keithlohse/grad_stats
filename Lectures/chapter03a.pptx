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2"/>
  </p:notesMasterIdLst>
  <p:sldIdLst>
    <p:sldId id="382" r:id="rId2"/>
    <p:sldId id="386" r:id="rId3"/>
    <p:sldId id="385" r:id="rId4"/>
    <p:sldId id="387" r:id="rId5"/>
    <p:sldId id="388" r:id="rId6"/>
    <p:sldId id="389" r:id="rId7"/>
    <p:sldId id="390" r:id="rId8"/>
    <p:sldId id="391" r:id="rId9"/>
    <p:sldId id="392" r:id="rId10"/>
    <p:sldId id="3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5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Models of Error and Sampling Distributions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and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are often trying to make </a:t>
            </a:r>
            <a:r>
              <a:rPr lang="en-US" b="1" i="1" u="sng" dirty="0" smtClean="0"/>
              <a:t>inferences</a:t>
            </a:r>
            <a:r>
              <a:rPr lang="en-US" dirty="0" smtClean="0"/>
              <a:t> about a </a:t>
            </a:r>
            <a:r>
              <a:rPr lang="en-US" b="1" i="1" u="sng" dirty="0" smtClean="0"/>
              <a:t>population</a:t>
            </a:r>
            <a:r>
              <a:rPr lang="en-US" dirty="0" smtClean="0"/>
              <a:t> from a </a:t>
            </a:r>
            <a:r>
              <a:rPr lang="en-US" b="1" i="1" u="sng" dirty="0" smtClean="0"/>
              <a:t>sample</a:t>
            </a:r>
            <a:r>
              <a:rPr lang="en-US" dirty="0" smtClean="0"/>
              <a:t>. </a:t>
            </a:r>
          </a:p>
          <a:p>
            <a:endParaRPr lang="en-US" dirty="0"/>
          </a:p>
          <a:p>
            <a:r>
              <a:rPr lang="en-US" dirty="0" smtClean="0"/>
              <a:t>Values we observe in our sample are </a:t>
            </a:r>
            <a:r>
              <a:rPr lang="en-US" b="1" i="1" u="sng" dirty="0" smtClean="0"/>
              <a:t>estimates</a:t>
            </a:r>
            <a:r>
              <a:rPr lang="en-US" dirty="0" smtClean="0"/>
              <a:t> of “true” values in the population (</a:t>
            </a:r>
            <a:r>
              <a:rPr lang="en-US" b="1" i="1" u="sng" dirty="0" err="1" smtClean="0"/>
              <a:t>estimands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The function used to obtain the value of the estimate is the </a:t>
            </a:r>
            <a:r>
              <a:rPr lang="en-US" b="1" i="1" u="sng" dirty="0" smtClean="0"/>
              <a:t>estimator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Thus, we want to employ functions (estimators) that give us representative values (estimates) for the quantity of interest (</a:t>
            </a:r>
            <a:r>
              <a:rPr lang="en-US" dirty="0" err="1" smtClean="0"/>
              <a:t>estimands</a:t>
            </a:r>
            <a:r>
              <a:rPr lang="en-US" dirty="0" smtClean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1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Desirable Properties of Estimators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 smtClean="0"/>
              <a:t>Unbiased</a:t>
            </a:r>
          </a:p>
          <a:p>
            <a:pPr lvl="1"/>
            <a:r>
              <a:rPr lang="en-US" dirty="0" smtClean="0"/>
              <a:t>The estimator is not necessarily accurate, but it is as likely to over-estimate as it is to under-estimate.</a:t>
            </a:r>
          </a:p>
          <a:p>
            <a:pPr lvl="1"/>
            <a:endParaRPr lang="en-US" dirty="0" smtClean="0"/>
          </a:p>
          <a:p>
            <a:r>
              <a:rPr lang="en-US" b="1" i="1" dirty="0" smtClean="0"/>
              <a:t>Efficient</a:t>
            </a:r>
          </a:p>
          <a:p>
            <a:pPr lvl="1"/>
            <a:r>
              <a:rPr lang="en-US" dirty="0" smtClean="0"/>
              <a:t>Given that two estimators are unbiased, we will prefer the one that has a smaller variance (or spread) around the </a:t>
            </a:r>
            <a:r>
              <a:rPr lang="en-US" dirty="0" err="1" smtClean="0"/>
              <a:t>estimand</a:t>
            </a:r>
            <a:r>
              <a:rPr lang="en-US" dirty="0" smtClean="0"/>
              <a:t>. </a:t>
            </a:r>
          </a:p>
          <a:p>
            <a:pPr lvl="1"/>
            <a:endParaRPr lang="en-US" dirty="0" smtClean="0"/>
          </a:p>
          <a:p>
            <a:r>
              <a:rPr lang="en-US" b="1" i="1" dirty="0" smtClean="0"/>
              <a:t>Consistent</a:t>
            </a:r>
          </a:p>
          <a:p>
            <a:pPr lvl="1"/>
            <a:r>
              <a:rPr lang="en-US" dirty="0" smtClean="0"/>
              <a:t>As the sample size increases, the estimator produces better and better approximations of the </a:t>
            </a:r>
            <a:r>
              <a:rPr lang="en-US" dirty="0" err="1" smtClean="0"/>
              <a:t>estimand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5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from a population of errors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73" y="1690688"/>
            <a:ext cx="4572000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690688"/>
            <a:ext cx="457200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451540" y="1833907"/>
            <a:ext cx="2435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Standard Normal Errors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8434343" y="1833907"/>
            <a:ext cx="15974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Uniform Errors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826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from a population of errors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73" y="1690688"/>
            <a:ext cx="4572000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690688"/>
            <a:ext cx="4572000" cy="274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368" y="4789993"/>
            <a:ext cx="1905098" cy="190509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07" y="4789993"/>
            <a:ext cx="1905098" cy="19050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942" y="4789993"/>
            <a:ext cx="1905098" cy="190509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211" y="4789993"/>
            <a:ext cx="1905098" cy="1905098"/>
          </a:xfrm>
          <a:prstGeom prst="rect">
            <a:avLst/>
          </a:prstGeom>
        </p:spPr>
      </p:pic>
      <p:cxnSp>
        <p:nvCxnSpPr>
          <p:cNvPr id="20" name="Straight Arrow Connector 19"/>
          <p:cNvCxnSpPr>
            <a:stCxn id="7" idx="2"/>
            <a:endCxn id="17" idx="0"/>
          </p:cNvCxnSpPr>
          <p:nvPr/>
        </p:nvCxnSpPr>
        <p:spPr>
          <a:xfrm flipH="1">
            <a:off x="1878491" y="4433888"/>
            <a:ext cx="1555782" cy="356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2"/>
            <a:endCxn id="18" idx="0"/>
          </p:cNvCxnSpPr>
          <p:nvPr/>
        </p:nvCxnSpPr>
        <p:spPr>
          <a:xfrm>
            <a:off x="3434273" y="4433888"/>
            <a:ext cx="1144487" cy="356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2"/>
          </p:cNvCxnSpPr>
          <p:nvPr/>
        </p:nvCxnSpPr>
        <p:spPr>
          <a:xfrm flipH="1">
            <a:off x="7590622" y="4433888"/>
            <a:ext cx="1477178" cy="329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2"/>
            <a:endCxn id="15" idx="0"/>
          </p:cNvCxnSpPr>
          <p:nvPr/>
        </p:nvCxnSpPr>
        <p:spPr>
          <a:xfrm>
            <a:off x="9067800" y="4433888"/>
            <a:ext cx="1545117" cy="356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51540" y="1833907"/>
            <a:ext cx="2435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Standard Normal Errors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434343" y="1833907"/>
            <a:ext cx="15974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Uniform Errors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439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Across 10k samples of n = 10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320874"/>
              </p:ext>
            </p:extLst>
          </p:nvPr>
        </p:nvGraphicFramePr>
        <p:xfrm>
          <a:off x="838200" y="160528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302564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207261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28809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86263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47204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SD(Means)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Mean(Medians)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SD(Medians)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84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“Normal”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0.373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6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Uniform</a:t>
                      </a:r>
                      <a:r>
                        <a:rPr lang="en-US" baseline="0" dirty="0" smtClean="0"/>
                        <a:t>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1.097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65048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2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Across 10k samples of n = 10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69727"/>
              </p:ext>
            </p:extLst>
          </p:nvPr>
        </p:nvGraphicFramePr>
        <p:xfrm>
          <a:off x="838200" y="160528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302564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207261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28809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86263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47204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SD(Means)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Mean(Medians)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SD(Medians)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84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“Normal”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0.373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6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Uniform</a:t>
                      </a:r>
                      <a:r>
                        <a:rPr lang="en-US" baseline="0" dirty="0" smtClean="0"/>
                        <a:t>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1.097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65048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31064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Across 10k samples of n = 50</a:t>
            </a:r>
            <a:endParaRPr lang="en-US" dirty="0"/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7917468"/>
              </p:ext>
            </p:extLst>
          </p:nvPr>
        </p:nvGraphicFramePr>
        <p:xfrm>
          <a:off x="838200" y="4346649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302564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207261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28809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86263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47204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SD(means)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Mean(Medians)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SD(Medians)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84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“Normal”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0.173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6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Uniform</a:t>
                      </a:r>
                      <a:r>
                        <a:rPr lang="en-US" baseline="0" dirty="0" smtClean="0"/>
                        <a:t>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-0.073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650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81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Choosing among different estimators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Both the mean and the median are </a:t>
            </a:r>
            <a:r>
              <a:rPr lang="en-US" b="1" i="1" u="sng" dirty="0" smtClean="0"/>
              <a:t>unbiased</a:t>
            </a:r>
            <a:r>
              <a:rPr lang="en-US" dirty="0" smtClean="0"/>
              <a:t> and </a:t>
            </a:r>
            <a:r>
              <a:rPr lang="en-US" b="1" i="1" u="sng" dirty="0" smtClean="0"/>
              <a:t>consistent</a:t>
            </a:r>
            <a:r>
              <a:rPr lang="en-US" dirty="0" smtClean="0"/>
              <a:t> estimators. </a:t>
            </a:r>
          </a:p>
          <a:p>
            <a:endParaRPr lang="en-US" dirty="0"/>
          </a:p>
          <a:p>
            <a:r>
              <a:rPr lang="en-US" dirty="0" smtClean="0"/>
              <a:t>In the examples we looked at, </a:t>
            </a:r>
            <a:r>
              <a:rPr lang="en-US" b="1" i="1" u="sng" dirty="0" smtClean="0"/>
              <a:t>the mean tends to be a more efficient</a:t>
            </a:r>
            <a:r>
              <a:rPr lang="en-US" dirty="0" smtClean="0"/>
              <a:t> </a:t>
            </a:r>
            <a:r>
              <a:rPr lang="en-US" b="1" i="1" u="sng" dirty="0" smtClean="0"/>
              <a:t>estimator than the median</a:t>
            </a:r>
            <a:r>
              <a:rPr lang="en-US" dirty="0" smtClean="0"/>
              <a:t>. </a:t>
            </a:r>
          </a:p>
          <a:p>
            <a:endParaRPr lang="en-US" dirty="0"/>
          </a:p>
          <a:p>
            <a:r>
              <a:rPr lang="en-US" dirty="0" smtClean="0"/>
              <a:t>Thus, we would choose the sum of squared errors and it’s associated estimator (i.e., the mean) as the preferred method.</a:t>
            </a:r>
          </a:p>
          <a:p>
            <a:pPr lvl="1"/>
            <a:r>
              <a:rPr lang="en-US" dirty="0" smtClean="0"/>
              <a:t>However, this conclusion will depend on the underlying distribution.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Choosing among different estimators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many possible distributions of errors that we might assume, but there are good reasons for choosing the normal distribution.</a:t>
            </a:r>
          </a:p>
          <a:p>
            <a:pPr lvl="1"/>
            <a:r>
              <a:rPr lang="en-US" dirty="0" smtClean="0"/>
              <a:t>Empirical data show us that (approximately) normal distributions are very common. </a:t>
            </a:r>
          </a:p>
          <a:p>
            <a:pPr lvl="1"/>
            <a:r>
              <a:rPr lang="en-US" dirty="0" smtClean="0"/>
              <a:t>Linear combinations of random variables (even non-normal variables!) lead to (approximately) normal distributions.</a:t>
            </a:r>
          </a:p>
          <a:p>
            <a:pPr lvl="1"/>
            <a:r>
              <a:rPr lang="en-US" dirty="0" smtClean="0"/>
              <a:t>The </a:t>
            </a:r>
            <a:r>
              <a:rPr lang="en-US" b="1" i="1" u="sng" dirty="0" smtClean="0"/>
              <a:t>central limit theorem</a:t>
            </a:r>
            <a:r>
              <a:rPr lang="en-US" dirty="0" smtClean="0"/>
              <a:t> shows that sample means, even from non-normal distributions will be approximately normal.</a:t>
            </a:r>
          </a:p>
          <a:p>
            <a:pPr lvl="1"/>
            <a:r>
              <a:rPr lang="en-US" dirty="0" smtClean="0"/>
              <a:t>Even when non-normal, many distributions can be transformed to become approximately normal.</a:t>
            </a:r>
          </a:p>
          <a:p>
            <a:pPr lvl="2"/>
            <a:r>
              <a:rPr lang="en-US" dirty="0" smtClean="0"/>
              <a:t>E.g., skewed distributions can be square-root transformed or log transformed. 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6781799" y="1690688"/>
            <a:ext cx="4572001" cy="4632391"/>
            <a:chOff x="6781799" y="1690688"/>
            <a:chExt cx="4572001" cy="4632391"/>
          </a:xfrm>
        </p:grpSpPr>
        <p:grpSp>
          <p:nvGrpSpPr>
            <p:cNvPr id="21" name="Group 20"/>
            <p:cNvGrpSpPr/>
            <p:nvPr/>
          </p:nvGrpSpPr>
          <p:grpSpPr>
            <a:xfrm>
              <a:off x="6781799" y="1690688"/>
              <a:ext cx="4572001" cy="4621471"/>
              <a:chOff x="6781799" y="1690688"/>
              <a:chExt cx="4572001" cy="4621471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8637" y="4407061"/>
                <a:ext cx="3175163" cy="190509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1800" y="1690688"/>
                <a:ext cx="4572000" cy="2743200"/>
              </a:xfrm>
              <a:prstGeom prst="rect">
                <a:avLst/>
              </a:prstGeom>
            </p:spPr>
          </p:pic>
          <p:cxnSp>
            <p:nvCxnSpPr>
              <p:cNvPr id="18" name="Curved Connector 17"/>
              <p:cNvCxnSpPr>
                <a:stCxn id="14" idx="1"/>
                <a:endCxn id="16" idx="1"/>
              </p:cNvCxnSpPr>
              <p:nvPr/>
            </p:nvCxnSpPr>
            <p:spPr>
              <a:xfrm rot="10800000" flipH="1" flipV="1">
                <a:off x="6781799" y="3062288"/>
                <a:ext cx="1396837" cy="2297322"/>
              </a:xfrm>
              <a:prstGeom prst="curvedConnector3">
                <a:avLst>
                  <a:gd name="adj1" fmla="val -1636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8434343" y="1833907"/>
              <a:ext cx="15974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/>
                <a:t>Uniform Errors</a:t>
              </a:r>
              <a:endParaRPr lang="en-US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918054" y="6015302"/>
              <a:ext cx="178446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 smtClean="0"/>
                <a:t>10k samples of n = 10</a:t>
              </a:r>
              <a:endParaRPr lang="en-US" sz="14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Sample Sums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73" y="1690688"/>
            <a:ext cx="4572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51540" y="1833907"/>
            <a:ext cx="2435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Standard Normal Errors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110" y="4451252"/>
            <a:ext cx="3175163" cy="1905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1283" y="6004382"/>
            <a:ext cx="17844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/>
              <a:t>10k samples of n = 10</a:t>
            </a:r>
            <a:endParaRPr lang="en-US" sz="1400" b="1" dirty="0"/>
          </a:p>
        </p:txBody>
      </p:sp>
      <p:cxnSp>
        <p:nvCxnSpPr>
          <p:cNvPr id="10" name="Curved Connector 9"/>
          <p:cNvCxnSpPr>
            <a:stCxn id="6" idx="1"/>
            <a:endCxn id="5" idx="1"/>
          </p:cNvCxnSpPr>
          <p:nvPr/>
        </p:nvCxnSpPr>
        <p:spPr>
          <a:xfrm rot="10800000" flipH="1" flipV="1">
            <a:off x="1148272" y="3062287"/>
            <a:ext cx="1396837" cy="2341513"/>
          </a:xfrm>
          <a:prstGeom prst="curvedConnector3">
            <a:avLst>
              <a:gd name="adj1" fmla="val -163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0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3615</TotalTime>
  <Words>514</Words>
  <Application>Microsoft Office PowerPoint</Application>
  <PresentationFormat>Widescreen</PresentationFormat>
  <Paragraphs>112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Models of Error and Sampling Distributions</vt:lpstr>
      <vt:lpstr>Estimation and sampling</vt:lpstr>
      <vt:lpstr>Desirable Properties of Estimators</vt:lpstr>
      <vt:lpstr>Sampling from a population of errors</vt:lpstr>
      <vt:lpstr>Sampling from a population of errors</vt:lpstr>
      <vt:lpstr>Across 10k samples of n = 10</vt:lpstr>
      <vt:lpstr>Across 10k samples of n = 10</vt:lpstr>
      <vt:lpstr>Choosing among different estimators </vt:lpstr>
      <vt:lpstr>Choosing among different estimators </vt:lpstr>
      <vt:lpstr>Distribution of Sample Sums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361</cp:revision>
  <dcterms:created xsi:type="dcterms:W3CDTF">2017-01-28T12:59:49Z</dcterms:created>
  <dcterms:modified xsi:type="dcterms:W3CDTF">2018-12-29T21:46:03Z</dcterms:modified>
</cp:coreProperties>
</file>
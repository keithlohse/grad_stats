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0"/>
  </p:notesMasterIdLst>
  <p:sldIdLst>
    <p:sldId id="382" r:id="rId2"/>
    <p:sldId id="383" r:id="rId3"/>
    <p:sldId id="384" r:id="rId4"/>
    <p:sldId id="385" r:id="rId5"/>
    <p:sldId id="386" r:id="rId6"/>
    <p:sldId id="387" r:id="rId7"/>
    <p:sldId id="388" r:id="rId8"/>
    <p:sldId id="3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97" d="100"/>
          <a:sy n="97" d="100"/>
        </p:scale>
        <p:origin x="10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/>
              <a:t>Estimating Parameters in a Simple Linear Model.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EB00-29E8-433C-A588-89C6608D6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Access Rates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65CBD-CEAA-4653-BA00-3350D9D2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17198-F648-463E-A37D-C9728D00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54656D-C074-4E48-AB46-AD1A4F0E2E6C}"/>
              </a:ext>
            </a:extLst>
          </p:cNvPr>
          <p:cNvSpPr txBox="1"/>
          <p:nvPr/>
        </p:nvSpPr>
        <p:spPr>
          <a:xfrm>
            <a:off x="838200" y="1690688"/>
            <a:ext cx="331693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head(DAT1)</a:t>
            </a:r>
          </a:p>
          <a:p>
            <a:r>
              <a:rPr lang="en-US" dirty="0">
                <a:latin typeface="Consolas" panose="020B0609020204030204" pitchFamily="49" charset="0"/>
              </a:rPr>
              <a:t>  State Internet College</a:t>
            </a:r>
          </a:p>
          <a:p>
            <a:r>
              <a:rPr lang="en-US" dirty="0">
                <a:latin typeface="Consolas" panose="020B0609020204030204" pitchFamily="49" charset="0"/>
              </a:rPr>
              <a:t>1    AK     63.5    23.5</a:t>
            </a:r>
          </a:p>
          <a:p>
            <a:r>
              <a:rPr lang="en-US" dirty="0">
                <a:latin typeface="Consolas" panose="020B0609020204030204" pitchFamily="49" charset="0"/>
              </a:rPr>
              <a:t>2    AL     79.0    28.0</a:t>
            </a:r>
          </a:p>
          <a:p>
            <a:r>
              <a:rPr lang="en-US" dirty="0">
                <a:latin typeface="Consolas" panose="020B0609020204030204" pitchFamily="49" charset="0"/>
              </a:rPr>
              <a:t>3    AR     60.9    20.6</a:t>
            </a:r>
          </a:p>
          <a:p>
            <a:r>
              <a:rPr lang="en-US" dirty="0">
                <a:latin typeface="Consolas" panose="020B0609020204030204" pitchFamily="49" charset="0"/>
              </a:rPr>
              <a:t>4    AZ     73.9    27.4</a:t>
            </a:r>
          </a:p>
          <a:p>
            <a:r>
              <a:rPr lang="en-US" dirty="0">
                <a:latin typeface="Consolas" panose="020B0609020204030204" pitchFamily="49" charset="0"/>
              </a:rPr>
              <a:t>5    CA     77.9    31.0</a:t>
            </a:r>
          </a:p>
          <a:p>
            <a:pPr marL="342900" indent="-342900">
              <a:buAutoNum type="arabicPlain" startAt="6"/>
            </a:pPr>
            <a:r>
              <a:rPr lang="en-US" dirty="0">
                <a:latin typeface="Consolas" panose="020B0609020204030204" pitchFamily="49" charset="0"/>
              </a:rPr>
              <a:t>  CO     79.4    37.8</a:t>
            </a:r>
          </a:p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5ABC9A-6858-4450-AB24-E7F51CEB2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143000"/>
            <a:ext cx="4572000" cy="457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3BAED0-CA87-4F5A-86AD-A34495F3E042}"/>
              </a:ext>
            </a:extLst>
          </p:cNvPr>
          <p:cNvSpPr txBox="1"/>
          <p:nvPr/>
        </p:nvSpPr>
        <p:spPr>
          <a:xfrm>
            <a:off x="838200" y="4603173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C: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C5473F-EC84-46F6-9A78-C59F7739DECA}"/>
              </a:ext>
            </a:extLst>
          </p:cNvPr>
          <p:cNvSpPr txBox="1"/>
          <p:nvPr/>
        </p:nvSpPr>
        <p:spPr>
          <a:xfrm>
            <a:off x="838199" y="5530334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/>
              <p:nvPr/>
            </p:nvSpPr>
            <p:spPr>
              <a:xfrm>
                <a:off x="1059220" y="4972505"/>
                <a:ext cx="7838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0" y="4972505"/>
                <a:ext cx="783868" cy="276999"/>
              </a:xfrm>
              <a:prstGeom prst="rect">
                <a:avLst/>
              </a:prstGeom>
              <a:blipFill>
                <a:blip r:embed="rId3"/>
                <a:stretch>
                  <a:fillRect l="-7031" t="-4444" r="-3125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/>
              <p:nvPr/>
            </p:nvSpPr>
            <p:spPr>
              <a:xfrm>
                <a:off x="1059220" y="5899666"/>
                <a:ext cx="16745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0" y="5899666"/>
                <a:ext cx="1674561" cy="276999"/>
              </a:xfrm>
              <a:prstGeom prst="rect">
                <a:avLst/>
              </a:prstGeom>
              <a:blipFill>
                <a:blip r:embed="rId4"/>
                <a:stretch>
                  <a:fillRect l="-2920" t="-2222" r="-510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983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EB00-29E8-433C-A588-89C6608D6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Access Rates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65CBD-CEAA-4653-BA00-3350D9D2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17198-F648-463E-A37D-C9728D00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54656D-C074-4E48-AB46-AD1A4F0E2E6C}"/>
              </a:ext>
            </a:extLst>
          </p:cNvPr>
          <p:cNvSpPr txBox="1"/>
          <p:nvPr/>
        </p:nvSpPr>
        <p:spPr>
          <a:xfrm>
            <a:off x="838200" y="1690688"/>
            <a:ext cx="331693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head(DAT1)</a:t>
            </a:r>
          </a:p>
          <a:p>
            <a:r>
              <a:rPr lang="en-US" dirty="0">
                <a:latin typeface="Consolas" panose="020B0609020204030204" pitchFamily="49" charset="0"/>
              </a:rPr>
              <a:t>  State Internet College</a:t>
            </a:r>
          </a:p>
          <a:p>
            <a:r>
              <a:rPr lang="en-US" dirty="0">
                <a:latin typeface="Consolas" panose="020B0609020204030204" pitchFamily="49" charset="0"/>
              </a:rPr>
              <a:t>1    AK     63.5    23.5</a:t>
            </a:r>
          </a:p>
          <a:p>
            <a:r>
              <a:rPr lang="en-US" dirty="0">
                <a:latin typeface="Consolas" panose="020B0609020204030204" pitchFamily="49" charset="0"/>
              </a:rPr>
              <a:t>2    AL     79.0    28.0</a:t>
            </a:r>
          </a:p>
          <a:p>
            <a:r>
              <a:rPr lang="en-US" dirty="0">
                <a:latin typeface="Consolas" panose="020B0609020204030204" pitchFamily="49" charset="0"/>
              </a:rPr>
              <a:t>3    AR     60.9    20.6</a:t>
            </a:r>
          </a:p>
          <a:p>
            <a:r>
              <a:rPr lang="en-US" dirty="0">
                <a:latin typeface="Consolas" panose="020B0609020204030204" pitchFamily="49" charset="0"/>
              </a:rPr>
              <a:t>4    AZ     73.9    27.4</a:t>
            </a:r>
          </a:p>
          <a:p>
            <a:r>
              <a:rPr lang="en-US" dirty="0">
                <a:latin typeface="Consolas" panose="020B0609020204030204" pitchFamily="49" charset="0"/>
              </a:rPr>
              <a:t>5    CA     77.9    31.0</a:t>
            </a:r>
          </a:p>
          <a:p>
            <a:pPr marL="342900" indent="-342900">
              <a:buAutoNum type="arabicPlain" startAt="6"/>
            </a:pPr>
            <a:r>
              <a:rPr lang="en-US" dirty="0">
                <a:latin typeface="Consolas" panose="020B0609020204030204" pitchFamily="49" charset="0"/>
              </a:rPr>
              <a:t>  CO     79.4    37.8</a:t>
            </a:r>
          </a:p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5ABC9A-6858-4450-AB24-E7F51CEB2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143000"/>
            <a:ext cx="4572000" cy="457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3BAED0-CA87-4F5A-86AD-A34495F3E042}"/>
              </a:ext>
            </a:extLst>
          </p:cNvPr>
          <p:cNvSpPr txBox="1"/>
          <p:nvPr/>
        </p:nvSpPr>
        <p:spPr>
          <a:xfrm>
            <a:off x="838200" y="4603173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C: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C5473F-EC84-46F6-9A78-C59F7739DECA}"/>
              </a:ext>
            </a:extLst>
          </p:cNvPr>
          <p:cNvSpPr txBox="1"/>
          <p:nvPr/>
        </p:nvSpPr>
        <p:spPr>
          <a:xfrm>
            <a:off x="838199" y="5530334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/>
              <p:nvPr/>
            </p:nvSpPr>
            <p:spPr>
              <a:xfrm>
                <a:off x="1059220" y="4972505"/>
                <a:ext cx="783868" cy="27699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0" y="4972505"/>
                <a:ext cx="783868" cy="276999"/>
              </a:xfrm>
              <a:prstGeom prst="rect">
                <a:avLst/>
              </a:prstGeom>
              <a:blipFill>
                <a:blip r:embed="rId3"/>
                <a:stretch>
                  <a:fillRect l="-6154" t="-2128" r="-2308" b="-3191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/>
              <p:nvPr/>
            </p:nvSpPr>
            <p:spPr>
              <a:xfrm>
                <a:off x="1059220" y="5899666"/>
                <a:ext cx="1674561" cy="27699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0" y="5899666"/>
                <a:ext cx="1674561" cy="276999"/>
              </a:xfrm>
              <a:prstGeom prst="rect">
                <a:avLst/>
              </a:prstGeom>
              <a:blipFill>
                <a:blip r:embed="rId4"/>
                <a:stretch>
                  <a:fillRect l="-2536" r="-4710" b="-3191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851B6DE-5385-4ABD-AF63-D64E939DFA12}"/>
              </a:ext>
            </a:extLst>
          </p:cNvPr>
          <p:cNvSpPr txBox="1"/>
          <p:nvPr/>
        </p:nvSpPr>
        <p:spPr>
          <a:xfrm>
            <a:off x="7367154" y="1143000"/>
            <a:ext cx="3688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Which produces the smaller sum of squared errors?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49C3D3-D30D-4863-B262-66FCB6276370}"/>
              </a:ext>
            </a:extLst>
          </p:cNvPr>
          <p:cNvCxnSpPr/>
          <p:nvPr/>
        </p:nvCxnSpPr>
        <p:spPr>
          <a:xfrm>
            <a:off x="7668491" y="2766330"/>
            <a:ext cx="326274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51EAEA-4FCE-481C-AC04-90759503C994}"/>
              </a:ext>
            </a:extLst>
          </p:cNvPr>
          <p:cNvCxnSpPr>
            <a:cxnSpLocks/>
          </p:cNvCxnSpPr>
          <p:nvPr/>
        </p:nvCxnSpPr>
        <p:spPr>
          <a:xfrm flipV="1">
            <a:off x="7668491" y="2036618"/>
            <a:ext cx="2150918" cy="139238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1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EB00-29E8-433C-A588-89C6608D6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Access Rates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65CBD-CEAA-4653-BA00-3350D9D2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17198-F648-463E-A37D-C9728D00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54656D-C074-4E48-AB46-AD1A4F0E2E6C}"/>
              </a:ext>
            </a:extLst>
          </p:cNvPr>
          <p:cNvSpPr txBox="1"/>
          <p:nvPr/>
        </p:nvSpPr>
        <p:spPr>
          <a:xfrm>
            <a:off x="838200" y="1690688"/>
            <a:ext cx="331693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head(DAT1)</a:t>
            </a:r>
          </a:p>
          <a:p>
            <a:r>
              <a:rPr lang="en-US" dirty="0">
                <a:latin typeface="Consolas" panose="020B0609020204030204" pitchFamily="49" charset="0"/>
              </a:rPr>
              <a:t>  State Internet College</a:t>
            </a:r>
          </a:p>
          <a:p>
            <a:r>
              <a:rPr lang="en-US" dirty="0">
                <a:latin typeface="Consolas" panose="020B0609020204030204" pitchFamily="49" charset="0"/>
              </a:rPr>
              <a:t>1    AK     63.5    23.5</a:t>
            </a:r>
          </a:p>
          <a:p>
            <a:r>
              <a:rPr lang="en-US" dirty="0">
                <a:latin typeface="Consolas" panose="020B0609020204030204" pitchFamily="49" charset="0"/>
              </a:rPr>
              <a:t>2    AL     79.0    28.0</a:t>
            </a:r>
          </a:p>
          <a:p>
            <a:r>
              <a:rPr lang="en-US" dirty="0">
                <a:latin typeface="Consolas" panose="020B0609020204030204" pitchFamily="49" charset="0"/>
              </a:rPr>
              <a:t>3    AR     60.9    20.6</a:t>
            </a:r>
          </a:p>
          <a:p>
            <a:r>
              <a:rPr lang="en-US" dirty="0">
                <a:latin typeface="Consolas" panose="020B0609020204030204" pitchFamily="49" charset="0"/>
              </a:rPr>
              <a:t>4    AZ     73.9    27.4</a:t>
            </a:r>
          </a:p>
          <a:p>
            <a:r>
              <a:rPr lang="en-US" dirty="0">
                <a:latin typeface="Consolas" panose="020B0609020204030204" pitchFamily="49" charset="0"/>
              </a:rPr>
              <a:t>5    CA     77.9    31.0</a:t>
            </a:r>
          </a:p>
          <a:p>
            <a:pPr marL="342900" indent="-342900">
              <a:buAutoNum type="arabicPlain" startAt="6"/>
            </a:pPr>
            <a:r>
              <a:rPr lang="en-US" dirty="0">
                <a:latin typeface="Consolas" panose="020B0609020204030204" pitchFamily="49" charset="0"/>
              </a:rPr>
              <a:t>  CO     79.4    37.8</a:t>
            </a:r>
          </a:p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5ABC9A-6858-4450-AB24-E7F51CEB2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143000"/>
            <a:ext cx="4572000" cy="457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3BAED0-CA87-4F5A-86AD-A34495F3E042}"/>
              </a:ext>
            </a:extLst>
          </p:cNvPr>
          <p:cNvSpPr txBox="1"/>
          <p:nvPr/>
        </p:nvSpPr>
        <p:spPr>
          <a:xfrm>
            <a:off x="838200" y="4603173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C: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C5473F-EC84-46F6-9A78-C59F7739DECA}"/>
              </a:ext>
            </a:extLst>
          </p:cNvPr>
          <p:cNvSpPr txBox="1"/>
          <p:nvPr/>
        </p:nvSpPr>
        <p:spPr>
          <a:xfrm>
            <a:off x="838199" y="5530334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Model 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/>
              <p:nvPr/>
            </p:nvSpPr>
            <p:spPr>
              <a:xfrm>
                <a:off x="1059220" y="4972505"/>
                <a:ext cx="783868" cy="27699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F9A992A-040F-4451-9721-D6B401352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0" y="4972505"/>
                <a:ext cx="783868" cy="276999"/>
              </a:xfrm>
              <a:prstGeom prst="rect">
                <a:avLst/>
              </a:prstGeom>
              <a:blipFill>
                <a:blip r:embed="rId3"/>
                <a:stretch>
                  <a:fillRect l="-6154" t="-2128" r="-2308" b="-3191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/>
              <p:nvPr/>
            </p:nvSpPr>
            <p:spPr>
              <a:xfrm>
                <a:off x="1059220" y="5899666"/>
                <a:ext cx="1674561" cy="27699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301AC0-F66C-40BB-8A23-959FA7B8E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0" y="5899666"/>
                <a:ext cx="1674561" cy="276999"/>
              </a:xfrm>
              <a:prstGeom prst="rect">
                <a:avLst/>
              </a:prstGeom>
              <a:blipFill>
                <a:blip r:embed="rId4"/>
                <a:stretch>
                  <a:fillRect l="-2536" r="-4710" b="-3191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851B6DE-5385-4ABD-AF63-D64E939DFA12}"/>
              </a:ext>
            </a:extLst>
          </p:cNvPr>
          <p:cNvSpPr txBox="1"/>
          <p:nvPr/>
        </p:nvSpPr>
        <p:spPr>
          <a:xfrm>
            <a:off x="7367154" y="1143000"/>
            <a:ext cx="3688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Which produces the smaller sum of squared errors?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D54E7D-6C5C-435A-92A1-3147FCAFE6BC}"/>
              </a:ext>
            </a:extLst>
          </p:cNvPr>
          <p:cNvSpPr txBox="1"/>
          <p:nvPr/>
        </p:nvSpPr>
        <p:spPr>
          <a:xfrm>
            <a:off x="3678381" y="5719181"/>
            <a:ext cx="3688773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First, we need to be able to estimate the intercept and the slope!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A3524D9-B4B7-43C8-81B5-17897D0E1463}"/>
              </a:ext>
            </a:extLst>
          </p:cNvPr>
          <p:cNvCxnSpPr>
            <a:cxnSpLocks/>
          </p:cNvCxnSpPr>
          <p:nvPr/>
        </p:nvCxnSpPr>
        <p:spPr>
          <a:xfrm flipV="1">
            <a:off x="7668491" y="2036618"/>
            <a:ext cx="2150918" cy="139238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49C3D3-D30D-4863-B262-66FCB6276370}"/>
              </a:ext>
            </a:extLst>
          </p:cNvPr>
          <p:cNvCxnSpPr/>
          <p:nvPr/>
        </p:nvCxnSpPr>
        <p:spPr>
          <a:xfrm>
            <a:off x="7668491" y="2766330"/>
            <a:ext cx="326274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049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C8C5-9100-42EA-94D6-F2D3DC79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Two Linear Parameters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C525-DD27-4DA9-A771-C9BA3CC4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A1152-CBBB-4094-A908-2D0194E6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1D6F4D-AB93-4691-AB9A-C2DB9EA68F40}"/>
              </a:ext>
            </a:extLst>
          </p:cNvPr>
          <p:cNvSpPr txBox="1"/>
          <p:nvPr/>
        </p:nvSpPr>
        <p:spPr>
          <a:xfrm>
            <a:off x="838201" y="1825625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Slope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4BFDA-D857-426E-A327-73CB930D6ED1}"/>
              </a:ext>
            </a:extLst>
          </p:cNvPr>
          <p:cNvSpPr txBox="1"/>
          <p:nvPr/>
        </p:nvSpPr>
        <p:spPr>
          <a:xfrm>
            <a:off x="838200" y="3048852"/>
            <a:ext cx="1116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Intercept: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F4ACD-2560-43D7-A6FD-E1328E845611}"/>
                  </a:ext>
                </a:extLst>
              </p:cNvPr>
              <p:cNvSpPr txBox="1"/>
              <p:nvPr/>
            </p:nvSpPr>
            <p:spPr>
              <a:xfrm>
                <a:off x="1059221" y="2194957"/>
                <a:ext cx="2331279" cy="6015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F4ACD-2560-43D7-A6FD-E1328E845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1" y="2194957"/>
                <a:ext cx="2331279" cy="6015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/>
              <p:nvPr/>
            </p:nvSpPr>
            <p:spPr>
              <a:xfrm>
                <a:off x="1059221" y="3418184"/>
                <a:ext cx="13390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1" y="3418184"/>
                <a:ext cx="1339021" cy="276999"/>
              </a:xfrm>
              <a:prstGeom prst="rect">
                <a:avLst/>
              </a:prstGeom>
              <a:blipFill>
                <a:blip r:embed="rId3"/>
                <a:stretch>
                  <a:fillRect l="-4110" r="-2420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8CA8CBD-E43C-4D1F-B1BE-BAB8981EE721}"/>
              </a:ext>
            </a:extLst>
          </p:cNvPr>
          <p:cNvSpPr txBox="1"/>
          <p:nvPr/>
        </p:nvSpPr>
        <p:spPr>
          <a:xfrm>
            <a:off x="4548731" y="1910078"/>
            <a:ext cx="6805068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latin typeface="Consolas" panose="020B0609020204030204" pitchFamily="49" charset="0"/>
              </a:rPr>
              <a:t>DAT1$x_res&lt;-DAT1$College-mean(DAT1$College)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DAT1$y_res&lt;-DAT1$Internet-mean(DAT1$Internet)</a:t>
            </a:r>
          </a:p>
          <a:p>
            <a:endParaRPr lang="nl-NL" sz="1600" dirty="0"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chemeClr val="accent1"/>
                </a:solidFill>
                <a:latin typeface="Consolas" panose="020B0609020204030204" pitchFamily="49" charset="0"/>
              </a:rPr>
              <a:t>DAT1$xy_cov&lt;-DAT1$x_res*DAT1$y_res</a:t>
            </a:r>
          </a:p>
          <a:p>
            <a:r>
              <a:rPr lang="nl-NL" sz="1600" dirty="0">
                <a:solidFill>
                  <a:srgbClr val="FF0000"/>
                </a:solidFill>
                <a:latin typeface="Consolas" panose="020B0609020204030204" pitchFamily="49" charset="0"/>
              </a:rPr>
              <a:t>DAT1$x_var&lt;-DAT1$x_res^2</a:t>
            </a:r>
          </a:p>
          <a:p>
            <a:endParaRPr lang="nl-NL" sz="1600" dirty="0">
              <a:latin typeface="Consolas" panose="020B0609020204030204" pitchFamily="49" charset="0"/>
            </a:endParaRPr>
          </a:p>
          <a:p>
            <a:r>
              <a:rPr lang="nl-NL" sz="1600" dirty="0">
                <a:latin typeface="Consolas" panose="020B0609020204030204" pitchFamily="49" charset="0"/>
              </a:rPr>
              <a:t>&gt; head(DAT1)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State Internet College  </a:t>
            </a:r>
            <a:r>
              <a:rPr lang="en-US" sz="1600" dirty="0" err="1">
                <a:latin typeface="Consolas" panose="020B0609020204030204" pitchFamily="49" charset="0"/>
              </a:rPr>
              <a:t>x_res</a:t>
            </a:r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err="1">
                <a:latin typeface="Consolas" panose="020B0609020204030204" pitchFamily="49" charset="0"/>
              </a:rPr>
              <a:t>y_res</a:t>
            </a: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accent1"/>
                </a:solidFill>
                <a:latin typeface="Consolas" panose="020B0609020204030204" pitchFamily="49" charset="0"/>
              </a:rPr>
              <a:t>xy_cov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   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x_var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1    AK     63.5    23.5 -5.384  -9.306 50.103504 28.987456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2    AL     79.0    28.0 -0.884   6.194 -5.475496  0.781456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3    AR     60.9    20.6 -8.284 -11.906 98.629304 68.624656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4    AZ     73.9    27.4 -1.484   1.094 -1.623496  2.202256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5    CA     77.9    31.0  2.116   5.094 10.778904  4.477456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6    CO     79.4    37.8  8.916   6.594 58.792104 79.495056</a:t>
            </a:r>
          </a:p>
        </p:txBody>
      </p:sp>
    </p:spTree>
    <p:extLst>
      <p:ext uri="{BB962C8B-B14F-4D97-AF65-F5344CB8AC3E}">
        <p14:creationId xmlns:p14="http://schemas.microsoft.com/office/powerpoint/2010/main" val="3530995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C8C5-9100-42EA-94D6-F2D3DC79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Two Linear Parameters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C525-DD27-4DA9-A771-C9BA3CC4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A1152-CBBB-4094-A908-2D0194E6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1D6F4D-AB93-4691-AB9A-C2DB9EA68F40}"/>
              </a:ext>
            </a:extLst>
          </p:cNvPr>
          <p:cNvSpPr txBox="1"/>
          <p:nvPr/>
        </p:nvSpPr>
        <p:spPr>
          <a:xfrm>
            <a:off x="838201" y="1825625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Slope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4BFDA-D857-426E-A327-73CB930D6ED1}"/>
              </a:ext>
            </a:extLst>
          </p:cNvPr>
          <p:cNvSpPr txBox="1"/>
          <p:nvPr/>
        </p:nvSpPr>
        <p:spPr>
          <a:xfrm>
            <a:off x="838200" y="3048852"/>
            <a:ext cx="1116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Intercept: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F4ACD-2560-43D7-A6FD-E1328E845611}"/>
                  </a:ext>
                </a:extLst>
              </p:cNvPr>
              <p:cNvSpPr txBox="1"/>
              <p:nvPr/>
            </p:nvSpPr>
            <p:spPr>
              <a:xfrm>
                <a:off x="1059221" y="2194957"/>
                <a:ext cx="3065455" cy="5846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=0.86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F4ACD-2560-43D7-A6FD-E1328E845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1" y="2194957"/>
                <a:ext cx="3065455" cy="584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/>
              <p:nvPr/>
            </p:nvSpPr>
            <p:spPr>
              <a:xfrm>
                <a:off x="1059221" y="3418184"/>
                <a:ext cx="13390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1" y="3418184"/>
                <a:ext cx="1339021" cy="276999"/>
              </a:xfrm>
              <a:prstGeom prst="rect">
                <a:avLst/>
              </a:prstGeom>
              <a:blipFill>
                <a:blip r:embed="rId3"/>
                <a:stretch>
                  <a:fillRect l="-4110" r="-2420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8CA8CBD-E43C-4D1F-B1BE-BAB8981EE721}"/>
              </a:ext>
            </a:extLst>
          </p:cNvPr>
          <p:cNvSpPr txBox="1"/>
          <p:nvPr/>
        </p:nvSpPr>
        <p:spPr>
          <a:xfrm>
            <a:off x="4548731" y="1910078"/>
            <a:ext cx="6805068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latin typeface="Consolas" panose="020B0609020204030204" pitchFamily="49" charset="0"/>
              </a:rPr>
              <a:t>DAT1$x_res&lt;-DAT1$College-mean(DAT1$College)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DAT1$y_res&lt;-DAT1$Internet-mean(DAT1$Internet)</a:t>
            </a:r>
          </a:p>
          <a:p>
            <a:endParaRPr lang="nl-NL" sz="1600" dirty="0">
              <a:latin typeface="Consolas" panose="020B0609020204030204" pitchFamily="49" charset="0"/>
            </a:endParaRPr>
          </a:p>
          <a:p>
            <a:r>
              <a:rPr lang="nl-NL" sz="1600" dirty="0">
                <a:latin typeface="Consolas" panose="020B0609020204030204" pitchFamily="49" charset="0"/>
              </a:rPr>
              <a:t>DAT1$xy_cov&lt;-DAT1$x_res*DAT1$y_res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DAT1$x_var&lt;-DAT1$x_res^2</a:t>
            </a:r>
          </a:p>
          <a:p>
            <a:endParaRPr lang="nl-NL" sz="1600" dirty="0">
              <a:latin typeface="Consolas" panose="020B0609020204030204" pitchFamily="49" charset="0"/>
            </a:endParaRPr>
          </a:p>
          <a:p>
            <a:r>
              <a:rPr lang="nl-NL" sz="1600" dirty="0">
                <a:latin typeface="Consolas" panose="020B0609020204030204" pitchFamily="49" charset="0"/>
              </a:rPr>
              <a:t>&gt; head(DAT1)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State Internet College  </a:t>
            </a:r>
            <a:r>
              <a:rPr lang="en-US" sz="1600" dirty="0" err="1">
                <a:latin typeface="Consolas" panose="020B0609020204030204" pitchFamily="49" charset="0"/>
              </a:rPr>
              <a:t>x_res</a:t>
            </a:r>
            <a:r>
              <a:rPr lang="en-US" sz="1600" dirty="0">
                <a:latin typeface="Consolas" panose="020B0609020204030204" pitchFamily="49" charset="0"/>
              </a:rPr>
              <a:t>   </a:t>
            </a:r>
            <a:r>
              <a:rPr lang="en-US" sz="1600" dirty="0" err="1">
                <a:latin typeface="Consolas" panose="020B0609020204030204" pitchFamily="49" charset="0"/>
              </a:rPr>
              <a:t>y_res</a:t>
            </a: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xy_cov</a:t>
            </a:r>
            <a:r>
              <a:rPr lang="en-US" sz="1600" dirty="0">
                <a:latin typeface="Consolas" panose="020B06090202040302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</a:rPr>
              <a:t>x_var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1    AK     63.5    23.5 -5.384  -9.306 50.103504 28.987456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2    AL     79.0    28.0 -0.884   6.194 -5.475496  0.781456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3    AR     60.9    20.6 -8.284 -11.906 98.629304 68.624656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4    AZ     73.9    27.4 -1.484   1.094 -1.623496  2.202256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5    CA     77.9    31.0  2.116   5.094 10.778904  4.477456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6    CO     79.4    37.8  8.916   6.594 58.792104 79.495056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5198D-A399-48C1-A50B-8C62D75D758E}"/>
              </a:ext>
            </a:extLst>
          </p:cNvPr>
          <p:cNvSpPr txBox="1"/>
          <p:nvPr/>
        </p:nvSpPr>
        <p:spPr>
          <a:xfrm>
            <a:off x="4548731" y="5668898"/>
            <a:ext cx="3999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latin typeface="Consolas" panose="020B0609020204030204" pitchFamily="49" charset="0"/>
              </a:rPr>
              <a:t>&gt; sum(DAT1$xy_cov)/sum(DAT1$x_var)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[1] 0.8618517</a:t>
            </a: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77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C8C5-9100-42EA-94D6-F2D3DC79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Two Linear Parameters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C525-DD27-4DA9-A771-C9BA3CC4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A1152-CBBB-4094-A908-2D0194E6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1D6F4D-AB93-4691-AB9A-C2DB9EA68F40}"/>
              </a:ext>
            </a:extLst>
          </p:cNvPr>
          <p:cNvSpPr txBox="1"/>
          <p:nvPr/>
        </p:nvSpPr>
        <p:spPr>
          <a:xfrm>
            <a:off x="838201" y="1825625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Slope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4BFDA-D857-426E-A327-73CB930D6ED1}"/>
              </a:ext>
            </a:extLst>
          </p:cNvPr>
          <p:cNvSpPr txBox="1"/>
          <p:nvPr/>
        </p:nvSpPr>
        <p:spPr>
          <a:xfrm>
            <a:off x="838200" y="3048852"/>
            <a:ext cx="1116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Intercept: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F4ACD-2560-43D7-A6FD-E1328E845611}"/>
                  </a:ext>
                </a:extLst>
              </p:cNvPr>
              <p:cNvSpPr txBox="1"/>
              <p:nvPr/>
            </p:nvSpPr>
            <p:spPr>
              <a:xfrm>
                <a:off x="1059221" y="2194957"/>
                <a:ext cx="3065455" cy="5846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=0.86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F4ACD-2560-43D7-A6FD-E1328E845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1" y="2194957"/>
                <a:ext cx="3065455" cy="584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/>
              <p:nvPr/>
            </p:nvSpPr>
            <p:spPr>
              <a:xfrm>
                <a:off x="1059221" y="3418184"/>
                <a:ext cx="22014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=47.91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1" y="3418184"/>
                <a:ext cx="2201435" cy="276999"/>
              </a:xfrm>
              <a:prstGeom prst="rect">
                <a:avLst/>
              </a:prstGeom>
              <a:blipFill>
                <a:blip r:embed="rId3"/>
                <a:stretch>
                  <a:fillRect l="-2216" r="-2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8CA8CBD-E43C-4D1F-B1BE-BAB8981EE721}"/>
              </a:ext>
            </a:extLst>
          </p:cNvPr>
          <p:cNvSpPr txBox="1"/>
          <p:nvPr/>
        </p:nvSpPr>
        <p:spPr>
          <a:xfrm>
            <a:off x="4548731" y="3264295"/>
            <a:ext cx="57951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latin typeface="Consolas" panose="020B0609020204030204" pitchFamily="49" charset="0"/>
              </a:rPr>
              <a:t>&gt; mean(DAT1$Internet)-0.8618517*mean(DAT1$College)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[1] 47.91228</a:t>
            </a: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032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CF5B0-6484-482D-B662-328F932B7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the Slope and Intercept Estimates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2D7BA-E887-4124-A82A-509B7E6A36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In the book, there is an algebraic derivation for these “least squares” estimates of the slope and the intercept. </a:t>
                </a:r>
              </a:p>
              <a:p>
                <a:pPr lvl="1"/>
                <a:r>
                  <a:rPr lang="en-US" dirty="0"/>
                  <a:t>Work through this derivation to make sure you understand it.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Conceptually, however, lets focus on one question, why must this line always run through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?</a:t>
                </a:r>
              </a:p>
              <a:p>
                <a:pPr lvl="1"/>
                <a:r>
                  <a:rPr lang="en-US" dirty="0"/>
                  <a:t>As a single value, the mean will always produce the smallest SSE.</a:t>
                </a:r>
              </a:p>
              <a:p>
                <a:pPr lvl="1"/>
                <a:r>
                  <a:rPr lang="en-US" dirty="0"/>
                  <a:t>If there was no relationship between x and y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), the best model of y would be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(and the same for x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).</a:t>
                </a:r>
              </a:p>
              <a:p>
                <a:pPr lvl="1"/>
                <a:r>
                  <a:rPr lang="en-US" dirty="0"/>
                  <a:t>Thus, we see how x and y covary around their means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. As x departs from its mean, so does y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), but the line ‘pivots’ at the mean of both variables.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2D7BA-E887-4124-A82A-509B7E6A36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870" b="-5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24466-B368-4FE7-A961-B6E6F4EFE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0A096-FE12-4B09-97FA-F1D42CD74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0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5559</TotalTime>
  <Words>466</Words>
  <Application>Microsoft Office PowerPoint</Application>
  <PresentationFormat>Widescreen</PresentationFormat>
  <Paragraphs>124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Consolas</vt:lpstr>
      <vt:lpstr>Office Theme</vt:lpstr>
      <vt:lpstr>Estimating Parameters in a Simple Linear Model.</vt:lpstr>
      <vt:lpstr>Internet Access Rates</vt:lpstr>
      <vt:lpstr>Internet Access Rates</vt:lpstr>
      <vt:lpstr>Internet Access Rates</vt:lpstr>
      <vt:lpstr>Estimating Two Linear Parameters</vt:lpstr>
      <vt:lpstr>Estimating Two Linear Parameters</vt:lpstr>
      <vt:lpstr>Estimating Two Linear Parameters</vt:lpstr>
      <vt:lpstr>Derivation of the Slope and Intercept Estimates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428</cp:revision>
  <dcterms:created xsi:type="dcterms:W3CDTF">2017-01-28T12:59:49Z</dcterms:created>
  <dcterms:modified xsi:type="dcterms:W3CDTF">2019-01-21T17:24:46Z</dcterms:modified>
</cp:coreProperties>
</file>
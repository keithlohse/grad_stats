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14"/>
  </p:notesMasterIdLst>
  <p:sldIdLst>
    <p:sldId id="382" r:id="rId2"/>
    <p:sldId id="383" r:id="rId3"/>
    <p:sldId id="384" r:id="rId4"/>
    <p:sldId id="385" r:id="rId5"/>
    <p:sldId id="389" r:id="rId6"/>
    <p:sldId id="392" r:id="rId7"/>
    <p:sldId id="393" r:id="rId8"/>
    <p:sldId id="390" r:id="rId9"/>
    <p:sldId id="391" r:id="rId10"/>
    <p:sldId id="388" r:id="rId11"/>
    <p:sldId id="386" r:id="rId12"/>
    <p:sldId id="38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797"/>
    <a:srgbClr val="4472C4"/>
    <a:srgbClr val="000000"/>
    <a:srgbClr val="FFFFFF"/>
    <a:srgbClr val="FFFF00"/>
    <a:srgbClr val="A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84424" autoAdjust="0"/>
  </p:normalViewPr>
  <p:slideViewPr>
    <p:cSldViewPr snapToGrid="0">
      <p:cViewPr varScale="1">
        <p:scale>
          <a:sx n="97" d="100"/>
          <a:sy n="97" d="100"/>
        </p:scale>
        <p:origin x="10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25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676DDE-75BB-4B04-A0BD-5C17E33DC40E}" type="datetimeFigureOut">
              <a:rPr lang="en-US" smtClean="0"/>
              <a:t>1/7/2020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A7B62B-0753-4BDE-90F4-CDED710DE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86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473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5B63A-1390-4120-94EB-00092381E02F}" type="datetime1">
              <a:rPr lang="en-US" smtClean="0"/>
              <a:t>1/7/2020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465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730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6FB65-6EAB-49E5-A1DB-3E80C39C53B8}" type="datetime1">
              <a:rPr lang="en-US" smtClean="0"/>
              <a:t>1/7/2020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023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99224-D20E-45FC-AB47-7036B7429E06}" type="datetime1">
              <a:rPr lang="en-US" smtClean="0"/>
              <a:t>1/7/2020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435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4B67A-60ED-4797-943A-55D5CD883011}" type="datetime1">
              <a:rPr lang="en-US" smtClean="0"/>
              <a:t>1/7/2020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228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1/7/2020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25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DC5B5-E9BF-4312-938F-57F5458B9411}" type="datetime1">
              <a:rPr lang="en-US" smtClean="0"/>
              <a:t>1/7/2020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04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61C03-418D-427D-912F-3A80D46B024B}" type="datetime1">
              <a:rPr lang="en-US" smtClean="0"/>
              <a:t>1/7/2020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493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C2541-89D1-43A5-9247-9C9B7AE89E66}" type="datetime1">
              <a:rPr lang="en-US" smtClean="0"/>
              <a:t>1/7/2020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452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A8DF6-2286-4D85-88A8-00AC199A2C34}" type="datetime1">
              <a:rPr lang="en-US" smtClean="0"/>
              <a:t>1/7/2020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904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E0AFB-8BB9-4422-BB79-0EF175454CED}" type="datetime1">
              <a:rPr lang="en-US" smtClean="0"/>
              <a:t>1/7/2020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77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17F07-1C55-41A1-B81A-75CAA13E3CFD}" type="datetime1">
              <a:rPr lang="en-US" smtClean="0"/>
              <a:t>1/7/2020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271849" cy="685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323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22" y="-12033"/>
            <a:ext cx="11916578" cy="478348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5421" y="4120308"/>
            <a:ext cx="11914632" cy="27376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7316" y="1027966"/>
            <a:ext cx="11421410" cy="1771839"/>
          </a:xfrm>
          <a:solidFill>
            <a:srgbClr val="FFFFFF">
              <a:alpha val="50196"/>
            </a:srgbClr>
          </a:solidFill>
          <a:ln>
            <a:solidFill>
              <a:schemeClr val="tx1"/>
            </a:solidFill>
          </a:ln>
        </p:spPr>
        <p:txBody>
          <a:bodyPr anchor="ctr">
            <a:normAutofit/>
          </a:bodyPr>
          <a:lstStyle/>
          <a:p>
            <a:r>
              <a:rPr lang="en-US" sz="5400" dirty="0" smtClean="0"/>
              <a:t>KINES 7103: Design and Analysis </a:t>
            </a:r>
            <a:r>
              <a:rPr lang="en-US" sz="5400" dirty="0" smtClean="0"/>
              <a:t>I</a:t>
            </a:r>
            <a:endParaRPr lang="en-US" sz="5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7316" y="4313760"/>
            <a:ext cx="9144000" cy="2302208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Keith Lohse, </a:t>
            </a:r>
            <a:r>
              <a:rPr lang="en-US" b="1" dirty="0" smtClean="0"/>
              <a:t>PhD, </a:t>
            </a:r>
            <a:r>
              <a:rPr lang="en-US" b="1" dirty="0" err="1" smtClean="0"/>
              <a:t>PStat</a:t>
            </a:r>
            <a:endParaRPr lang="en-US" b="1" dirty="0"/>
          </a:p>
          <a:p>
            <a:pPr algn="l"/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</a:rPr>
              <a:t>Assistant Professor</a:t>
            </a:r>
          </a:p>
          <a:p>
            <a:pPr algn="l"/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</a:rPr>
              <a:t>Department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of Health, Kinesiology, and Recreation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Department of Physical Therapy and Athletic Training</a:t>
            </a:r>
          </a:p>
          <a:p>
            <a:pPr algn="l"/>
            <a:r>
              <a:rPr lang="en-US" sz="2000" b="1" dirty="0">
                <a:solidFill>
                  <a:schemeClr val="bg1">
                    <a:lumMod val="50000"/>
                  </a:schemeClr>
                </a:solidFill>
              </a:rPr>
              <a:t>University of Utah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</a:t>
            </a:fld>
            <a:endParaRPr lang="en-US"/>
          </a:p>
        </p:txBody>
      </p:sp>
      <p:sp>
        <p:nvSpPr>
          <p:cNvPr id="7" name="AutoShape 2" descr="Image result for utah college of health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7336B5-4F30-4282-9AE3-C49F61A3C5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2484" y="5747288"/>
            <a:ext cx="2626242" cy="868680"/>
          </a:xfrm>
          <a:prstGeom prst="rect">
            <a:avLst/>
          </a:prstGeom>
        </p:spPr>
      </p:pic>
      <p:pic>
        <p:nvPicPr>
          <p:cNvPr id="12" name="Picture 2" descr="Image result for email logo png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81" y="4314251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9091581" y="4358185"/>
            <a:ext cx="2960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keith.lohse@health.utah.edu</a:t>
            </a:r>
            <a:endParaRPr lang="en-US" dirty="0"/>
          </a:p>
        </p:txBody>
      </p:sp>
      <p:pic>
        <p:nvPicPr>
          <p:cNvPr id="14" name="Picture 4" descr="Image result for twitter logo png"/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81" y="4815385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9091581" y="4859319"/>
            <a:ext cx="1525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@</a:t>
            </a:r>
            <a:r>
              <a:rPr lang="en-US" dirty="0" err="1" smtClean="0"/>
              <a:t>keith_lohse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738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About Me…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In my research, </a:t>
            </a:r>
            <a:r>
              <a:rPr lang="en-US" dirty="0"/>
              <a:t>I want to improve our understanding of the mechanisms underlying </a:t>
            </a:r>
            <a:r>
              <a:rPr lang="en-US" dirty="0" smtClean="0"/>
              <a:t>neurological rehabilitation.</a:t>
            </a:r>
          </a:p>
          <a:p>
            <a:pPr lvl="1"/>
            <a:r>
              <a:rPr lang="en-US" dirty="0" smtClean="0"/>
              <a:t>Ultimately I want to create </a:t>
            </a:r>
            <a:r>
              <a:rPr lang="en-US" dirty="0"/>
              <a:t>more efficient, individualized rehabilitation approaches and improve the quality of life for individuals with disabilities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/>
              <a:t>My background is in quantitative psychology, where I learned to model data and statistically test hypotheses about human learning. </a:t>
            </a:r>
          </a:p>
          <a:p>
            <a:pPr lvl="1"/>
            <a:r>
              <a:rPr lang="en-US" dirty="0" smtClean="0"/>
              <a:t>I am accredited as a professional statistician (“</a:t>
            </a:r>
            <a:r>
              <a:rPr lang="en-US" dirty="0" err="1" smtClean="0"/>
              <a:t>Pstat</a:t>
            </a:r>
            <a:r>
              <a:rPr lang="en-US" dirty="0" smtClean="0"/>
              <a:t>”), by the </a:t>
            </a:r>
            <a:r>
              <a:rPr lang="en-US" i="1" dirty="0" smtClean="0"/>
              <a:t>American Statistical Association</a:t>
            </a:r>
            <a:r>
              <a:rPr lang="en-US" dirty="0" smtClean="0"/>
              <a:t>. </a:t>
            </a:r>
          </a:p>
          <a:p>
            <a:pPr lvl="1"/>
            <a:r>
              <a:rPr lang="en-US" dirty="0" smtClean="0"/>
              <a:t>I have taught statistics in some capacity at either </a:t>
            </a:r>
            <a:r>
              <a:rPr lang="en-US" dirty="0" smtClean="0"/>
              <a:t>the undergraduate </a:t>
            </a:r>
            <a:r>
              <a:rPr lang="en-US" dirty="0" smtClean="0"/>
              <a:t>or graduate level since 2007.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1/7/2020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9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KINES 7103?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73160"/>
            <a:ext cx="10515600" cy="4783189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Design and Analysis I is a foundational research methods course for the College of Health. This means that…</a:t>
            </a:r>
          </a:p>
          <a:p>
            <a:pPr lvl="1"/>
            <a:r>
              <a:rPr lang="en-US" dirty="0" smtClean="0"/>
              <a:t>We have students with a wealth of </a:t>
            </a:r>
            <a:r>
              <a:rPr lang="en-US" i="1" dirty="0" smtClean="0"/>
              <a:t>different backgrounds </a:t>
            </a:r>
            <a:r>
              <a:rPr lang="en-US" dirty="0" smtClean="0"/>
              <a:t>and </a:t>
            </a:r>
            <a:r>
              <a:rPr lang="en-US" i="1" dirty="0" smtClean="0"/>
              <a:t>experiences</a:t>
            </a:r>
            <a:r>
              <a:rPr lang="en-US" dirty="0" smtClean="0"/>
              <a:t>.</a:t>
            </a:r>
          </a:p>
          <a:p>
            <a:pPr lvl="2"/>
            <a:r>
              <a:rPr lang="en-US" dirty="0" smtClean="0"/>
              <a:t>In class, I will try to find examples from the different disciplines in the </a:t>
            </a:r>
            <a:r>
              <a:rPr lang="en-US" dirty="0" err="1" smtClean="0"/>
              <a:t>CoH</a:t>
            </a:r>
            <a:r>
              <a:rPr lang="en-US" dirty="0" smtClean="0"/>
              <a:t>. In office hours, I can provide more personalized instruction and even work with you on your own data.</a:t>
            </a:r>
          </a:p>
          <a:p>
            <a:pPr lvl="2"/>
            <a:endParaRPr lang="en-US" dirty="0" smtClean="0"/>
          </a:p>
          <a:p>
            <a:pPr lvl="1"/>
            <a:r>
              <a:rPr lang="en-US" dirty="0" smtClean="0"/>
              <a:t>We need to introduce statistical techniques from across the </a:t>
            </a:r>
            <a:r>
              <a:rPr lang="en-US" i="1" dirty="0" smtClean="0"/>
              <a:t>translational research pipeline</a:t>
            </a:r>
            <a:r>
              <a:rPr lang="en-US" dirty="0" smtClean="0"/>
              <a:t>. </a:t>
            </a:r>
          </a:p>
          <a:p>
            <a:pPr lvl="2"/>
            <a:r>
              <a:rPr lang="en-US" dirty="0" smtClean="0"/>
              <a:t>I have worked on computational models of neural </a:t>
            </a:r>
            <a:r>
              <a:rPr lang="en-US" dirty="0" smtClean="0"/>
              <a:t>processes, Phase </a:t>
            </a:r>
            <a:r>
              <a:rPr lang="en-US" dirty="0" smtClean="0"/>
              <a:t>III randomized controlled </a:t>
            </a:r>
            <a:r>
              <a:rPr lang="en-US" dirty="0" smtClean="0"/>
              <a:t>trials, and epidemiological data “in the wild”. </a:t>
            </a:r>
            <a:endParaRPr lang="en-US" dirty="0" smtClean="0"/>
          </a:p>
          <a:p>
            <a:pPr lvl="2"/>
            <a:endParaRPr lang="en-US" dirty="0" smtClean="0"/>
          </a:p>
          <a:p>
            <a:pPr lvl="1"/>
            <a:r>
              <a:rPr lang="en-US" dirty="0" smtClean="0"/>
              <a:t>In this class you will learn the complexities of statistical inference in the </a:t>
            </a:r>
            <a:r>
              <a:rPr lang="en-US" i="1" dirty="0" smtClean="0"/>
              <a:t>general linear model</a:t>
            </a:r>
            <a:r>
              <a:rPr lang="en-US" dirty="0" smtClean="0"/>
              <a:t>. </a:t>
            </a:r>
          </a:p>
          <a:p>
            <a:pPr lvl="2"/>
            <a:r>
              <a:rPr lang="en-US" dirty="0" smtClean="0"/>
              <a:t>But remember that statistics is its own discipline. You wouldn’t be an expert in genetics after taking 1-2 classes; you won’t be an expert in statistics at the end of this class, and that’s okay. </a:t>
            </a:r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1/7/2020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634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Introductory exercise…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267632" cy="4351338"/>
          </a:xfrm>
        </p:spPr>
        <p:txBody>
          <a:bodyPr/>
          <a:lstStyle/>
          <a:p>
            <a:r>
              <a:rPr lang="en-US" dirty="0" smtClean="0"/>
              <a:t>Scatter yourselves around the room in groups of 2-3. Try to sit with at least one person you don’t already know. </a:t>
            </a:r>
          </a:p>
          <a:p>
            <a:endParaRPr lang="en-US" dirty="0"/>
          </a:p>
          <a:p>
            <a:r>
              <a:rPr lang="en-US" dirty="0" smtClean="0"/>
              <a:t>When I say “go”, you have 30 seconds to draw your new partner. At the end of 30 seconds, you need to show your partner their portrait.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1/7/2020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4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6803922" y="3605213"/>
            <a:ext cx="4831599" cy="2571750"/>
            <a:chOff x="6953558" y="3594178"/>
            <a:chExt cx="4831599" cy="2571750"/>
          </a:xfrm>
        </p:grpSpPr>
        <p:grpSp>
          <p:nvGrpSpPr>
            <p:cNvPr id="8" name="Group 7"/>
            <p:cNvGrpSpPr/>
            <p:nvPr/>
          </p:nvGrpSpPr>
          <p:grpSpPr>
            <a:xfrm>
              <a:off x="6953558" y="3594178"/>
              <a:ext cx="4829740" cy="2571750"/>
              <a:chOff x="7012552" y="667033"/>
              <a:chExt cx="4829740" cy="2571750"/>
            </a:xfrm>
          </p:grpSpPr>
          <p:pic>
            <p:nvPicPr>
              <p:cNvPr id="6" name="Picture 5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12552" y="667033"/>
                <a:ext cx="2571750" cy="2571750"/>
              </a:xfrm>
              <a:prstGeom prst="rect">
                <a:avLst/>
              </a:prstGeom>
            </p:spPr>
          </p:pic>
          <p:sp>
            <p:nvSpPr>
              <p:cNvPr id="7" name="TextBox 6"/>
              <p:cNvSpPr txBox="1"/>
              <p:nvPr/>
            </p:nvSpPr>
            <p:spPr>
              <a:xfrm>
                <a:off x="9584302" y="1201458"/>
                <a:ext cx="225799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 smtClean="0"/>
                  <a:t>[Bob </a:t>
                </a:r>
                <a:r>
                  <a:rPr lang="en-US" sz="1200" dirty="0" err="1" smtClean="0"/>
                  <a:t>McKim</a:t>
                </a:r>
                <a:r>
                  <a:rPr lang="en-US" sz="1200" dirty="0" smtClean="0"/>
                  <a:t>, Stanford University]</a:t>
                </a:r>
                <a:endParaRPr lang="en-US" sz="1200" dirty="0"/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9525308" y="3759271"/>
              <a:ext cx="22598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smtClean="0"/>
                <a:t>“Creative Confidence”</a:t>
              </a:r>
              <a:endParaRPr lang="en-US" dirty="0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6803922" y="588118"/>
            <a:ext cx="4480416" cy="2340078"/>
            <a:chOff x="6803922" y="588118"/>
            <a:chExt cx="4480416" cy="2340078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260" t="41577" r="22666" b="24301"/>
            <a:stretch/>
          </p:blipFill>
          <p:spPr>
            <a:xfrm>
              <a:off x="6803922" y="588118"/>
              <a:ext cx="2448232" cy="2340078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9721281" y="1057225"/>
              <a:ext cx="15630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 smtClean="0"/>
                <a:t>[</a:t>
              </a:r>
              <a:r>
                <a:rPr lang="en-US" sz="1200" dirty="0" err="1" smtClean="0"/>
                <a:t>Edvard</a:t>
              </a:r>
              <a:r>
                <a:rPr lang="en-US" sz="1200" dirty="0" smtClean="0"/>
                <a:t> Munch, 1893]</a:t>
              </a:r>
              <a:endParaRPr lang="en-US" sz="1200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763375" y="687893"/>
              <a:ext cx="14807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smtClean="0"/>
                <a:t>“The Scream”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271857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General Format for the Course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We have a flipped classroom model. Every week, you will</a:t>
            </a:r>
            <a:r>
              <a:rPr lang="en-US" dirty="0" smtClean="0">
                <a:solidFill>
                  <a:srgbClr val="FF0000"/>
                </a:solidFill>
              </a:rPr>
              <a:t>*</a:t>
            </a:r>
            <a:r>
              <a:rPr lang="en-US" dirty="0" smtClean="0"/>
              <a:t>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Read a chapter from the textbook.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Watch (or re-watch) the pre-recorded video lectures.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Complete an </a:t>
            </a:r>
            <a:r>
              <a:rPr lang="en-US" b="1" u="sng" dirty="0"/>
              <a:t>O</a:t>
            </a:r>
            <a:r>
              <a:rPr lang="en-US" b="1" u="sng" dirty="0" smtClean="0"/>
              <a:t>nline </a:t>
            </a:r>
            <a:r>
              <a:rPr lang="en-US" b="1" u="sng" dirty="0"/>
              <a:t>Q</a:t>
            </a:r>
            <a:r>
              <a:rPr lang="en-US" b="1" u="sng" dirty="0" smtClean="0"/>
              <a:t>uiz </a:t>
            </a:r>
            <a:r>
              <a:rPr lang="en-US" dirty="0" smtClean="0"/>
              <a:t>over the chapter.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Attend class, in which I will lead you through some problems, answer your questions, and then you will work on the remaining problems to complete the </a:t>
            </a:r>
            <a:r>
              <a:rPr lang="en-US" b="1" u="sng" dirty="0" smtClean="0"/>
              <a:t>Lab Assignment</a:t>
            </a:r>
            <a:r>
              <a:rPr lang="en-US" dirty="0" smtClean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Attend my office hours. You can follow-up with any questions you have or even bring in your own data that we can work on together. </a:t>
            </a:r>
          </a:p>
          <a:p>
            <a:pPr lvl="2"/>
            <a:r>
              <a:rPr lang="en-US" dirty="0" smtClean="0"/>
              <a:t>I am genuinely happy for you to come to my office hours every week. You can treat it like a second class.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Be sure to submit your lab assignment before the next class.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1/7/2020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5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551055" y="6311900"/>
            <a:ext cx="70898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[</a:t>
            </a:r>
            <a:r>
              <a:rPr lang="en-US" sz="1600" dirty="0" smtClean="0">
                <a:solidFill>
                  <a:srgbClr val="FF0000"/>
                </a:solidFill>
              </a:rPr>
              <a:t>*</a:t>
            </a:r>
            <a:r>
              <a:rPr lang="en-US" sz="1600" dirty="0" smtClean="0"/>
              <a:t> This is just my recommended order. You may find a different order works better.]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42045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General Information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US" dirty="0" smtClean="0"/>
                  <a:t>We will teach statistics through the </a:t>
                </a:r>
                <a:r>
                  <a:rPr lang="en-US" i="1" dirty="0" smtClean="0"/>
                  <a:t>general linear model</a:t>
                </a:r>
                <a:r>
                  <a:rPr lang="en-US" dirty="0" smtClean="0"/>
                  <a:t>. </a:t>
                </a:r>
              </a:p>
              <a:p>
                <a:pPr lvl="1"/>
                <a:r>
                  <a:rPr lang="en-US" dirty="0" smtClean="0"/>
                  <a:t>If you have had a statistics class before, you might have learned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a t-test </a:t>
                </a:r>
                <a:r>
                  <a:rPr lang="en-US" dirty="0" smtClean="0"/>
                  <a:t>as a different test from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an ANOVA </a:t>
                </a:r>
                <a:r>
                  <a:rPr lang="en-US" dirty="0" smtClean="0"/>
                  <a:t>as a different test from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an AN</a:t>
                </a:r>
                <a:r>
                  <a:rPr lang="en-US" b="1" u="sng" dirty="0" smtClean="0">
                    <a:solidFill>
                      <a:srgbClr val="C00000"/>
                    </a:solidFill>
                  </a:rPr>
                  <a:t>C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OVA</a:t>
                </a:r>
                <a:r>
                  <a:rPr lang="en-US" dirty="0" smtClean="0"/>
                  <a:t>, etc.</a:t>
                </a:r>
              </a:p>
              <a:p>
                <a:pPr lvl="1"/>
                <a:endParaRPr lang="en-US" dirty="0" smtClean="0"/>
              </a:p>
              <a:p>
                <a:pPr lvl="1"/>
                <a:r>
                  <a:rPr lang="en-US" dirty="0" smtClean="0"/>
                  <a:t>However, these are all forms of regression models. </a:t>
                </a:r>
              </a:p>
              <a:p>
                <a:pPr lvl="2"/>
                <a:r>
                  <a:rPr lang="en-US" dirty="0" smtClean="0"/>
                  <a:t>Models that have a similar structure are given a certain name.</a:t>
                </a:r>
              </a:p>
              <a:p>
                <a:pPr lvl="2"/>
                <a:r>
                  <a:rPr lang="en-US" dirty="0" smtClean="0"/>
                  <a:t>Rather than memorizing different families of test and computational short-cuts, we will learn a model building approach. The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GLM</a:t>
                </a:r>
                <a:r>
                  <a:rPr lang="en-US" dirty="0" smtClean="0"/>
                  <a:t> is the most flexible approach and helps you properly understand the basis of tests.  </a:t>
                </a:r>
              </a:p>
              <a:p>
                <a:endParaRPr lang="en-US" dirty="0" smtClean="0"/>
              </a:p>
              <a:p>
                <a:r>
                  <a:rPr lang="en-US" dirty="0" smtClean="0"/>
                  <a:t>We will use algebra and geometry often. </a:t>
                </a:r>
              </a:p>
              <a:p>
                <a:pPr lvl="1"/>
                <a:r>
                  <a:rPr lang="en-US" dirty="0" smtClean="0"/>
                  <a:t>Calculus will be helpful for understanding certain concepts, but is not essential to calculations or a broader understanding of the application.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b="0" dirty="0" smtClean="0">
                  <a:solidFill>
                    <a:srgbClr val="FF0000"/>
                  </a:solidFill>
                </a:endParaRP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 smtClean="0"/>
              </a:p>
              <a:p>
                <a:pPr lvl="1"/>
                <a:r>
                  <a:rPr lang="en-US" dirty="0" smtClean="0"/>
                  <a:t>If you want proofs or more theoretical details for certain concepts, please come to my office hours.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2801" r="-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1/7/2020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605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General Information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20982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When you encounter equations in the text, you want to be able to read them like a sentence and </a:t>
            </a:r>
            <a:r>
              <a:rPr lang="en-US" b="1" i="1" dirty="0" smtClean="0"/>
              <a:t>understand the concepts</a:t>
            </a:r>
            <a:r>
              <a:rPr lang="en-US" dirty="0" smtClean="0"/>
              <a:t>. For instance: </a:t>
            </a:r>
          </a:p>
          <a:p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If you are having trouble understanding what an equation is saying conceptually:</a:t>
            </a:r>
          </a:p>
          <a:p>
            <a:pPr lvl="1"/>
            <a:r>
              <a:rPr lang="en-US" dirty="0" smtClean="0"/>
              <a:t>Trying fixing all but one of the values. What happens to the outcome when you make that value bigger or smaller?</a:t>
            </a:r>
          </a:p>
          <a:p>
            <a:pPr lvl="1"/>
            <a:r>
              <a:rPr lang="en-US" dirty="0" smtClean="0"/>
              <a:t>Shoot me an email,</a:t>
            </a:r>
          </a:p>
          <a:p>
            <a:pPr lvl="1"/>
            <a:r>
              <a:rPr lang="en-US" dirty="0" smtClean="0"/>
              <a:t>Ask me in class,</a:t>
            </a:r>
          </a:p>
          <a:p>
            <a:pPr lvl="1"/>
            <a:r>
              <a:rPr lang="en-US" dirty="0" smtClean="0"/>
              <a:t>Come to my office hours.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1/7/2020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258466" y="2743198"/>
                <a:ext cx="1857240" cy="8183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nary>
                                    <m:naryPr>
                                      <m:chr m:val="∑"/>
                                      <m:subHide m:val="on"/>
                                      <m:supHide m:val="on"/>
                                      <m:ctrlPr>
                                        <a:rPr lang="en-US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solidFill>
                                                    <a:schemeClr val="accent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chemeClr val="accent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solidFill>
                                                    <a:schemeClr val="accent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i="1">
                                                  <a:solidFill>
                                                    <a:schemeClr val="accent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chemeClr val="accent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</m:nary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−1)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466" y="2743198"/>
                <a:ext cx="1857240" cy="818366"/>
              </a:xfrm>
              <a:prstGeom prst="rect">
                <a:avLst/>
              </a:prstGeom>
              <a:blipFill>
                <a:blip r:embed="rId2"/>
                <a:stretch>
                  <a:fillRect b="-7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3212916" y="2690716"/>
            <a:ext cx="7383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7030A0"/>
                </a:solidFill>
              </a:rPr>
              <a:t>standard deviation </a:t>
            </a:r>
            <a:r>
              <a:rPr lang="en-US" dirty="0" smtClean="0"/>
              <a:t>tells us how </a:t>
            </a:r>
            <a:r>
              <a:rPr lang="en-US" dirty="0" smtClean="0">
                <a:solidFill>
                  <a:schemeClr val="accent1"/>
                </a:solidFill>
              </a:rPr>
              <a:t>different</a:t>
            </a:r>
            <a:r>
              <a:rPr lang="en-US" dirty="0" smtClean="0"/>
              <a:t> values are </a:t>
            </a:r>
            <a:r>
              <a:rPr lang="en-US" dirty="0" smtClean="0">
                <a:solidFill>
                  <a:srgbClr val="FF0000"/>
                </a:solidFill>
              </a:rPr>
              <a:t>on average</a:t>
            </a:r>
            <a:r>
              <a:rPr lang="en-US" dirty="0" smtClean="0"/>
              <a:t>. </a:t>
            </a:r>
          </a:p>
          <a:p>
            <a:r>
              <a:rPr lang="en-US" dirty="0" smtClean="0"/>
              <a:t>Specifically, how much a variable </a:t>
            </a:r>
            <a:r>
              <a:rPr lang="en-US" dirty="0" smtClean="0">
                <a:solidFill>
                  <a:schemeClr val="accent1"/>
                </a:solidFill>
              </a:rPr>
              <a:t>varies around its mean</a:t>
            </a:r>
            <a:r>
              <a:rPr lang="en-US" dirty="0" smtClean="0"/>
              <a:t>, standardized to the </a:t>
            </a:r>
            <a:r>
              <a:rPr lang="en-US" dirty="0" smtClean="0">
                <a:solidFill>
                  <a:srgbClr val="FF0000"/>
                </a:solidFill>
              </a:rPr>
              <a:t>number of observations</a:t>
            </a:r>
            <a:r>
              <a:rPr lang="en-US" dirty="0" smtClean="0"/>
              <a:t> (more specifically the </a:t>
            </a:r>
            <a:r>
              <a:rPr lang="en-US" dirty="0" smtClean="0">
                <a:solidFill>
                  <a:srgbClr val="00B050"/>
                </a:solidFill>
              </a:rPr>
              <a:t>degrees of freedom</a:t>
            </a:r>
            <a:r>
              <a:rPr lang="en-US" dirty="0" smtClean="0"/>
              <a:t>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843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Gaining “Experience Points”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073877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u="sng" dirty="0" smtClean="0"/>
              <a:t>In order of difficulty: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smtClean="0"/>
              <a:t>Online Quizzes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smtClean="0"/>
              <a:t>Lab Assignments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smtClean="0"/>
              <a:t>Quests</a:t>
            </a:r>
          </a:p>
          <a:p>
            <a:pPr lvl="1"/>
            <a:r>
              <a:rPr lang="en-US" dirty="0" smtClean="0"/>
              <a:t>There are two quests throughout the course. These are assigned and completed online. 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Quests must be completed individually.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Copies of old quests are included in the compressed files for the course.</a:t>
            </a:r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1/7/2020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8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9223" y="1825625"/>
            <a:ext cx="2743200" cy="3246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962581" y="4296173"/>
            <a:ext cx="5364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You.</a:t>
            </a:r>
            <a:endParaRPr lang="en-US" sz="1600" dirty="0"/>
          </a:p>
        </p:txBody>
      </p:sp>
      <p:cxnSp>
        <p:nvCxnSpPr>
          <p:cNvPr id="8" name="Straight Arrow Connector 7"/>
          <p:cNvCxnSpPr>
            <a:stCxn id="7" idx="1"/>
          </p:cNvCxnSpPr>
          <p:nvPr/>
        </p:nvCxnSpPr>
        <p:spPr>
          <a:xfrm flipH="1" flipV="1">
            <a:off x="8967019" y="3913091"/>
            <a:ext cx="995562" cy="55235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962581" y="1948214"/>
            <a:ext cx="19919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The unknown as personified by a dragon.</a:t>
            </a:r>
            <a:endParaRPr lang="en-US" sz="1600" dirty="0"/>
          </a:p>
        </p:txBody>
      </p:sp>
      <p:cxnSp>
        <p:nvCxnSpPr>
          <p:cNvPr id="12" name="Straight Arrow Connector 11"/>
          <p:cNvCxnSpPr>
            <a:stCxn id="11" idx="1"/>
          </p:cNvCxnSpPr>
          <p:nvPr/>
        </p:nvCxnSpPr>
        <p:spPr>
          <a:xfrm flipH="1">
            <a:off x="8534400" y="2363713"/>
            <a:ext cx="1428181" cy="82374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912077" y="5099915"/>
            <a:ext cx="1493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smtClean="0"/>
              <a:t>[Larry Elmore, 1983 ]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966185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Today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Introduction to R and the R programming environment.</a:t>
            </a:r>
          </a:p>
          <a:p>
            <a:pPr lvl="1"/>
            <a:r>
              <a:rPr lang="en-US" dirty="0" smtClean="0"/>
              <a:t>You do not need to know how to program in R to succeed in this course. </a:t>
            </a:r>
          </a:p>
          <a:p>
            <a:pPr lvl="1"/>
            <a:r>
              <a:rPr lang="en-US" dirty="0" smtClean="0"/>
              <a:t>All</a:t>
            </a:r>
            <a:r>
              <a:rPr lang="en-US" dirty="0" smtClean="0">
                <a:solidFill>
                  <a:srgbClr val="FF0000"/>
                </a:solidFill>
              </a:rPr>
              <a:t>*</a:t>
            </a:r>
            <a:r>
              <a:rPr lang="en-US" dirty="0" smtClean="0"/>
              <a:t> code will be provided for you. </a:t>
            </a:r>
          </a:p>
          <a:p>
            <a:pPr lvl="1"/>
            <a:r>
              <a:rPr lang="en-US" dirty="0" smtClean="0"/>
              <a:t>R is free, powerful, and a valuable </a:t>
            </a:r>
            <a:r>
              <a:rPr lang="en-US" dirty="0" smtClean="0"/>
              <a:t>skill for both academia and industry. </a:t>
            </a:r>
            <a:endParaRPr lang="en-US" dirty="0" smtClean="0"/>
          </a:p>
          <a:p>
            <a:pPr lvl="1"/>
            <a:endParaRPr lang="en-US" dirty="0"/>
          </a:p>
          <a:p>
            <a:r>
              <a:rPr lang="en-US" dirty="0" smtClean="0"/>
              <a:t>Complete </a:t>
            </a:r>
            <a:r>
              <a:rPr lang="en-US" b="1" u="sng" dirty="0" smtClean="0"/>
              <a:t>Lab Assignment 01 </a:t>
            </a:r>
            <a:r>
              <a:rPr lang="en-US" dirty="0" smtClean="0"/>
              <a:t>and submit it through Canvas. </a:t>
            </a:r>
          </a:p>
          <a:p>
            <a:pPr lvl="1"/>
            <a:r>
              <a:rPr lang="en-US" dirty="0" smtClean="0"/>
              <a:t>Please also be sure to watch Video 01 and complete </a:t>
            </a:r>
            <a:r>
              <a:rPr lang="en-US" b="1" u="sng" dirty="0" smtClean="0"/>
              <a:t>Quiz 01 </a:t>
            </a:r>
            <a:r>
              <a:rPr lang="en-US" dirty="0" smtClean="0"/>
              <a:t>by Wednesday if you have not already.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1/7/2020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9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328030" y="6311900"/>
            <a:ext cx="5535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[</a:t>
            </a:r>
            <a:r>
              <a:rPr lang="en-US" dirty="0" smtClean="0">
                <a:solidFill>
                  <a:srgbClr val="FF0000"/>
                </a:solidFill>
              </a:rPr>
              <a:t>*</a:t>
            </a:r>
            <a:r>
              <a:rPr lang="en-US" dirty="0" smtClean="0"/>
              <a:t>You </a:t>
            </a:r>
            <a:r>
              <a:rPr lang="en-US" dirty="0"/>
              <a:t>may need to lightly edit code for lab assignments. </a:t>
            </a:r>
            <a:r>
              <a:rPr lang="en-US" dirty="0" smtClean="0"/>
              <a:t>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0425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DC5B5-E9BF-4312-938F-57F5458B9411}" type="datetime1">
              <a:rPr lang="en-US" smtClean="0"/>
              <a:t>1/7/2020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429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Oval 41"/>
          <p:cNvSpPr/>
          <p:nvPr/>
        </p:nvSpPr>
        <p:spPr>
          <a:xfrm>
            <a:off x="4121970" y="3036021"/>
            <a:ext cx="1371600" cy="1371600"/>
          </a:xfrm>
          <a:prstGeom prst="ellipse">
            <a:avLst/>
          </a:prstGeom>
          <a:solidFill>
            <a:srgbClr val="FF9797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6429153" y="3013593"/>
            <a:ext cx="1371600" cy="1371600"/>
          </a:xfrm>
          <a:prstGeom prst="ellipse">
            <a:avLst/>
          </a:prstGeom>
          <a:solidFill>
            <a:srgbClr val="FF9797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 rot="5400000">
            <a:off x="5282946" y="1884822"/>
            <a:ext cx="1371600" cy="1371600"/>
          </a:xfrm>
          <a:prstGeom prst="ellipse">
            <a:avLst/>
          </a:prstGeom>
          <a:solidFill>
            <a:srgbClr val="FF9797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/>
          <p:cNvSpPr/>
          <p:nvPr/>
        </p:nvSpPr>
        <p:spPr>
          <a:xfrm rot="5400000">
            <a:off x="5299411" y="4186203"/>
            <a:ext cx="1371600" cy="1371600"/>
          </a:xfrm>
          <a:prstGeom prst="ellipse">
            <a:avLst/>
          </a:prstGeom>
          <a:solidFill>
            <a:srgbClr val="FF9797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 rot="7374281">
            <a:off x="6103148" y="2234434"/>
            <a:ext cx="1371600" cy="1371600"/>
          </a:xfrm>
          <a:prstGeom prst="ellipse">
            <a:avLst/>
          </a:prstGeom>
          <a:solidFill>
            <a:srgbClr val="FF9797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 rot="7374281">
            <a:off x="4502524" y="3865116"/>
            <a:ext cx="1371600" cy="1371600"/>
          </a:xfrm>
          <a:prstGeom prst="ellipse">
            <a:avLst/>
          </a:prstGeom>
          <a:solidFill>
            <a:srgbClr val="FF9797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 rot="12911534">
            <a:off x="6171973" y="3774750"/>
            <a:ext cx="1371600" cy="1371600"/>
          </a:xfrm>
          <a:prstGeom prst="ellipse">
            <a:avLst/>
          </a:prstGeom>
          <a:solidFill>
            <a:srgbClr val="FF9797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 rot="12911534">
            <a:off x="4512356" y="2175443"/>
            <a:ext cx="1371600" cy="1371600"/>
          </a:xfrm>
          <a:prstGeom prst="ellipse">
            <a:avLst/>
          </a:prstGeom>
          <a:solidFill>
            <a:srgbClr val="FF9797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4136533" y="1884822"/>
            <a:ext cx="3657600" cy="3660590"/>
          </a:xfrm>
          <a:prstGeom prst="ellipse">
            <a:avLst/>
          </a:prstGeom>
          <a:solidFill>
            <a:srgbClr val="FF9797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Creative Confidence and Peer Judgment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1/7/2020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11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7848508" y="3537155"/>
            <a:ext cx="1703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What you know.</a:t>
            </a:r>
            <a:endParaRPr lang="en-US" dirty="0"/>
          </a:p>
        </p:txBody>
      </p:sp>
      <p:cxnSp>
        <p:nvCxnSpPr>
          <p:cNvPr id="28" name="Straight Arrow Connector 27"/>
          <p:cNvCxnSpPr>
            <a:stCxn id="26" idx="1"/>
          </p:cNvCxnSpPr>
          <p:nvPr/>
        </p:nvCxnSpPr>
        <p:spPr>
          <a:xfrm flipH="1" flipV="1">
            <a:off x="6660763" y="3710289"/>
            <a:ext cx="1187745" cy="115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848507" y="2105954"/>
            <a:ext cx="17030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others seem to know.</a:t>
            </a:r>
            <a:endParaRPr lang="en-US" dirty="0"/>
          </a:p>
        </p:txBody>
      </p:sp>
      <p:cxnSp>
        <p:nvCxnSpPr>
          <p:cNvPr id="31" name="Straight Arrow Connector 30"/>
          <p:cNvCxnSpPr>
            <a:stCxn id="30" idx="1"/>
          </p:cNvCxnSpPr>
          <p:nvPr/>
        </p:nvCxnSpPr>
        <p:spPr>
          <a:xfrm flipH="1">
            <a:off x="7000569" y="2429120"/>
            <a:ext cx="847938" cy="32316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941577" y="1736622"/>
            <a:ext cx="1279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u="sng" dirty="0" smtClean="0"/>
              <a:t>Perception:</a:t>
            </a:r>
            <a:endParaRPr lang="en-US" b="1" u="sng" dirty="0"/>
          </a:p>
        </p:txBody>
      </p:sp>
      <p:sp>
        <p:nvSpPr>
          <p:cNvPr id="36" name="Oval 35"/>
          <p:cNvSpPr/>
          <p:nvPr/>
        </p:nvSpPr>
        <p:spPr>
          <a:xfrm>
            <a:off x="5289163" y="3024489"/>
            <a:ext cx="1371600" cy="13716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620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val 26"/>
          <p:cNvSpPr/>
          <p:nvPr/>
        </p:nvSpPr>
        <p:spPr>
          <a:xfrm>
            <a:off x="5289163" y="3024489"/>
            <a:ext cx="1371600" cy="137160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121970" y="3036021"/>
            <a:ext cx="1371600" cy="1371600"/>
          </a:xfrm>
          <a:prstGeom prst="ellipse">
            <a:avLst/>
          </a:prstGeom>
          <a:solidFill>
            <a:srgbClr val="FF9797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Creative Confidence and Peer Judgment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1/7/2020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12</a:t>
            </a:fld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6429153" y="3013593"/>
            <a:ext cx="1371600" cy="1371600"/>
          </a:xfrm>
          <a:prstGeom prst="ellipse">
            <a:avLst/>
          </a:prstGeom>
          <a:solidFill>
            <a:srgbClr val="FF9797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 rot="5400000">
            <a:off x="5282946" y="1884822"/>
            <a:ext cx="1371600" cy="1371600"/>
          </a:xfrm>
          <a:prstGeom prst="ellipse">
            <a:avLst/>
          </a:prstGeom>
          <a:solidFill>
            <a:srgbClr val="FF9797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 rot="5400000">
            <a:off x="5299411" y="4186203"/>
            <a:ext cx="1371600" cy="1371600"/>
          </a:xfrm>
          <a:prstGeom prst="ellipse">
            <a:avLst/>
          </a:prstGeom>
          <a:solidFill>
            <a:srgbClr val="FF9797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 rot="7374281">
            <a:off x="6103148" y="2234434"/>
            <a:ext cx="1371600" cy="1371600"/>
          </a:xfrm>
          <a:prstGeom prst="ellipse">
            <a:avLst/>
          </a:prstGeom>
          <a:solidFill>
            <a:srgbClr val="FF9797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 rot="7374281">
            <a:off x="4502524" y="3865116"/>
            <a:ext cx="1371600" cy="1371600"/>
          </a:xfrm>
          <a:prstGeom prst="ellipse">
            <a:avLst/>
          </a:prstGeom>
          <a:solidFill>
            <a:srgbClr val="FF9797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 rot="12911534">
            <a:off x="6171973" y="3774750"/>
            <a:ext cx="1371600" cy="1371600"/>
          </a:xfrm>
          <a:prstGeom prst="ellipse">
            <a:avLst/>
          </a:prstGeom>
          <a:solidFill>
            <a:srgbClr val="FF9797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 rot="12911534">
            <a:off x="4492692" y="2165611"/>
            <a:ext cx="1371600" cy="1371600"/>
          </a:xfrm>
          <a:prstGeom prst="ellipse">
            <a:avLst/>
          </a:prstGeom>
          <a:solidFill>
            <a:srgbClr val="FF9797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8105958" y="4235487"/>
            <a:ext cx="1703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What you know.</a:t>
            </a:r>
            <a:endParaRPr lang="en-US" dirty="0"/>
          </a:p>
        </p:txBody>
      </p:sp>
      <p:cxnSp>
        <p:nvCxnSpPr>
          <p:cNvPr id="28" name="Straight Arrow Connector 27"/>
          <p:cNvCxnSpPr>
            <a:stCxn id="26" idx="1"/>
          </p:cNvCxnSpPr>
          <p:nvPr/>
        </p:nvCxnSpPr>
        <p:spPr>
          <a:xfrm flipH="1" flipV="1">
            <a:off x="6254678" y="3802238"/>
            <a:ext cx="1851280" cy="61791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408782" y="1759993"/>
            <a:ext cx="17030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other people know.</a:t>
            </a:r>
            <a:endParaRPr lang="en-US" dirty="0"/>
          </a:p>
        </p:txBody>
      </p:sp>
      <p:cxnSp>
        <p:nvCxnSpPr>
          <p:cNvPr id="10" name="Curved Connector 9"/>
          <p:cNvCxnSpPr>
            <a:stCxn id="30" idx="1"/>
            <a:endCxn id="21" idx="2"/>
          </p:cNvCxnSpPr>
          <p:nvPr/>
        </p:nvCxnSpPr>
        <p:spPr>
          <a:xfrm rot="10800000" flipV="1">
            <a:off x="7161504" y="2083159"/>
            <a:ext cx="1247278" cy="261294"/>
          </a:xfrm>
          <a:prstGeom prst="curved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urved Connector 28"/>
          <p:cNvCxnSpPr>
            <a:stCxn id="30" idx="1"/>
            <a:endCxn id="17" idx="1"/>
          </p:cNvCxnSpPr>
          <p:nvPr/>
        </p:nvCxnSpPr>
        <p:spPr>
          <a:xfrm rot="10800000" flipV="1">
            <a:off x="6453680" y="2083158"/>
            <a:ext cx="1955102" cy="2529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941577" y="1736622"/>
            <a:ext cx="1279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u="sng" dirty="0" smtClean="0"/>
              <a:t>Perception:</a:t>
            </a:r>
            <a:endParaRPr lang="en-US" b="1" u="sng" dirty="0"/>
          </a:p>
        </p:txBody>
      </p:sp>
      <p:cxnSp>
        <p:nvCxnSpPr>
          <p:cNvPr id="36" name="Curved Connector 35"/>
          <p:cNvCxnSpPr>
            <a:stCxn id="30" idx="2"/>
            <a:endCxn id="16" idx="6"/>
          </p:cNvCxnSpPr>
          <p:nvPr/>
        </p:nvCxnSpPr>
        <p:spPr>
          <a:xfrm rot="5400000">
            <a:off x="7884008" y="2323070"/>
            <a:ext cx="1293069" cy="1459577"/>
          </a:xfrm>
          <a:prstGeom prst="curved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6409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3469</TotalTime>
  <Words>1002</Words>
  <Application>Microsoft Office PowerPoint</Application>
  <PresentationFormat>Widescreen</PresentationFormat>
  <Paragraphs>124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Office Theme</vt:lpstr>
      <vt:lpstr>KINES 7103: Design and Analysis I</vt:lpstr>
      <vt:lpstr>About Me…</vt:lpstr>
      <vt:lpstr>What is KINES 7103?</vt:lpstr>
      <vt:lpstr>Introductory exercise…</vt:lpstr>
      <vt:lpstr>General Format for the Course</vt:lpstr>
      <vt:lpstr>General Information</vt:lpstr>
      <vt:lpstr>General Information</vt:lpstr>
      <vt:lpstr>Gaining “Experience Points”</vt:lpstr>
      <vt:lpstr>Today</vt:lpstr>
      <vt:lpstr>PowerPoint Presentation</vt:lpstr>
      <vt:lpstr>Creative Confidence and Peer Judgment </vt:lpstr>
      <vt:lpstr>Creative Confidence and Peer Judgment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Measurement in medic</dc:title>
  <dc:creator>Keith Lohse</dc:creator>
  <cp:lastModifiedBy>Keith Lohse</cp:lastModifiedBy>
  <cp:revision>375</cp:revision>
  <dcterms:created xsi:type="dcterms:W3CDTF">2017-01-28T12:59:49Z</dcterms:created>
  <dcterms:modified xsi:type="dcterms:W3CDTF">2020-01-07T22:19:18Z</dcterms:modified>
</cp:coreProperties>
</file>
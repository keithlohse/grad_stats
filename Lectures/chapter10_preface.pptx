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82" r:id="rId2"/>
    <p:sldId id="383" r:id="rId3"/>
    <p:sldId id="398" r:id="rId4"/>
    <p:sldId id="399" r:id="rId5"/>
    <p:sldId id="400" r:id="rId6"/>
    <p:sldId id="403" r:id="rId7"/>
    <p:sldId id="401" r:id="rId8"/>
    <p:sldId id="402" r:id="rId9"/>
    <p:sldId id="404" r:id="rId10"/>
    <p:sldId id="405" r:id="rId11"/>
    <p:sldId id="408" r:id="rId12"/>
    <p:sldId id="409" r:id="rId13"/>
    <p:sldId id="406" r:id="rId14"/>
    <p:sldId id="4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797"/>
    <a:srgbClr val="FFFF00"/>
    <a:srgbClr val="FFC000"/>
    <a:srgbClr val="FFFFFF"/>
    <a:srgbClr val="4472C4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3/23/2020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35159-1569-4725-8240-147E9051E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21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11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84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70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9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3/23/2020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3/23/2020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Models with Non-Independent Errors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so far…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9025"/>
            <a:ext cx="10515600" cy="2967937"/>
          </a:xfrm>
        </p:spPr>
        <p:txBody>
          <a:bodyPr>
            <a:normAutofit/>
          </a:bodyPr>
          <a:lstStyle/>
          <a:p>
            <a:r>
              <a:rPr lang="en-US" dirty="0" smtClean="0"/>
              <a:t>In these models, we have made important assumptions about the residuals (</a:t>
            </a:r>
            <a:r>
              <a:rPr lang="el-GR" dirty="0" smtClean="0"/>
              <a:t>ε</a:t>
            </a:r>
            <a:r>
              <a:rPr lang="en-US" dirty="0" smtClean="0"/>
              <a:t>’s).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are normally distributed. </a:t>
            </a:r>
            <a:r>
              <a:rPr lang="en-US" b="1" i="1" dirty="0" smtClean="0"/>
              <a:t>(normality assumption)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have a constant variance. </a:t>
            </a:r>
            <a:r>
              <a:rPr lang="en-US" b="1" i="1" dirty="0" smtClean="0"/>
              <a:t>(homoscedasticity/homogeneity of variance assumption)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They are independent of each other. </a:t>
            </a:r>
            <a:r>
              <a:rPr lang="en-US" b="1" i="1" dirty="0" smtClean="0"/>
              <a:t>(independence assumption)</a:t>
            </a:r>
            <a:endParaRPr lang="en-US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𝑀𝑜𝑑𝑒𝑙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2390463" cy="276999"/>
              </a:xfrm>
              <a:prstGeom prst="rect">
                <a:avLst/>
              </a:prstGeom>
              <a:blipFill>
                <a:blip r:embed="rId3"/>
                <a:stretch>
                  <a:fillRect l="-2041" r="-178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2857"/>
                <a:ext cx="3853747" cy="276999"/>
              </a:xfrm>
              <a:prstGeom prst="rect">
                <a:avLst/>
              </a:prstGeom>
              <a:blipFill>
                <a:blip r:embed="rId4"/>
                <a:stretch>
                  <a:fillRect l="-1108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21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However…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are going to run into situations in which data are not independent of each other and there are statistical </a:t>
            </a:r>
            <a:r>
              <a:rPr lang="en-US" b="1" i="1" dirty="0" smtClean="0"/>
              <a:t>dependencies</a:t>
            </a:r>
            <a:r>
              <a:rPr lang="en-US" dirty="0" smtClean="0"/>
              <a:t> in our data.</a:t>
            </a:r>
          </a:p>
          <a:p>
            <a:pPr lvl="1"/>
            <a:r>
              <a:rPr lang="en-US" dirty="0" smtClean="0"/>
              <a:t>Measuring data from partners in the same couple;</a:t>
            </a:r>
          </a:p>
          <a:p>
            <a:pPr lvl="1"/>
            <a:r>
              <a:rPr lang="en-US" dirty="0" smtClean="0"/>
              <a:t>Children in the same classroom;</a:t>
            </a:r>
          </a:p>
          <a:p>
            <a:pPr lvl="1"/>
            <a:r>
              <a:rPr lang="en-US" dirty="0" smtClean="0"/>
              <a:t>Patients assessed at different times;</a:t>
            </a:r>
          </a:p>
          <a:p>
            <a:pPr lvl="1"/>
            <a:r>
              <a:rPr lang="en-US" dirty="0" smtClean="0"/>
              <a:t>Animal measured repeatedly under different conditions.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7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“levels” of the data.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Because manipulations happen at different levels of the data, we will need to partition the variance into different sources. </a:t>
            </a:r>
          </a:p>
          <a:p>
            <a:endParaRPr lang="en-US" dirty="0"/>
          </a:p>
          <a:p>
            <a:r>
              <a:rPr lang="en-US" dirty="0" smtClean="0"/>
              <a:t>As the person is usually the unit of analysis in an experiment, we refer to variables as </a:t>
            </a:r>
            <a:r>
              <a:rPr lang="en-US" b="1" i="1" dirty="0" smtClean="0"/>
              <a:t>between-subjects</a:t>
            </a:r>
            <a:r>
              <a:rPr lang="en-US" dirty="0" smtClean="0"/>
              <a:t> or </a:t>
            </a:r>
            <a:r>
              <a:rPr lang="en-US" b="1" i="1" dirty="0" smtClean="0"/>
              <a:t>within-subject </a:t>
            </a:r>
            <a:r>
              <a:rPr lang="en-US" dirty="0" smtClean="0"/>
              <a:t>depending on the level at which the manipulation happens.</a:t>
            </a:r>
          </a:p>
          <a:p>
            <a:endParaRPr lang="en-US" dirty="0"/>
          </a:p>
          <a:p>
            <a:r>
              <a:rPr lang="en-US" dirty="0" smtClean="0"/>
              <a:t>This also means that we need to partition the </a:t>
            </a:r>
            <a:r>
              <a:rPr lang="en-US" b="1" i="1" dirty="0" smtClean="0"/>
              <a:t>total variance </a:t>
            </a:r>
            <a:r>
              <a:rPr lang="en-US" dirty="0" smtClean="0"/>
              <a:t>into both </a:t>
            </a:r>
            <a:r>
              <a:rPr lang="en-US" b="1" i="1" dirty="0" smtClean="0"/>
              <a:t>between-subject sources </a:t>
            </a:r>
            <a:r>
              <a:rPr lang="en-US" dirty="0" smtClean="0"/>
              <a:t>and </a:t>
            </a:r>
            <a:r>
              <a:rPr lang="en-US" b="1" i="1" dirty="0" smtClean="0"/>
              <a:t>within-subject sources </a:t>
            </a:r>
            <a:r>
              <a:rPr lang="en-US" dirty="0" smtClean="0"/>
              <a:t>to understand the effect of our manipulation.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(Conceptual Illustration)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3/23/2020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242081" y="2313544"/>
            <a:ext cx="11017" cy="2831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5568292" y="2807651"/>
            <a:ext cx="11017" cy="4663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6321" y="3498378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530" y="514724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20" name="Oval 19"/>
          <p:cNvSpPr/>
          <p:nvPr/>
        </p:nvSpPr>
        <p:spPr>
          <a:xfrm>
            <a:off x="8326922" y="2377808"/>
            <a:ext cx="365760" cy="36576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326922" y="2876869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692682" y="228248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A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707809" y="2785429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B</a:t>
            </a:r>
            <a:endParaRPr 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3888954" y="3521438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273428" y="2444267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888954" y="3068144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273428" y="2761165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888954" y="417858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73428" y="3346970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88954" y="3915692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7273428" y="2924922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3888954" y="446537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273428" y="3056681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888954" y="364021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7273428" y="3886735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8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(Conceptual Illustration)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3/23/2020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242081" y="2313544"/>
            <a:ext cx="11017" cy="2831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5568292" y="2807651"/>
            <a:ext cx="11017" cy="4663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6321" y="3498378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530" y="514724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20" name="Oval 19"/>
          <p:cNvSpPr/>
          <p:nvPr/>
        </p:nvSpPr>
        <p:spPr>
          <a:xfrm>
            <a:off x="8326922" y="2377808"/>
            <a:ext cx="365760" cy="36576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326922" y="2876869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692682" y="228248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A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707809" y="2785429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B</a:t>
            </a:r>
            <a:endParaRPr 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3888954" y="3521438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273428" y="2444267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888954" y="3068144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273428" y="2761165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888954" y="417858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73428" y="3346970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888954" y="3915692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7273428" y="2924922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3888954" y="446537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273428" y="3056681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888954" y="364021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7273428" y="3886735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712684" y="3842667"/>
            <a:ext cx="572877" cy="733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082014" y="3135743"/>
            <a:ext cx="572877" cy="733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3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(Conceptual Illustration)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3/23/2020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242081" y="2313544"/>
            <a:ext cx="11017" cy="2831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5568292" y="2807651"/>
            <a:ext cx="11017" cy="4663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76321" y="3498378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530" y="514724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3888954" y="3521438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273428" y="2444267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326922" y="2377808"/>
            <a:ext cx="365760" cy="36576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326922" y="2876869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692682" y="228248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A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707809" y="2785429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B</a:t>
            </a:r>
            <a:endParaRPr lang="en-US" sz="2400" b="1" dirty="0"/>
          </a:p>
        </p:txBody>
      </p:sp>
      <p:cxnSp>
        <p:nvCxnSpPr>
          <p:cNvPr id="24" name="Straight Connector 23"/>
          <p:cNvCxnSpPr>
            <a:stCxn id="10" idx="6"/>
            <a:endCxn id="11" idx="2"/>
          </p:cNvCxnSpPr>
          <p:nvPr/>
        </p:nvCxnSpPr>
        <p:spPr>
          <a:xfrm flipV="1">
            <a:off x="4071834" y="2535707"/>
            <a:ext cx="3201594" cy="107717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0486" y="5639245"/>
            <a:ext cx="11251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 smtClean="0"/>
              <a:t>First we need to recognize that these data come from the same people at different times.</a:t>
            </a:r>
          </a:p>
          <a:p>
            <a:pPr algn="ctr"/>
            <a:r>
              <a:rPr lang="en-US" sz="2400" i="1" dirty="0" smtClean="0"/>
              <a:t>Our manipulation happens at the within-subjects level. </a:t>
            </a:r>
            <a:endParaRPr lang="en-US" sz="2400" i="1" dirty="0"/>
          </a:p>
        </p:txBody>
      </p:sp>
      <p:sp>
        <p:nvSpPr>
          <p:cNvPr id="42" name="Oval 41"/>
          <p:cNvSpPr/>
          <p:nvPr/>
        </p:nvSpPr>
        <p:spPr>
          <a:xfrm>
            <a:off x="3888954" y="3068144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7273428" y="2761165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42" idx="6"/>
            <a:endCxn id="43" idx="2"/>
          </p:cNvCxnSpPr>
          <p:nvPr/>
        </p:nvCxnSpPr>
        <p:spPr>
          <a:xfrm flipV="1">
            <a:off x="4071834" y="2852605"/>
            <a:ext cx="3201594" cy="306979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888954" y="417858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273428" y="3346970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>
            <a:stCxn id="47" idx="6"/>
            <a:endCxn id="48" idx="2"/>
          </p:cNvCxnSpPr>
          <p:nvPr/>
        </p:nvCxnSpPr>
        <p:spPr>
          <a:xfrm flipV="1">
            <a:off x="4071834" y="3438410"/>
            <a:ext cx="3201594" cy="83161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888954" y="3915692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7273428" y="2924922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>
            <a:stCxn id="50" idx="6"/>
            <a:endCxn id="51" idx="2"/>
          </p:cNvCxnSpPr>
          <p:nvPr/>
        </p:nvCxnSpPr>
        <p:spPr>
          <a:xfrm flipV="1">
            <a:off x="4071834" y="3016362"/>
            <a:ext cx="3201594" cy="990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88954" y="446537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7273428" y="3056681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>
            <a:stCxn id="54" idx="6"/>
            <a:endCxn id="55" idx="2"/>
          </p:cNvCxnSpPr>
          <p:nvPr/>
        </p:nvCxnSpPr>
        <p:spPr>
          <a:xfrm flipV="1">
            <a:off x="4071834" y="3148121"/>
            <a:ext cx="3201594" cy="1408689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3888954" y="3640210"/>
            <a:ext cx="182880" cy="18288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273428" y="3886735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>
            <a:stCxn id="60" idx="6"/>
            <a:endCxn id="61" idx="2"/>
          </p:cNvCxnSpPr>
          <p:nvPr/>
        </p:nvCxnSpPr>
        <p:spPr>
          <a:xfrm>
            <a:off x="4071834" y="3731650"/>
            <a:ext cx="3201594" cy="24652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12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(Conceptual Illustration)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3/23/2020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242081" y="2313544"/>
            <a:ext cx="11017" cy="2831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5568292" y="2807651"/>
            <a:ext cx="11017" cy="4663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3437" y="3521438"/>
            <a:ext cx="413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 smtClean="0"/>
              <a:t>y</a:t>
            </a:r>
            <a:r>
              <a:rPr lang="en-US" sz="2400" b="1" baseline="-25000" dirty="0" err="1" smtClean="0"/>
              <a:t>c</a:t>
            </a:r>
            <a:endParaRPr lang="en-US" sz="2400" b="1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5408530" y="514724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20" name="Oval 19"/>
          <p:cNvSpPr/>
          <p:nvPr/>
        </p:nvSpPr>
        <p:spPr>
          <a:xfrm>
            <a:off x="8326922" y="2377808"/>
            <a:ext cx="365760" cy="36576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326922" y="2876869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692682" y="228248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A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707809" y="2785429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B</a:t>
            </a:r>
            <a:endParaRPr lang="en-US" sz="24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879451" y="5617211"/>
            <a:ext cx="1043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 smtClean="0"/>
              <a:t>Second, we need to account for individual differences.</a:t>
            </a:r>
          </a:p>
          <a:p>
            <a:pPr algn="ctr"/>
            <a:r>
              <a:rPr lang="en-US" sz="2400" i="1" dirty="0" smtClean="0"/>
              <a:t>Removing this between-subjects variance will isolate the within-subjects’ variance. </a:t>
            </a:r>
            <a:endParaRPr lang="en-US" sz="2400" i="1" dirty="0"/>
          </a:p>
        </p:txBody>
      </p:sp>
      <p:grpSp>
        <p:nvGrpSpPr>
          <p:cNvPr id="26" name="Group 25"/>
          <p:cNvGrpSpPr/>
          <p:nvPr/>
        </p:nvGrpSpPr>
        <p:grpSpPr>
          <a:xfrm>
            <a:off x="3888954" y="3072230"/>
            <a:ext cx="3567354" cy="1260051"/>
            <a:chOff x="3888954" y="2444267"/>
            <a:chExt cx="3567354" cy="1260051"/>
          </a:xfrm>
        </p:grpSpPr>
        <p:sp>
          <p:nvSpPr>
            <p:cNvPr id="29" name="Oval 28"/>
            <p:cNvSpPr/>
            <p:nvPr/>
          </p:nvSpPr>
          <p:spPr>
            <a:xfrm>
              <a:off x="3888954" y="3521438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7273428" y="2444267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/>
            <p:cNvCxnSpPr>
              <a:stCxn id="29" idx="6"/>
              <a:endCxn id="30" idx="2"/>
            </p:cNvCxnSpPr>
            <p:nvPr/>
          </p:nvCxnSpPr>
          <p:spPr>
            <a:xfrm flipV="1">
              <a:off x="4071834" y="2535707"/>
              <a:ext cx="3201594" cy="1077171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888954" y="3477265"/>
            <a:ext cx="3567354" cy="489859"/>
            <a:chOff x="3888954" y="2761165"/>
            <a:chExt cx="3567354" cy="489859"/>
          </a:xfrm>
        </p:grpSpPr>
        <p:sp>
          <p:nvSpPr>
            <p:cNvPr id="33" name="Oval 32"/>
            <p:cNvSpPr/>
            <p:nvPr/>
          </p:nvSpPr>
          <p:spPr>
            <a:xfrm>
              <a:off x="3888954" y="3068144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7273428" y="276116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/>
            <p:cNvCxnSpPr>
              <a:stCxn id="33" idx="6"/>
              <a:endCxn id="35" idx="2"/>
            </p:cNvCxnSpPr>
            <p:nvPr/>
          </p:nvCxnSpPr>
          <p:spPr>
            <a:xfrm flipV="1">
              <a:off x="4071834" y="2852605"/>
              <a:ext cx="3201594" cy="306979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3888954" y="3203749"/>
            <a:ext cx="3567354" cy="1014490"/>
            <a:chOff x="3888954" y="3346970"/>
            <a:chExt cx="3567354" cy="1014490"/>
          </a:xfrm>
        </p:grpSpPr>
        <p:sp>
          <p:nvSpPr>
            <p:cNvPr id="38" name="Oval 37"/>
            <p:cNvSpPr/>
            <p:nvPr/>
          </p:nvSpPr>
          <p:spPr>
            <a:xfrm>
              <a:off x="3888954" y="4178580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7273428" y="3346970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>
              <a:stCxn id="38" idx="6"/>
              <a:endCxn id="39" idx="2"/>
            </p:cNvCxnSpPr>
            <p:nvPr/>
          </p:nvCxnSpPr>
          <p:spPr>
            <a:xfrm flipV="1">
              <a:off x="4071834" y="3438410"/>
              <a:ext cx="3201594" cy="83161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3888954" y="3112211"/>
            <a:ext cx="3567354" cy="1173650"/>
            <a:chOff x="3888954" y="2924922"/>
            <a:chExt cx="3567354" cy="1173650"/>
          </a:xfrm>
        </p:grpSpPr>
        <p:sp>
          <p:nvSpPr>
            <p:cNvPr id="41" name="Oval 40"/>
            <p:cNvSpPr/>
            <p:nvPr/>
          </p:nvSpPr>
          <p:spPr>
            <a:xfrm>
              <a:off x="3888954" y="3915692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7273428" y="2924922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>
              <a:stCxn id="41" idx="6"/>
              <a:endCxn id="42" idx="2"/>
            </p:cNvCxnSpPr>
            <p:nvPr/>
          </p:nvCxnSpPr>
          <p:spPr>
            <a:xfrm flipV="1">
              <a:off x="4071834" y="3016362"/>
              <a:ext cx="3201594" cy="99077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888954" y="2891426"/>
            <a:ext cx="3567354" cy="1591569"/>
            <a:chOff x="3888954" y="3056681"/>
            <a:chExt cx="3567354" cy="1591569"/>
          </a:xfrm>
        </p:grpSpPr>
        <p:sp>
          <p:nvSpPr>
            <p:cNvPr id="44" name="Oval 43"/>
            <p:cNvSpPr/>
            <p:nvPr/>
          </p:nvSpPr>
          <p:spPr>
            <a:xfrm>
              <a:off x="3888954" y="4465370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7273428" y="3056681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/>
            <p:nvPr/>
          </p:nvCxnSpPr>
          <p:spPr>
            <a:xfrm flipV="1">
              <a:off x="4071834" y="3159138"/>
              <a:ext cx="3201594" cy="1408689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3888954" y="3508006"/>
            <a:ext cx="3567354" cy="429405"/>
            <a:chOff x="3888954" y="3640210"/>
            <a:chExt cx="3567354" cy="429405"/>
          </a:xfrm>
        </p:grpSpPr>
        <p:sp>
          <p:nvSpPr>
            <p:cNvPr id="47" name="Oval 46"/>
            <p:cNvSpPr/>
            <p:nvPr/>
          </p:nvSpPr>
          <p:spPr>
            <a:xfrm>
              <a:off x="3888954" y="3640210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7273428" y="388673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>
              <a:stCxn id="47" idx="6"/>
              <a:endCxn id="48" idx="2"/>
            </p:cNvCxnSpPr>
            <p:nvPr/>
          </p:nvCxnSpPr>
          <p:spPr>
            <a:xfrm>
              <a:off x="4071834" y="3731650"/>
              <a:ext cx="3201594" cy="246525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38200" y="2086980"/>
                <a:ext cx="18425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86980"/>
                <a:ext cx="1842556" cy="369332"/>
              </a:xfrm>
              <a:prstGeom prst="rect">
                <a:avLst/>
              </a:prstGeom>
              <a:blipFill>
                <a:blip r:embed="rId3"/>
                <a:stretch>
                  <a:fillRect l="-3642" r="-168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2863177" y="34983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0</a:t>
            </a:r>
            <a:endParaRPr lang="en-US" sz="2400" b="1" baseline="-25000" dirty="0"/>
          </a:p>
        </p:txBody>
      </p:sp>
      <p:cxnSp>
        <p:nvCxnSpPr>
          <p:cNvPr id="56" name="Straight Connector 55"/>
          <p:cNvCxnSpPr>
            <a:stCxn id="50" idx="3"/>
          </p:cNvCxnSpPr>
          <p:nvPr/>
        </p:nvCxnSpPr>
        <p:spPr>
          <a:xfrm flipV="1">
            <a:off x="3203335" y="3704318"/>
            <a:ext cx="4618641" cy="2489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65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/>
          <p:cNvGrpSpPr/>
          <p:nvPr/>
        </p:nvGrpSpPr>
        <p:grpSpPr>
          <a:xfrm>
            <a:off x="3888954" y="3072230"/>
            <a:ext cx="3567354" cy="1260051"/>
            <a:chOff x="3888954" y="2444267"/>
            <a:chExt cx="3567354" cy="1260051"/>
          </a:xfrm>
        </p:grpSpPr>
        <p:sp>
          <p:nvSpPr>
            <p:cNvPr id="59" name="Oval 58"/>
            <p:cNvSpPr/>
            <p:nvPr/>
          </p:nvSpPr>
          <p:spPr>
            <a:xfrm>
              <a:off x="3888954" y="3521438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273428" y="2444267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/>
            <p:cNvCxnSpPr>
              <a:stCxn id="59" idx="6"/>
              <a:endCxn id="60" idx="2"/>
            </p:cNvCxnSpPr>
            <p:nvPr/>
          </p:nvCxnSpPr>
          <p:spPr>
            <a:xfrm flipV="1">
              <a:off x="4071834" y="2535707"/>
              <a:ext cx="3201594" cy="1077171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3888954" y="3477265"/>
            <a:ext cx="3567354" cy="489859"/>
            <a:chOff x="3888954" y="2761165"/>
            <a:chExt cx="3567354" cy="489859"/>
          </a:xfrm>
        </p:grpSpPr>
        <p:sp>
          <p:nvSpPr>
            <p:cNvPr id="63" name="Oval 62"/>
            <p:cNvSpPr/>
            <p:nvPr/>
          </p:nvSpPr>
          <p:spPr>
            <a:xfrm>
              <a:off x="3888954" y="3068144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273428" y="276116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/>
            <p:cNvCxnSpPr>
              <a:stCxn id="63" idx="6"/>
              <a:endCxn id="64" idx="2"/>
            </p:cNvCxnSpPr>
            <p:nvPr/>
          </p:nvCxnSpPr>
          <p:spPr>
            <a:xfrm flipV="1">
              <a:off x="4071834" y="2852605"/>
              <a:ext cx="3201594" cy="306979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3888954" y="3203749"/>
            <a:ext cx="3567354" cy="1014490"/>
            <a:chOff x="3888954" y="3346970"/>
            <a:chExt cx="3567354" cy="1014490"/>
          </a:xfrm>
        </p:grpSpPr>
        <p:sp>
          <p:nvSpPr>
            <p:cNvPr id="67" name="Oval 66"/>
            <p:cNvSpPr/>
            <p:nvPr/>
          </p:nvSpPr>
          <p:spPr>
            <a:xfrm>
              <a:off x="3888954" y="4178580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7273428" y="3346970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/>
            <p:cNvCxnSpPr>
              <a:stCxn id="67" idx="6"/>
              <a:endCxn id="68" idx="2"/>
            </p:cNvCxnSpPr>
            <p:nvPr/>
          </p:nvCxnSpPr>
          <p:spPr>
            <a:xfrm flipV="1">
              <a:off x="4071834" y="3438410"/>
              <a:ext cx="3201594" cy="83161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888954" y="3112211"/>
            <a:ext cx="3567354" cy="1173650"/>
            <a:chOff x="3888954" y="2924922"/>
            <a:chExt cx="3567354" cy="1173650"/>
          </a:xfrm>
        </p:grpSpPr>
        <p:sp>
          <p:nvSpPr>
            <p:cNvPr id="71" name="Oval 70"/>
            <p:cNvSpPr/>
            <p:nvPr/>
          </p:nvSpPr>
          <p:spPr>
            <a:xfrm>
              <a:off x="3888954" y="3915692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7273428" y="2924922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/>
            <p:cNvCxnSpPr>
              <a:stCxn id="71" idx="6"/>
              <a:endCxn id="72" idx="2"/>
            </p:cNvCxnSpPr>
            <p:nvPr/>
          </p:nvCxnSpPr>
          <p:spPr>
            <a:xfrm flipV="1">
              <a:off x="4071834" y="3016362"/>
              <a:ext cx="3201594" cy="99077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3888954" y="2891426"/>
            <a:ext cx="3567354" cy="1591569"/>
            <a:chOff x="3888954" y="3056681"/>
            <a:chExt cx="3567354" cy="1591569"/>
          </a:xfrm>
        </p:grpSpPr>
        <p:sp>
          <p:nvSpPr>
            <p:cNvPr id="75" name="Oval 74"/>
            <p:cNvSpPr/>
            <p:nvPr/>
          </p:nvSpPr>
          <p:spPr>
            <a:xfrm>
              <a:off x="3888954" y="4465370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7273428" y="3056681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/>
            <p:cNvCxnSpPr/>
            <p:nvPr/>
          </p:nvCxnSpPr>
          <p:spPr>
            <a:xfrm flipV="1">
              <a:off x="4071834" y="3159138"/>
              <a:ext cx="3201594" cy="1408689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3888954" y="3508006"/>
            <a:ext cx="3567354" cy="429405"/>
            <a:chOff x="3888954" y="3640210"/>
            <a:chExt cx="3567354" cy="429405"/>
          </a:xfrm>
        </p:grpSpPr>
        <p:sp>
          <p:nvSpPr>
            <p:cNvPr id="79" name="Oval 78"/>
            <p:cNvSpPr/>
            <p:nvPr/>
          </p:nvSpPr>
          <p:spPr>
            <a:xfrm>
              <a:off x="3888954" y="3640210"/>
              <a:ext cx="182880" cy="182880"/>
            </a:xfrm>
            <a:prstGeom prst="ellips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7273428" y="388673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/>
            <p:cNvCxnSpPr>
              <a:stCxn id="79" idx="6"/>
              <a:endCxn id="80" idx="2"/>
            </p:cNvCxnSpPr>
            <p:nvPr/>
          </p:nvCxnSpPr>
          <p:spPr>
            <a:xfrm>
              <a:off x="4071834" y="3731650"/>
              <a:ext cx="3201594" cy="246525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(Conceptual Illustration)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3/23/2020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242081" y="2313544"/>
            <a:ext cx="11017" cy="2831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5568292" y="2807651"/>
            <a:ext cx="11017" cy="46634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93437" y="3521438"/>
            <a:ext cx="413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err="1" smtClean="0"/>
              <a:t>y</a:t>
            </a:r>
            <a:r>
              <a:rPr lang="en-US" sz="2400" b="1" baseline="-25000" dirty="0" err="1" smtClean="0"/>
              <a:t>c</a:t>
            </a:r>
            <a:endParaRPr lang="en-US" sz="2400" b="1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5408530" y="514724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x</a:t>
            </a:r>
            <a:endParaRPr lang="en-US" sz="2400" b="1" dirty="0"/>
          </a:p>
        </p:txBody>
      </p:sp>
      <p:sp>
        <p:nvSpPr>
          <p:cNvPr id="20" name="Oval 19"/>
          <p:cNvSpPr/>
          <p:nvPr/>
        </p:nvSpPr>
        <p:spPr>
          <a:xfrm>
            <a:off x="8326922" y="2377808"/>
            <a:ext cx="365760" cy="365760"/>
          </a:xfrm>
          <a:prstGeom prst="ellips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326922" y="2876869"/>
            <a:ext cx="365760" cy="3657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692682" y="228248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A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707809" y="2785429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Drug B</a:t>
            </a:r>
            <a:endParaRPr lang="en-US" sz="24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830643" y="5617211"/>
            <a:ext cx="10530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 smtClean="0"/>
              <a:t>By removing the between-subject variance, we can see the treatment effect clearly.</a:t>
            </a:r>
          </a:p>
          <a:p>
            <a:pPr algn="ctr"/>
            <a:r>
              <a:rPr lang="en-US" sz="2400" i="1" dirty="0" smtClean="0"/>
              <a:t>Our treatment explains variance at the within-subject level.  </a:t>
            </a:r>
            <a:endParaRPr lang="en-US" sz="24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38200" y="2086980"/>
                <a:ext cx="18425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86980"/>
                <a:ext cx="1842556" cy="369332"/>
              </a:xfrm>
              <a:prstGeom prst="rect">
                <a:avLst/>
              </a:prstGeom>
              <a:blipFill>
                <a:blip r:embed="rId3"/>
                <a:stretch>
                  <a:fillRect l="-3642" r="-168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/>
          <p:cNvSpPr txBox="1"/>
          <p:nvPr/>
        </p:nvSpPr>
        <p:spPr>
          <a:xfrm>
            <a:off x="2863177" y="34983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0</a:t>
            </a:r>
            <a:endParaRPr lang="en-US" sz="2400" b="1" baseline="-25000" dirty="0"/>
          </a:p>
        </p:txBody>
      </p:sp>
      <p:cxnSp>
        <p:nvCxnSpPr>
          <p:cNvPr id="56" name="Straight Connector 55"/>
          <p:cNvCxnSpPr>
            <a:stCxn id="50" idx="3"/>
          </p:cNvCxnSpPr>
          <p:nvPr/>
        </p:nvCxnSpPr>
        <p:spPr>
          <a:xfrm flipV="1">
            <a:off x="3203335" y="3704318"/>
            <a:ext cx="4618641" cy="2489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3693956" y="4143962"/>
            <a:ext cx="572877" cy="733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7078429" y="3152178"/>
            <a:ext cx="572877" cy="733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1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in an ANOVA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084174"/>
              </p:ext>
            </p:extLst>
          </p:nvPr>
        </p:nvGraphicFramePr>
        <p:xfrm>
          <a:off x="838200" y="1404059"/>
          <a:ext cx="10515600" cy="485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439">
                  <a:extLst>
                    <a:ext uri="{9D8B030D-6E8A-4147-A177-3AD203B41FA5}">
                      <a16:colId xmlns:a16="http://schemas.microsoft.com/office/drawing/2014/main" val="1167447315"/>
                    </a:ext>
                  </a:extLst>
                </a:gridCol>
                <a:gridCol w="2060154">
                  <a:extLst>
                    <a:ext uri="{9D8B030D-6E8A-4147-A177-3AD203B41FA5}">
                      <a16:colId xmlns:a16="http://schemas.microsoft.com/office/drawing/2014/main" val="2399525699"/>
                    </a:ext>
                  </a:extLst>
                </a:gridCol>
                <a:gridCol w="1006207">
                  <a:extLst>
                    <a:ext uri="{9D8B030D-6E8A-4147-A177-3AD203B41FA5}">
                      <a16:colId xmlns:a16="http://schemas.microsoft.com/office/drawing/2014/main" val="3385273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63146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108135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1326749"/>
                    </a:ext>
                  </a:extLst>
                </a:gridCol>
              </a:tblGrid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Label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F-</a:t>
                      </a:r>
                      <a:r>
                        <a:rPr lang="en-US" dirty="0" err="1" smtClean="0"/>
                        <a:t>obs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P-value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06257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Reduced (Between)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339741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X1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598932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X2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17158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Error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2689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 (Between)</a:t>
                      </a:r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709913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Reduced (Within)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27464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X3 (Within)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2540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Error (Within)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257796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 (Within)</a:t>
                      </a:r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34619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74721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17783"/>
            <a:ext cx="10515600" cy="1784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4032173"/>
            <a:ext cx="10515600" cy="13422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3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in an ANOVA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404059"/>
          <a:ext cx="10515600" cy="485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439">
                  <a:extLst>
                    <a:ext uri="{9D8B030D-6E8A-4147-A177-3AD203B41FA5}">
                      <a16:colId xmlns:a16="http://schemas.microsoft.com/office/drawing/2014/main" val="1167447315"/>
                    </a:ext>
                  </a:extLst>
                </a:gridCol>
                <a:gridCol w="2060154">
                  <a:extLst>
                    <a:ext uri="{9D8B030D-6E8A-4147-A177-3AD203B41FA5}">
                      <a16:colId xmlns:a16="http://schemas.microsoft.com/office/drawing/2014/main" val="2399525699"/>
                    </a:ext>
                  </a:extLst>
                </a:gridCol>
                <a:gridCol w="1006207">
                  <a:extLst>
                    <a:ext uri="{9D8B030D-6E8A-4147-A177-3AD203B41FA5}">
                      <a16:colId xmlns:a16="http://schemas.microsoft.com/office/drawing/2014/main" val="3385273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63146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108135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1326749"/>
                    </a:ext>
                  </a:extLst>
                </a:gridCol>
              </a:tblGrid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Label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F-</a:t>
                      </a:r>
                      <a:r>
                        <a:rPr lang="en-US" dirty="0" err="1" smtClean="0"/>
                        <a:t>obs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P-value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06257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Reduced (Between)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339741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X1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598932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X2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17158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Error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2689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 (Between)</a:t>
                      </a:r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709913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Reduced (Within)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27464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X3 (Within)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2540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Error (Within)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257796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 (Within)</a:t>
                      </a:r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34619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74721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2302525"/>
            <a:ext cx="10515600" cy="1299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4483865"/>
            <a:ext cx="10515600" cy="8905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eft Bracket 2"/>
          <p:cNvSpPr/>
          <p:nvPr/>
        </p:nvSpPr>
        <p:spPr>
          <a:xfrm>
            <a:off x="561860" y="1817783"/>
            <a:ext cx="139253" cy="2181340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/>
          <p:cNvSpPr/>
          <p:nvPr/>
        </p:nvSpPr>
        <p:spPr>
          <a:xfrm>
            <a:off x="561860" y="4073680"/>
            <a:ext cx="138170" cy="1743226"/>
          </a:xfrm>
          <a:prstGeom prst="leftBracket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0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in an ANOVA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404059"/>
          <a:ext cx="10515600" cy="4853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439">
                  <a:extLst>
                    <a:ext uri="{9D8B030D-6E8A-4147-A177-3AD203B41FA5}">
                      <a16:colId xmlns:a16="http://schemas.microsoft.com/office/drawing/2014/main" val="1167447315"/>
                    </a:ext>
                  </a:extLst>
                </a:gridCol>
                <a:gridCol w="2060154">
                  <a:extLst>
                    <a:ext uri="{9D8B030D-6E8A-4147-A177-3AD203B41FA5}">
                      <a16:colId xmlns:a16="http://schemas.microsoft.com/office/drawing/2014/main" val="2399525699"/>
                    </a:ext>
                  </a:extLst>
                </a:gridCol>
                <a:gridCol w="1006207">
                  <a:extLst>
                    <a:ext uri="{9D8B030D-6E8A-4147-A177-3AD203B41FA5}">
                      <a16:colId xmlns:a16="http://schemas.microsoft.com/office/drawing/2014/main" val="3385273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63146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108135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1326749"/>
                    </a:ext>
                  </a:extLst>
                </a:gridCol>
              </a:tblGrid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Label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F-</a:t>
                      </a:r>
                      <a:r>
                        <a:rPr lang="en-US" dirty="0" err="1" smtClean="0"/>
                        <a:t>obs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P-value</a:t>
                      </a:r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06257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Reduced (Between)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339741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X1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598932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X2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17158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Error (Between)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2689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 (Between)</a:t>
                      </a:r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709913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Reduced (Within)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27464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X3 (Within)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2540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Error (Within)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257796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 (Within)</a:t>
                      </a:r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34619"/>
                  </a:ext>
                </a:extLst>
              </a:tr>
              <a:tr h="441229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74721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sp>
        <p:nvSpPr>
          <p:cNvPr id="3" name="Left Bracket 2"/>
          <p:cNvSpPr/>
          <p:nvPr/>
        </p:nvSpPr>
        <p:spPr>
          <a:xfrm>
            <a:off x="561860" y="1817783"/>
            <a:ext cx="139253" cy="2181340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/>
          <p:cNvSpPr/>
          <p:nvPr/>
        </p:nvSpPr>
        <p:spPr>
          <a:xfrm>
            <a:off x="561860" y="4073680"/>
            <a:ext cx="138170" cy="1743226"/>
          </a:xfrm>
          <a:prstGeom prst="leftBracket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0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in an ANOVA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2073"/>
            <a:ext cx="4572000" cy="3132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03233" y="1912073"/>
            <a:ext cx="5650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We need to account for statistical dependencies in our data to isolate the “level” at which our different effects occur. </a:t>
            </a:r>
          </a:p>
          <a:p>
            <a:endParaRPr lang="en-US" sz="2000" dirty="0"/>
          </a:p>
          <a:p>
            <a:r>
              <a:rPr lang="en-US" sz="2000" dirty="0" smtClean="0"/>
              <a:t>The book does this by calculating within-subject “weights” as a transformation of the outcome measure. </a:t>
            </a:r>
          </a:p>
          <a:p>
            <a:endParaRPr lang="en-US" sz="2000" dirty="0"/>
          </a:p>
          <a:p>
            <a:r>
              <a:rPr lang="en-US" sz="2000" dirty="0" smtClean="0"/>
              <a:t>An equivalent method, that I will use, is accounting for the mean of each person/condition/etc. in our different analyses. </a:t>
            </a:r>
          </a:p>
          <a:p>
            <a:endParaRPr lang="en-US" sz="2000" dirty="0"/>
          </a:p>
          <a:p>
            <a:r>
              <a:rPr lang="en-US" sz="2000" dirty="0" smtClean="0"/>
              <a:t>I will walk through several examples from the book.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952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Partitioning Variance in an ANOVA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3/23/2020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2073"/>
            <a:ext cx="4572000" cy="31329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03233" y="1912073"/>
            <a:ext cx="5650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In our first lab, I will ask you to walk through these calculations by hand so that you can perform them on your own. </a:t>
            </a:r>
          </a:p>
          <a:p>
            <a:endParaRPr lang="en-US" sz="2000" dirty="0"/>
          </a:p>
          <a:p>
            <a:r>
              <a:rPr lang="en-US" sz="2000" dirty="0" smtClean="0"/>
              <a:t>In general though, it is more important that you have a conceptual understanding of your study design, partitioning variance, and how to interpret the results you get from a statistical program.</a:t>
            </a:r>
          </a:p>
          <a:p>
            <a:endParaRPr lang="en-US" sz="2000" dirty="0"/>
          </a:p>
          <a:p>
            <a:r>
              <a:rPr lang="en-US" sz="2000" dirty="0" smtClean="0"/>
              <a:t>In the second lab, we will use R to run statistical models with multiple repeated measures and for mixed designs. Our focus in that lab will be on interpreting statistical outputs.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67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807</Words>
  <Application>Microsoft Office PowerPoint</Application>
  <PresentationFormat>Widescreen</PresentationFormat>
  <Paragraphs>159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Models with Non-Independent Errors</vt:lpstr>
      <vt:lpstr>Assumptions so far…</vt:lpstr>
      <vt:lpstr>However…</vt:lpstr>
      <vt:lpstr>Different “levels” of the data.</vt:lpstr>
      <vt:lpstr>Partitioning Variance (Conceptual Illustration)</vt:lpstr>
      <vt:lpstr>Partitioning Variance (Conceptual Illustration)</vt:lpstr>
      <vt:lpstr>Partitioning Variance (Conceptual Illustration)</vt:lpstr>
      <vt:lpstr>Partitioning Variance (Conceptual Illustration)</vt:lpstr>
      <vt:lpstr>Partitioning Variance (Conceptual Illustration)</vt:lpstr>
      <vt:lpstr>Partitioning Variance in an ANOVA</vt:lpstr>
      <vt:lpstr>Partitioning Variance in an ANOVA</vt:lpstr>
      <vt:lpstr>Partitioning Variance in an ANOVA</vt:lpstr>
      <vt:lpstr>Partitioning Variance in an ANOVA</vt:lpstr>
      <vt:lpstr>Partitioning Variance in an ANOVA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46</cp:revision>
  <dcterms:created xsi:type="dcterms:W3CDTF">2019-02-09T14:44:07Z</dcterms:created>
  <dcterms:modified xsi:type="dcterms:W3CDTF">2020-03-23T16:30:58Z</dcterms:modified>
</cp:coreProperties>
</file>
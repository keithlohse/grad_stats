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notesMasterIdLst>
    <p:notesMasterId r:id="rId18"/>
  </p:notesMasterIdLst>
  <p:sldIdLst>
    <p:sldId id="382" r:id="rId2"/>
    <p:sldId id="394" r:id="rId3"/>
    <p:sldId id="395" r:id="rId4"/>
    <p:sldId id="396" r:id="rId5"/>
    <p:sldId id="397" r:id="rId6"/>
    <p:sldId id="398" r:id="rId7"/>
    <p:sldId id="400" r:id="rId8"/>
    <p:sldId id="401" r:id="rId9"/>
    <p:sldId id="402" r:id="rId10"/>
    <p:sldId id="403" r:id="rId11"/>
    <p:sldId id="404" r:id="rId12"/>
    <p:sldId id="405" r:id="rId13"/>
    <p:sldId id="406" r:id="rId14"/>
    <p:sldId id="407" r:id="rId15"/>
    <p:sldId id="408" r:id="rId16"/>
    <p:sldId id="40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FF9797"/>
    <a:srgbClr val="A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3" autoAdjust="0"/>
    <p:restoredTop sz="84424" autoAdjust="0"/>
  </p:normalViewPr>
  <p:slideViewPr>
    <p:cSldViewPr snapToGrid="0">
      <p:cViewPr varScale="1">
        <p:scale>
          <a:sx n="97" d="100"/>
          <a:sy n="97" d="100"/>
        </p:scale>
        <p:origin x="103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3252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676DDE-75BB-4B04-A0BD-5C17E33DC40E}" type="datetimeFigureOut">
              <a:rPr lang="en-US" smtClean="0"/>
              <a:t>1/15/2019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A7B62B-0753-4BDE-90F4-CDED710DE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486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4731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446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1698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5899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0515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0768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0382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7254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9975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6003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8691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3227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2080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1394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1698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1960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5B63A-1390-4120-94EB-00092381E02F}" type="datetime1">
              <a:rPr lang="en-US" smtClean="0"/>
              <a:t>1/15/2019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465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730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6FB65-6EAB-49E5-A1DB-3E80C39C53B8}" type="datetime1">
              <a:rPr lang="en-US" smtClean="0"/>
              <a:t>1/15/2019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023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99224-D20E-45FC-AB47-7036B7429E06}" type="datetime1">
              <a:rPr lang="en-US" smtClean="0"/>
              <a:t>1/15/2019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435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4B67A-60ED-4797-943A-55D5CD883011}" type="datetime1">
              <a:rPr lang="en-US" smtClean="0"/>
              <a:t>1/15/2019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228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1/15/2019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25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DC5B5-E9BF-4312-938F-57F5458B9411}" type="datetime1">
              <a:rPr lang="en-US" smtClean="0"/>
              <a:t>1/15/2019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904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61C03-418D-427D-912F-3A80D46B024B}" type="datetime1">
              <a:rPr lang="en-US" smtClean="0"/>
              <a:t>1/15/2019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493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C2541-89D1-43A5-9247-9C9B7AE89E66}" type="datetime1">
              <a:rPr lang="en-US" smtClean="0"/>
              <a:t>1/15/2019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452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A8DF6-2286-4D85-88A8-00AC199A2C34}" type="datetime1">
              <a:rPr lang="en-US" smtClean="0"/>
              <a:t>1/15/2019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904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E0AFB-8BB9-4422-BB79-0EF175454CED}" type="datetime1">
              <a:rPr lang="en-US" smtClean="0"/>
              <a:t>1/15/2019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778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117F07-1C55-41A1-B81A-75CAA13E3CFD}" type="datetime1">
              <a:rPr lang="en-US" smtClean="0"/>
              <a:t>1/15/2019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271849" cy="685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323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422" y="-12033"/>
            <a:ext cx="11916578" cy="478348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75421" y="4120308"/>
            <a:ext cx="11914632" cy="27376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7316" y="1027966"/>
            <a:ext cx="11421410" cy="1771839"/>
          </a:xfrm>
          <a:solidFill>
            <a:srgbClr val="FFFFFF">
              <a:alpha val="50196"/>
            </a:srgbClr>
          </a:solidFill>
          <a:ln>
            <a:solidFill>
              <a:schemeClr val="tx1"/>
            </a:solidFill>
          </a:ln>
        </p:spPr>
        <p:txBody>
          <a:bodyPr anchor="ctr">
            <a:normAutofit/>
          </a:bodyPr>
          <a:lstStyle/>
          <a:p>
            <a:r>
              <a:rPr lang="en-US" sz="5400" dirty="0" smtClean="0"/>
              <a:t>The Sampling Distribution of PRE and the F-Distribution.</a:t>
            </a:r>
            <a:endParaRPr lang="en-US" sz="5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7316" y="4313760"/>
            <a:ext cx="9144000" cy="2302208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Keith Lohse, PhD</a:t>
            </a:r>
          </a:p>
          <a:p>
            <a:pPr algn="l"/>
            <a:r>
              <a:rPr lang="en-US" sz="2000" dirty="0" smtClean="0">
                <a:solidFill>
                  <a:schemeClr val="bg1">
                    <a:lumMod val="50000"/>
                  </a:schemeClr>
                </a:solidFill>
              </a:rPr>
              <a:t>Assistant Professor</a:t>
            </a:r>
          </a:p>
          <a:p>
            <a:pPr algn="l"/>
            <a:r>
              <a:rPr lang="en-US" sz="2000" dirty="0" smtClean="0">
                <a:solidFill>
                  <a:schemeClr val="bg1">
                    <a:lumMod val="50000"/>
                  </a:schemeClr>
                </a:solidFill>
              </a:rPr>
              <a:t>Department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of Health, Kinesiology, and Recreation</a:t>
            </a:r>
          </a:p>
          <a:p>
            <a:pPr algn="l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Department of Physical Therapy and Athletic Training</a:t>
            </a:r>
          </a:p>
          <a:p>
            <a:pPr algn="l"/>
            <a:r>
              <a:rPr lang="en-US" sz="2000" b="1" dirty="0">
                <a:solidFill>
                  <a:schemeClr val="bg1">
                    <a:lumMod val="50000"/>
                  </a:schemeClr>
                </a:solidFill>
              </a:rPr>
              <a:t>University of Utah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</a:t>
            </a:fld>
            <a:endParaRPr lang="en-US"/>
          </a:p>
        </p:txBody>
      </p:sp>
      <p:sp>
        <p:nvSpPr>
          <p:cNvPr id="7" name="AutoShape 2" descr="Image result for utah college of health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7336B5-4F30-4282-9AE3-C49F61A3C5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2484" y="5747288"/>
            <a:ext cx="2626242" cy="868680"/>
          </a:xfrm>
          <a:prstGeom prst="rect">
            <a:avLst/>
          </a:prstGeom>
        </p:spPr>
      </p:pic>
      <p:pic>
        <p:nvPicPr>
          <p:cNvPr id="12" name="Picture 2" descr="Image result for email logo png"/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4381" y="4314251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9091581" y="4358185"/>
            <a:ext cx="2960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keith.lohse@health.utah.edu</a:t>
            </a:r>
            <a:endParaRPr lang="en-US" dirty="0"/>
          </a:p>
        </p:txBody>
      </p:sp>
      <p:pic>
        <p:nvPicPr>
          <p:cNvPr id="14" name="Picture 4" descr="Image result for twitter logo png"/>
          <p:cNvPicPr>
            <a:picLocks noChangeAspect="1" noChangeArrowheads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4381" y="4815385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9091581" y="4859319"/>
            <a:ext cx="1525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@</a:t>
            </a:r>
            <a:r>
              <a:rPr lang="en-US" dirty="0" err="1" smtClean="0"/>
              <a:t>keith_lohse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5738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sampling distribution of PRE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In class, we will show the sampling distribution of PRE using simulations. </a:t>
            </a:r>
          </a:p>
          <a:p>
            <a:endParaRPr lang="en-US" dirty="0"/>
          </a:p>
          <a:p>
            <a:r>
              <a:rPr lang="en-US" dirty="0" smtClean="0"/>
              <a:t>For now, let’s focus on two key concepts:</a:t>
            </a:r>
          </a:p>
          <a:p>
            <a:pPr lvl="1"/>
            <a:r>
              <a:rPr lang="en-US" dirty="0" smtClean="0"/>
              <a:t>The proportional reduction in error will always be ≥ 0 in this situation, because the sample mean will provide the smallest SSE for a set of numbers. (If the mean had been 37 exactly, PRE would be 0.)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The larger the proportional reduction in error, the less likely we think a result is to have occurred from sampling variability alone. (That is, if the variability explained by the estimate is large compared to the residual variability, there might be something </a:t>
            </a:r>
            <a:r>
              <a:rPr lang="en-US" b="1" i="1" u="sng" dirty="0" smtClean="0"/>
              <a:t>systematic</a:t>
            </a:r>
            <a:r>
              <a:rPr lang="en-US" dirty="0" smtClean="0"/>
              <a:t> rather than </a:t>
            </a:r>
            <a:r>
              <a:rPr lang="en-US" b="1" i="1" u="sng" dirty="0" smtClean="0"/>
              <a:t>random</a:t>
            </a:r>
            <a:r>
              <a:rPr lang="en-US" dirty="0" smtClean="0"/>
              <a:t> happening in our data.) </a:t>
            </a:r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1/15/2019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364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sampling distribution of PRE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“Know thy distributions.”</a:t>
                </a:r>
              </a:p>
              <a:p>
                <a:endParaRPr lang="en-US" dirty="0"/>
              </a:p>
              <a:p>
                <a:r>
                  <a:rPr lang="en-US" dirty="0" smtClean="0"/>
                  <a:t>In order for us to make an inferential statement about the probability of observing PRE, we need to make an estimate about the variance in the population.</a:t>
                </a:r>
              </a:p>
              <a:p>
                <a:endParaRPr lang="en-US" dirty="0"/>
              </a:p>
              <a:p>
                <a:r>
                  <a:rPr lang="en-US" dirty="0" smtClean="0"/>
                  <a:t>As we have shown, the sample variance is an unbiased estimate of the population variance: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𝑆𝑆𝐸</m:t>
                        </m:r>
                      </m:num>
                      <m:den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−1)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 r="-8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1/15/2019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916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sampling distribution of PRE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 smtClean="0"/>
                  <a:t>Critically, the shape of the sampling distribution depends on the number of estimated parameters in Model A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𝑃𝐴</m:t>
                    </m:r>
                  </m:oMath>
                </a14:m>
                <a:r>
                  <a:rPr lang="en-US" dirty="0" smtClean="0"/>
                  <a:t>) and the number of observations in the sample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 smtClean="0"/>
                  <a:t>). </a:t>
                </a:r>
                <a:endParaRPr lang="en-US" i="1" dirty="0" smtClean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𝑆𝑆𝐸</m:t>
                        </m:r>
                      </m:num>
                      <m:den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den>
                    </m:f>
                  </m:oMath>
                </a14:m>
                <a:endParaRPr lang="en-US" b="0" dirty="0" smtClean="0">
                  <a:ea typeface="Cambria Math" panose="02040503050406030204" pitchFamily="18" charset="0"/>
                </a:endParaRPr>
              </a:p>
              <a:p>
                <a:endParaRPr lang="en-US" dirty="0" smtClean="0"/>
              </a:p>
              <a:p>
                <a:r>
                  <a:rPr lang="en-US" dirty="0" smtClean="0"/>
                  <a:t>We are estimating one parameter (the mean) and we have 10 observations. </a:t>
                </a:r>
              </a:p>
              <a:p>
                <a:pPr lvl="1"/>
                <a:r>
                  <a:rPr lang="en-US" dirty="0" smtClean="0"/>
                  <a:t>As the number of observations increases,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 smtClean="0"/>
                  <a:t>will be a more consistent approximation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 smtClean="0"/>
                  <a:t>and thus a larger PRE is more surprising. </a:t>
                </a:r>
              </a:p>
              <a:p>
                <a:pPr lvl="1"/>
                <a:r>
                  <a:rPr lang="en-US" dirty="0" smtClean="0"/>
                  <a:t>As the number of parameters increases, we expect to explain more error (even just by chance) and thus a larger PRE is less surprising.  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3081" r="-696" b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1/15/2019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817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sampling distribution of PRE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Thus, the number of parameters in Model A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𝑃𝐴</m:t>
                    </m:r>
                  </m:oMath>
                </a14:m>
                <a:r>
                  <a:rPr lang="en-US" dirty="0" smtClean="0"/>
                  <a:t>) and the number of observations in the sample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 smtClean="0"/>
                  <a:t>) work against each other in how we interpret the PRE we observe.  </a:t>
                </a:r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  <a:p>
                <a:r>
                  <a:rPr lang="en-US" dirty="0" smtClean="0">
                    <a:latin typeface="Calibri" panose="020F0502020204030204" pitchFamily="34" charset="0"/>
                    <a:cs typeface="Calibri" panose="020F0502020204030204" pitchFamily="34" charset="0"/>
                  </a:rPr>
                  <a:t>However, critical values of PRE and its distribution are rare in statistics books. Instead, it is much more common to see PRE converted into an </a:t>
                </a:r>
                <a:r>
                  <a:rPr lang="en-US" b="1" i="1" u="sng" dirty="0" smtClean="0">
                    <a:latin typeface="Calibri" panose="020F0502020204030204" pitchFamily="34" charset="0"/>
                    <a:cs typeface="Calibri" panose="020F0502020204030204" pitchFamily="34" charset="0"/>
                  </a:rPr>
                  <a:t>F-value</a:t>
                </a:r>
                <a:r>
                  <a:rPr lang="en-US" dirty="0" smtClean="0">
                    <a:latin typeface="Calibri" panose="020F0502020204030204" pitchFamily="34" charset="0"/>
                    <a:cs typeface="Calibri" panose="020F0502020204030204" pitchFamily="34" charset="0"/>
                  </a:rPr>
                  <a:t>, and interpreted with respect to the </a:t>
                </a:r>
                <a:r>
                  <a:rPr lang="en-US" b="1" i="1" u="sng" dirty="0" smtClean="0">
                    <a:latin typeface="Calibri" panose="020F0502020204030204" pitchFamily="34" charset="0"/>
                    <a:cs typeface="Calibri" panose="020F0502020204030204" pitchFamily="34" charset="0"/>
                  </a:rPr>
                  <a:t>F-distribution</a:t>
                </a:r>
                <a:r>
                  <a:rPr lang="en-US" dirty="0" smtClean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endParaRPr lang="en-US" b="1" i="1" u="sng" dirty="0" smtClean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 r="-16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1/15/2019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071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F-statistic and F-distribution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The F-statistic is defined as: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𝑃𝑅𝐸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/(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𝑃𝐴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𝑃𝐶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𝑃𝑅𝐸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)/(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𝑃𝐴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1/15/2019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51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F-statistic and F-distribution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The F-statistic is defined as: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𝑃𝑅𝐸</m:t>
                          </m:r>
                          <m:r>
                            <a:rPr lang="en-US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/(</m:t>
                          </m:r>
                          <m:r>
                            <a:rPr lang="en-US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𝑃𝐴</m:t>
                          </m:r>
                          <m:r>
                            <a:rPr lang="en-US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𝑃𝐶</m:t>
                          </m:r>
                          <m:r>
                            <a:rPr lang="en-US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𝑃𝑅𝐸</m:t>
                          </m:r>
                          <m: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)/(</m:t>
                          </m:r>
                          <m:r>
                            <a:rPr lang="en-US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𝑃𝐴</m:t>
                          </m:r>
                          <m:r>
                            <a:rPr lang="en-US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 smtClean="0"/>
                  <a:t>Where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𝑃𝑅𝐸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𝑃𝐴</m:t>
                        </m:r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𝑃𝐶</m:t>
                        </m:r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dirty="0" smtClean="0"/>
                  <a:t> is </a:t>
                </a:r>
                <a:r>
                  <a:rPr lang="en-US" dirty="0" smtClean="0">
                    <a:solidFill>
                      <a:schemeClr val="accent1"/>
                    </a:solidFill>
                  </a:rPr>
                  <a:t>proportional </a:t>
                </a:r>
                <a:r>
                  <a:rPr lang="en-US" dirty="0" smtClean="0">
                    <a:solidFill>
                      <a:schemeClr val="accent5"/>
                    </a:solidFill>
                  </a:rPr>
                  <a:t>reduction in error</a:t>
                </a:r>
                <a:r>
                  <a:rPr lang="en-US" dirty="0" smtClean="0"/>
                  <a:t>, </a:t>
                </a:r>
                <a:r>
                  <a:rPr lang="en-US" dirty="0" smtClean="0">
                    <a:solidFill>
                      <a:srgbClr val="7030A0"/>
                    </a:solidFill>
                  </a:rPr>
                  <a:t>per parameter</a:t>
                </a:r>
                <a:r>
                  <a:rPr lang="en-US" dirty="0" smtClean="0"/>
                  <a:t>, for the comparison of Model A to Model C.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1/15/2019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41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F-statistic and F-distribution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The F-statistic is defined as: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𝑃𝑅𝐸</m:t>
                          </m:r>
                          <m:r>
                            <a:rPr lang="en-US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/(</m:t>
                          </m:r>
                          <m:r>
                            <a:rPr lang="en-US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𝑃𝐴</m:t>
                          </m:r>
                          <m:r>
                            <a:rPr lang="en-US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𝑃𝐶</m:t>
                          </m:r>
                          <m:r>
                            <a:rPr lang="en-US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𝑃𝑅𝐸</m:t>
                          </m:r>
                          <m: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)/(</m:t>
                          </m:r>
                          <m:r>
                            <a:rPr lang="en-US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𝑃𝐴</m:t>
                          </m:r>
                          <m:r>
                            <a:rPr lang="en-US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 smtClean="0"/>
                  <a:t>Where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𝑃𝑅𝐸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𝑃𝐴</m:t>
                        </m:r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𝑃𝐶</m:t>
                        </m:r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dirty="0" smtClean="0"/>
                  <a:t> is </a:t>
                </a:r>
                <a:r>
                  <a:rPr lang="en-US" dirty="0" smtClean="0">
                    <a:solidFill>
                      <a:schemeClr val="accent1"/>
                    </a:solidFill>
                  </a:rPr>
                  <a:t>proportional reduction</a:t>
                </a:r>
                <a:r>
                  <a:rPr lang="en-US" dirty="0" smtClean="0"/>
                  <a:t> in error, </a:t>
                </a:r>
                <a:r>
                  <a:rPr lang="en-US" dirty="0" smtClean="0">
                    <a:solidFill>
                      <a:srgbClr val="7030A0"/>
                    </a:solidFill>
                  </a:rPr>
                  <a:t>per parameter</a:t>
                </a:r>
                <a:r>
                  <a:rPr lang="en-US" dirty="0" smtClean="0"/>
                  <a:t>, for the comparison of Model A to Model C. </a:t>
                </a:r>
              </a:p>
              <a:p>
                <a:r>
                  <a:rPr lang="en-US" dirty="0" smtClean="0"/>
                  <a:t>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(1−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𝑃𝑅𝐸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𝑃𝐴</m:t>
                        </m:r>
                        <m:r>
                          <a:rPr lang="en-US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dirty="0"/>
                  <a:t> is </a:t>
                </a:r>
                <a:r>
                  <a:rPr lang="en-US" dirty="0" smtClean="0"/>
                  <a:t>the </a:t>
                </a:r>
                <a:r>
                  <a:rPr lang="en-US" dirty="0" smtClean="0">
                    <a:solidFill>
                      <a:srgbClr val="FF0000"/>
                    </a:solidFill>
                  </a:rPr>
                  <a:t>remaining,</a:t>
                </a:r>
                <a:r>
                  <a:rPr lang="en-US" dirty="0" smtClean="0"/>
                  <a:t> </a:t>
                </a:r>
                <a:r>
                  <a:rPr lang="en-US" dirty="0" smtClean="0">
                    <a:solidFill>
                      <a:srgbClr val="FF0000"/>
                    </a:solidFill>
                  </a:rPr>
                  <a:t>unexplained error </a:t>
                </a:r>
                <a:r>
                  <a:rPr lang="en-US" dirty="0" smtClean="0">
                    <a:solidFill>
                      <a:schemeClr val="accent6"/>
                    </a:solidFill>
                  </a:rPr>
                  <a:t>per the remaining degrees of freedom</a:t>
                </a:r>
                <a:r>
                  <a:rPr lang="en-US" dirty="0" smtClean="0"/>
                  <a:t>. 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1/15/2019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689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F-statistic and F-distribution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The F-statistic is defined as: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𝑃𝑅𝐸</m:t>
                          </m:r>
                          <m:r>
                            <a:rPr lang="en-US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/(</m:t>
                          </m:r>
                          <m:r>
                            <a:rPr lang="en-US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𝑃𝐴</m:t>
                          </m:r>
                          <m:r>
                            <a:rPr lang="en-US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𝑃𝐶</m:t>
                          </m:r>
                          <m:r>
                            <a:rPr lang="en-US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𝑃𝑅𝐸</m:t>
                          </m:r>
                          <m: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)/(</m:t>
                          </m:r>
                          <m:r>
                            <a:rPr lang="en-US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𝑃𝐴</m:t>
                          </m:r>
                          <m:r>
                            <a:rPr lang="en-US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 smtClean="0"/>
                  <a:t>Thus, the F-value can be interpreted as the ratio of explained variance to unexplained variance, taking into account the sample size and number of parameters. 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 r="-16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1/15/2019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661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225597"/>
            <a:ext cx="4572000" cy="27432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F-statistic and F-distribution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Our particular F-observed value can then be compared to the F-distribution for that number of parameters (df1) and number of observations (df2).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1/15/2019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5872093" y="3225597"/>
                <a:ext cx="3580724" cy="8613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𝑃𝑅𝐸</m:t>
                          </m:r>
                          <m:r>
                            <a:rPr lang="en-US" sz="24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/(</m:t>
                          </m:r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𝑃𝐴</m:t>
                          </m:r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𝑃𝐶</m:t>
                          </m:r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𝑃𝑅𝐸</m:t>
                          </m:r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)/(</m:t>
                          </m:r>
                          <m:r>
                            <a:rPr lang="en-US" sz="2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𝑃𝐴</m:t>
                          </m:r>
                          <m:r>
                            <a:rPr lang="en-US" sz="2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2093" y="3225597"/>
                <a:ext cx="3580724" cy="86132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091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F-statistic and F-distribution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Our particular F-observed value can then be compared to the F-distribution for that number of parameters (df1) and number of observations (df2).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1/15/2019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5872093" y="3225597"/>
                <a:ext cx="3732176" cy="8613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0.603</m:t>
                          </m:r>
                          <m:r>
                            <a:rPr lang="en-US" sz="24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/(</m:t>
                          </m:r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𝑃𝐴</m:t>
                          </m:r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𝑃𝐶</m:t>
                          </m:r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0.603</m:t>
                          </m:r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)/(</m:t>
                          </m:r>
                          <m:r>
                            <a:rPr lang="en-US" sz="2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𝑃𝐴</m:t>
                          </m:r>
                          <m:r>
                            <a:rPr lang="en-US" sz="2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2093" y="3225597"/>
                <a:ext cx="3732176" cy="86132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225597"/>
            <a:ext cx="45720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280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F-statistic and F-distribution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Our particular F-observed value can then be compared to the F-distribution for that number of parameters (df1) and number of observations (df2).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1/15/2019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5872093" y="3225597"/>
                <a:ext cx="3738331" cy="8613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0.603</m:t>
                          </m:r>
                          <m:r>
                            <a:rPr lang="en-US" sz="24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sz="24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1−0</m:t>
                          </m:r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0.603</m:t>
                          </m:r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)/</m:t>
                          </m:r>
                          <m:r>
                            <a:rPr lang="en-US" sz="24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10 −1</m:t>
                          </m:r>
                          <m:r>
                            <a:rPr lang="en-US" sz="2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2093" y="3225597"/>
                <a:ext cx="3738331" cy="86132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225597"/>
            <a:ext cx="45720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095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F-statistic and F-distribution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Our particular F-observed value can then be compared to the F-distribution for that number of parameters (df1) and number of observations (df2).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1/15/2019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5872093" y="3225597"/>
                <a:ext cx="3738331" cy="8613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0.603</m:t>
                          </m:r>
                          <m:r>
                            <a:rPr lang="en-US" sz="24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sz="24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1−0</m:t>
                          </m:r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0.603</m:t>
                          </m:r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)/</m:t>
                          </m:r>
                          <m:r>
                            <a:rPr lang="en-US" sz="24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10 −1</m:t>
                          </m:r>
                          <m:r>
                            <a:rPr lang="en-US" sz="24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2093" y="3225597"/>
                <a:ext cx="3738331" cy="86132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5872092" y="4353823"/>
                <a:ext cx="2429127" cy="85170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0.603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0.397</m:t>
                          </m:r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)/</m:t>
                          </m:r>
                          <m:r>
                            <a:rPr lang="en-US" sz="24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9)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2092" y="4353823"/>
                <a:ext cx="2429127" cy="85170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5872092" y="5542943"/>
                <a:ext cx="159556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=13.67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2092" y="5542943"/>
                <a:ext cx="1595565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3225597"/>
            <a:ext cx="45720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679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228357"/>
            <a:ext cx="4572000" cy="27432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F-statistic and F-distribution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Our particular F-observed value can then be compared to the F-distribution for that number of parameters (df1) and number of observations (df2).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1/15/2019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6096000" y="3416688"/>
                <a:ext cx="159556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=13.67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416688"/>
                <a:ext cx="1595565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6095999" y="4274545"/>
            <a:ext cx="562594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Assuming the null-hypothesis, with 1 and 9 degrees of freedom, we would expect to see an F-value ≥ 13.67 about 0.005% of the time due to sampling variability alone.</a:t>
            </a:r>
          </a:p>
          <a:p>
            <a:endParaRPr lang="en-US" sz="2000" dirty="0"/>
          </a:p>
          <a:p>
            <a:r>
              <a:rPr lang="en-US" sz="2000" dirty="0" smtClean="0"/>
              <a:t>F(1,9) = 13.67, p = 0.005 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67482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the p-value?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Given a particular null-distribution, this is the probability of observing an effect this large (or larger) assuming that sampling variability is the only factor operating on our data. 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P-values </a:t>
            </a:r>
            <a:r>
              <a:rPr lang="en-US" dirty="0"/>
              <a:t>can indicate how </a:t>
            </a:r>
            <a:r>
              <a:rPr lang="en-US" i="1" dirty="0"/>
              <a:t>incompatible</a:t>
            </a:r>
            <a:r>
              <a:rPr lang="en-US" dirty="0"/>
              <a:t> the data are with your pre-specified  statistical model (i.e., the null model). 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We need to make sure that our assumption of a particular null distribution is reasonable (e.g., normality of errors).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We need to control for other sources of bias through our study design (e.g., were participants randomly selected and assigned?).  </a:t>
            </a:r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1/15/2019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232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p-value is not...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/>
              <a:t>Not the probability that your result is </a:t>
            </a:r>
            <a:r>
              <a:rPr lang="en-US" i="1" dirty="0" smtClean="0"/>
              <a:t>real/true</a:t>
            </a:r>
            <a:r>
              <a:rPr lang="en-US" dirty="0" smtClean="0"/>
              <a:t>. </a:t>
            </a:r>
          </a:p>
          <a:p>
            <a:endParaRPr lang="en-US" dirty="0"/>
          </a:p>
          <a:p>
            <a:r>
              <a:rPr lang="en-US" dirty="0" smtClean="0"/>
              <a:t>Not the probability that the result was observed by chance alone. </a:t>
            </a:r>
          </a:p>
          <a:p>
            <a:endParaRPr lang="en-US" dirty="0"/>
          </a:p>
          <a:p>
            <a:r>
              <a:rPr lang="en-US" dirty="0" smtClean="0"/>
              <a:t>Not the probability that your alternative hypothesis is correct.</a:t>
            </a:r>
            <a:r>
              <a:rPr lang="en-US" dirty="0"/>
              <a:t> It also does not prove the null-hypothesis is </a:t>
            </a:r>
            <a:r>
              <a:rPr lang="en-US" i="1" dirty="0"/>
              <a:t>false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 smtClean="0"/>
              <a:t>Not the probability that another researcher running the same experiment would get the same answer.</a:t>
            </a:r>
          </a:p>
          <a:p>
            <a:endParaRPr lang="en-US" dirty="0"/>
          </a:p>
          <a:p>
            <a:r>
              <a:rPr lang="en-US" dirty="0" smtClean="0"/>
              <a:t>Not (by itself) an indication of the size or importance of the observed effect.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1/15/2019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045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5265</TotalTime>
  <Words>995</Words>
  <Application>Microsoft Office PowerPoint</Application>
  <PresentationFormat>Widescreen</PresentationFormat>
  <Paragraphs>137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Cambria Math</vt:lpstr>
      <vt:lpstr>Office Theme</vt:lpstr>
      <vt:lpstr>The Sampling Distribution of PRE and the F-Distribution.</vt:lpstr>
      <vt:lpstr>The sampling distribution of PRE</vt:lpstr>
      <vt:lpstr>The sampling distribution of PRE</vt:lpstr>
      <vt:lpstr>The sampling distribution of PRE</vt:lpstr>
      <vt:lpstr>The sampling distribution of PRE</vt:lpstr>
      <vt:lpstr>The F-statistic and F-distribution</vt:lpstr>
      <vt:lpstr>The F-statistic and F-distribution</vt:lpstr>
      <vt:lpstr>The F-statistic and F-distribution</vt:lpstr>
      <vt:lpstr>The F-statistic and F-distribution</vt:lpstr>
      <vt:lpstr>The F-statistic and F-distribution</vt:lpstr>
      <vt:lpstr>The F-statistic and F-distribution</vt:lpstr>
      <vt:lpstr>The F-statistic and F-distribution</vt:lpstr>
      <vt:lpstr>The F-statistic and F-distribution</vt:lpstr>
      <vt:lpstr>The F-statistic and F-distribution</vt:lpstr>
      <vt:lpstr>What is the p-value? </vt:lpstr>
      <vt:lpstr>The p-value is not...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Measurement in medic</dc:title>
  <dc:creator>Keith Lohse</dc:creator>
  <cp:lastModifiedBy>Keith Lohse</cp:lastModifiedBy>
  <cp:revision>404</cp:revision>
  <dcterms:created xsi:type="dcterms:W3CDTF">2017-01-28T12:59:49Z</dcterms:created>
  <dcterms:modified xsi:type="dcterms:W3CDTF">2019-01-15T17:52:24Z</dcterms:modified>
</cp:coreProperties>
</file>
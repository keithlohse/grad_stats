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82" r:id="rId2"/>
    <p:sldId id="383" r:id="rId3"/>
    <p:sldId id="384" r:id="rId4"/>
    <p:sldId id="385" r:id="rId5"/>
    <p:sldId id="386" r:id="rId6"/>
    <p:sldId id="387" r:id="rId7"/>
    <p:sldId id="38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59" d="100"/>
          <a:sy n="59" d="100"/>
        </p:scale>
        <p:origin x="9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26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62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972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49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74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53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4/14/2020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4/14/2020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4/14/2020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 smtClean="0"/>
              <a:t>Dealing with Outliers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</a:t>
            </a:r>
            <a:r>
              <a:rPr lang="en-US" b="1" dirty="0" smtClean="0"/>
              <a:t>PhD, </a:t>
            </a:r>
            <a:r>
              <a:rPr lang="en-US" b="1" dirty="0" err="1" smtClean="0"/>
              <a:t>PStat</a:t>
            </a:r>
            <a:endParaRPr lang="en-US" b="1" dirty="0"/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should we remove </a:t>
            </a:r>
            <a:r>
              <a:rPr lang="en-US" dirty="0" smtClean="0"/>
              <a:t>outliers?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Often, when dealing with outliers, we face tough questions about whether to include those data or not. </a:t>
            </a:r>
          </a:p>
          <a:p>
            <a:endParaRPr lang="en-US" dirty="0"/>
          </a:p>
          <a:p>
            <a:r>
              <a:rPr lang="en-US" dirty="0" smtClean="0"/>
              <a:t>These decisions are highly contextual but in general, </a:t>
            </a:r>
            <a:r>
              <a:rPr lang="en-US" b="1" dirty="0" smtClean="0"/>
              <a:t>it is not appropriate to drop a data point simply because it is an outlier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Rare events and/or exceptional individuals happen.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4/14/2020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3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should we remove outliers?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it is obvious that an outlier is due to an error or comes from a different population, then it is safe to remove, but this removal should still be reported. 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lvl="1"/>
            <a:r>
              <a:rPr lang="en-US" dirty="0" smtClean="0"/>
              <a:t>E.g., let’s say we find an outlying data point, we can remove it…</a:t>
            </a:r>
          </a:p>
          <a:p>
            <a:pPr lvl="2"/>
            <a:r>
              <a:rPr lang="en-US" dirty="0" smtClean="0"/>
              <a:t>If it is a biologically impossible value (e.g., a human VO2max = 185).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If it came from an unusual event (e.g., a fire alarm went off during that data collection).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If it came from a fundamentally different population (e.g., your sample is intended to be PD patients off medication, but in retrospect you find one of them was on medication).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5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should we remove outliers?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 smtClean="0"/>
              <a:t>If the outlier does not change our result (magnitude/significance) but does affect our assumptions, you can drop the outlier, but its removal should be reported. </a:t>
            </a:r>
          </a:p>
          <a:p>
            <a:pPr marL="514350" indent="-514350">
              <a:buFont typeface="+mj-lt"/>
              <a:buAutoNum type="arabicPeriod" startAt="2"/>
            </a:pPr>
            <a:endParaRPr lang="en-US" dirty="0" smtClean="0"/>
          </a:p>
          <a:p>
            <a:pPr lvl="1"/>
            <a:r>
              <a:rPr lang="en-US" dirty="0" smtClean="0"/>
              <a:t>E.g., an outlying data-point creates positive skew in the residuals, leading to a violation of normality and homoscedasticity. Critically though, the inclusion of this data-point does not </a:t>
            </a:r>
            <a:r>
              <a:rPr lang="en-US" b="1" dirty="0" smtClean="0"/>
              <a:t>substantially*</a:t>
            </a:r>
            <a:r>
              <a:rPr lang="en-US" dirty="0" smtClean="0"/>
              <a:t> alter the magnitude or significance of the results.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 smtClean="0"/>
              <a:t>* Note that substantial is a contextual judgment.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9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should we remove outliers?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 smtClean="0"/>
              <a:t>If an outlier affects our results and our assumptions, then the situation gets more complicated: </a:t>
            </a:r>
          </a:p>
          <a:p>
            <a:pPr lvl="2"/>
            <a:r>
              <a:rPr lang="en-US" dirty="0" smtClean="0"/>
              <a:t>Usually, this will be captured by a large Cooks’ Distance. </a:t>
            </a:r>
          </a:p>
          <a:p>
            <a:pPr lvl="1"/>
            <a:endParaRPr lang="en-US" dirty="0"/>
          </a:p>
          <a:p>
            <a:pPr marL="914400" lvl="1" indent="-457200">
              <a:buFont typeface="+mj-lt"/>
              <a:buAutoNum type="alphaUcPeriod"/>
            </a:pPr>
            <a:r>
              <a:rPr lang="en-US" dirty="0" smtClean="0"/>
              <a:t>If an outlier is driving a result/association, then that outlier should be removed and results should reported without the outlier included.</a:t>
            </a:r>
          </a:p>
          <a:p>
            <a:pPr lvl="2"/>
            <a:r>
              <a:rPr lang="en-US" dirty="0" smtClean="0"/>
              <a:t>Relationships that disappear when an outlier is removed are not robust. </a:t>
            </a:r>
          </a:p>
          <a:p>
            <a:pPr lvl="1"/>
            <a:endParaRPr lang="en-US" dirty="0" smtClean="0"/>
          </a:p>
          <a:p>
            <a:pPr marL="914400" lvl="1" indent="-457200">
              <a:buFont typeface="+mj-lt"/>
              <a:buAutoNum type="alphaUcPeriod" startAt="2"/>
            </a:pPr>
            <a:r>
              <a:rPr lang="en-US" dirty="0" smtClean="0"/>
              <a:t>If an outlier affects a result/association, then it might be reasonable to run the analysis with and without the influential data points.</a:t>
            </a:r>
          </a:p>
          <a:p>
            <a:pPr lvl="2"/>
            <a:r>
              <a:rPr lang="en-US" dirty="0" smtClean="0"/>
              <a:t>Ideally, there should also be a compelling (non-statistical reason) for why those data points might be different. </a:t>
            </a:r>
          </a:p>
          <a:p>
            <a:pPr lvl="2"/>
            <a:r>
              <a:rPr lang="en-US" dirty="0" smtClean="0"/>
              <a:t>All analyses should be reported. </a:t>
            </a:r>
          </a:p>
          <a:p>
            <a:pPr lvl="2"/>
            <a:r>
              <a:rPr lang="en-US" dirty="0" smtClean="0"/>
              <a:t>Any differences in the analyses need to be emphasized.</a:t>
            </a:r>
          </a:p>
          <a:p>
            <a:pPr lvl="2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87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Retaining outliers: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Erring on the side of caution then, we often want to include all of the data, but reduce any disproportionate influence a single data-point has on the model. </a:t>
            </a:r>
          </a:p>
          <a:p>
            <a:endParaRPr lang="en-US" dirty="0"/>
          </a:p>
          <a:p>
            <a:r>
              <a:rPr lang="en-US" dirty="0" smtClean="0"/>
              <a:t>How can we retain data while meeting all of our assumptions?</a:t>
            </a:r>
          </a:p>
          <a:p>
            <a:pPr lvl="1"/>
            <a:r>
              <a:rPr lang="en-US" dirty="0" smtClean="0"/>
              <a:t>Do we have the right statistical model? </a:t>
            </a:r>
          </a:p>
          <a:p>
            <a:pPr lvl="2"/>
            <a:r>
              <a:rPr lang="en-US" dirty="0" smtClean="0"/>
              <a:t>(Choose an approach with different assumptions.)</a:t>
            </a:r>
          </a:p>
          <a:p>
            <a:pPr lvl="1"/>
            <a:r>
              <a:rPr lang="en-US" dirty="0" smtClean="0"/>
              <a:t>Is a transformation of the outcome appropriate?</a:t>
            </a:r>
          </a:p>
          <a:p>
            <a:pPr lvl="2"/>
            <a:r>
              <a:rPr lang="en-US" dirty="0" smtClean="0"/>
              <a:t>(Bend our data to fit our assumptions.)</a:t>
            </a:r>
          </a:p>
          <a:p>
            <a:pPr lvl="2"/>
            <a:endParaRPr lang="en-US" dirty="0" smtClean="0"/>
          </a:p>
          <a:p>
            <a:r>
              <a:rPr lang="en-US" b="1" i="1" dirty="0" smtClean="0"/>
              <a:t>But if our result is being driven by anomalous data/only exists when our assumptions are violated, then it isn’t really much of a finding and the removal of outliers is warranted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2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“Put your [data] on the table!”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085114" cy="4351338"/>
          </a:xfr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If you are confused or uncertain on what to do in a certain situation, </a:t>
            </a:r>
            <a:r>
              <a:rPr lang="en-US" b="1" dirty="0" smtClean="0"/>
              <a:t>that is okay</a:t>
            </a:r>
            <a:r>
              <a:rPr lang="en-US" dirty="0" smtClean="0"/>
              <a:t>!</a:t>
            </a:r>
          </a:p>
          <a:p>
            <a:endParaRPr lang="en-US" dirty="0"/>
          </a:p>
          <a:p>
            <a:r>
              <a:rPr lang="en-US" dirty="0" smtClean="0"/>
              <a:t>In research, we will often encounter ambiguity. 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 those situations we should be transparent, reporting all analyses and as much of the data as possible. </a:t>
            </a:r>
          </a:p>
          <a:p>
            <a:pPr lvl="1"/>
            <a:r>
              <a:rPr lang="en-US" dirty="0" smtClean="0"/>
              <a:t>This allows readers/reviewers to make informed judgments and recommendations.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4/15/2020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872" y="1825625"/>
            <a:ext cx="3117800" cy="3792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60872" y="5618617"/>
            <a:ext cx="2898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[Karl Pearson; </a:t>
            </a:r>
            <a:r>
              <a:rPr lang="en-US" dirty="0" err="1" smtClean="0"/>
              <a:t>wikicommons</a:t>
            </a:r>
            <a:r>
              <a:rPr lang="en-US" dirty="0" smtClean="0"/>
              <a:t>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</TotalTime>
  <Words>641</Words>
  <Application>Microsoft Office PowerPoint</Application>
  <PresentationFormat>Widescreen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Dealing with Outliers</vt:lpstr>
      <vt:lpstr>When should we remove outliers?</vt:lpstr>
      <vt:lpstr>When should we remove outliers?</vt:lpstr>
      <vt:lpstr>When should we remove outliers?</vt:lpstr>
      <vt:lpstr>When should we remove outliers?</vt:lpstr>
      <vt:lpstr>Retaining outliers:</vt:lpstr>
      <vt:lpstr>“Put your [data] on the table!”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74</cp:revision>
  <dcterms:created xsi:type="dcterms:W3CDTF">2019-02-09T14:44:07Z</dcterms:created>
  <dcterms:modified xsi:type="dcterms:W3CDTF">2020-04-15T17:51:44Z</dcterms:modified>
</cp:coreProperties>
</file>
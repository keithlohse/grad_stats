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82" r:id="rId2"/>
    <p:sldId id="385" r:id="rId3"/>
    <p:sldId id="383" r:id="rId4"/>
    <p:sldId id="387" r:id="rId5"/>
    <p:sldId id="386" r:id="rId6"/>
    <p:sldId id="388" r:id="rId7"/>
    <p:sldId id="3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59" d="100"/>
          <a:sy n="59" d="100"/>
        </p:scale>
        <p:origin x="9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4/10/2020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4/10/2020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4/10/2020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4/10/2020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Outliers – Unusual Values in Y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</a:t>
            </a:r>
            <a:r>
              <a:rPr lang="en-US" b="1" dirty="0" smtClean="0"/>
              <a:t>PhD, </a:t>
            </a:r>
            <a:r>
              <a:rPr lang="en-US" b="1" dirty="0" err="1" smtClean="0"/>
              <a:t>PStat</a:t>
            </a:r>
            <a:endParaRPr lang="en-US" b="1" dirty="0"/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Residual “Outliers”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Residuals are the difference between the actual DATA and our MODEL’s predictions: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endParaRPr lang="en-US" dirty="0"/>
              </a:p>
              <a:p>
                <a:r>
                  <a:rPr lang="en-US" dirty="0" smtClean="0"/>
                  <a:t>Problems with the “raw” residuals as a measure of error:</a:t>
                </a:r>
              </a:p>
              <a:p>
                <a:pPr lvl="1"/>
                <a:r>
                  <a:rPr lang="en-US" b="1" dirty="0" smtClean="0"/>
                  <a:t>Scale</a:t>
                </a:r>
                <a:r>
                  <a:rPr lang="en-US" dirty="0" smtClean="0"/>
                  <a:t>: Unless we standardize the residuals in some way, larger scales are always going to look like they more </a:t>
                </a:r>
                <a:r>
                  <a:rPr lang="en-US" dirty="0" err="1" smtClean="0"/>
                  <a:t>errorful</a:t>
                </a:r>
                <a:r>
                  <a:rPr lang="en-US" dirty="0" smtClean="0"/>
                  <a:t> than smaller scales.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 </a:t>
                </a:r>
              </a:p>
              <a:p>
                <a:pPr lvl="1"/>
                <a:r>
                  <a:rPr lang="en-US" b="1" dirty="0" smtClean="0"/>
                  <a:t>Inclusion</a:t>
                </a:r>
                <a:r>
                  <a:rPr lang="en-US" dirty="0" smtClean="0"/>
                  <a:t>: If an extreme value is included to begin with, it is going to inflate measures of variability. Paradoxically, this will make the value appear less extreme.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0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Identifying Residual “Outliers”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1899860"/>
            <a:ext cx="2416046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a-DK" dirty="0">
                <a:latin typeface="Consolas" panose="020B0609020204030204" pitchFamily="49" charset="0"/>
              </a:rPr>
              <a:t>&gt; DAT2</a:t>
            </a:r>
          </a:p>
          <a:p>
            <a:r>
              <a:rPr lang="da-DK" dirty="0">
                <a:latin typeface="Consolas" panose="020B0609020204030204" pitchFamily="49" charset="0"/>
              </a:rPr>
              <a:t> </a:t>
            </a:r>
            <a:r>
              <a:rPr lang="da-DK" b="1" u="sng" dirty="0" smtClean="0">
                <a:latin typeface="Consolas" panose="020B0609020204030204" pitchFamily="49" charset="0"/>
              </a:rPr>
              <a:t>ID</a:t>
            </a:r>
            <a:r>
              <a:rPr lang="da-DK" dirty="0" smtClean="0">
                <a:latin typeface="Consolas" panose="020B0609020204030204" pitchFamily="49" charset="0"/>
              </a:rPr>
              <a:t>  	</a:t>
            </a:r>
            <a:r>
              <a:rPr lang="da-DK" b="1" u="sng" dirty="0" smtClean="0">
                <a:latin typeface="Consolas" panose="020B0609020204030204" pitchFamily="49" charset="0"/>
              </a:rPr>
              <a:t>SAT </a:t>
            </a:r>
            <a:r>
              <a:rPr lang="da-DK" b="1" dirty="0" smtClean="0">
                <a:latin typeface="Consolas" panose="020B0609020204030204" pitchFamily="49" charset="0"/>
              </a:rPr>
              <a:t>	</a:t>
            </a:r>
            <a:r>
              <a:rPr lang="da-DK" b="1" u="sng" dirty="0" smtClean="0">
                <a:latin typeface="Consolas" panose="020B0609020204030204" pitchFamily="49" charset="0"/>
              </a:rPr>
              <a:t>HSR</a:t>
            </a:r>
            <a:endParaRPr lang="da-DK" b="1" u="sng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1  </a:t>
            </a:r>
            <a:r>
              <a:rPr lang="da-DK" dirty="0" smtClean="0">
                <a:latin typeface="Consolas" panose="020B0609020204030204" pitchFamily="49" charset="0"/>
              </a:rPr>
              <a:t>	42	91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2   </a:t>
            </a:r>
            <a:r>
              <a:rPr lang="da-DK" dirty="0" smtClean="0">
                <a:latin typeface="Consolas" panose="020B0609020204030204" pitchFamily="49" charset="0"/>
              </a:rPr>
              <a:t>	48  	87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3   </a:t>
            </a:r>
            <a:r>
              <a:rPr lang="da-DK" dirty="0" smtClean="0">
                <a:latin typeface="Consolas" panose="020B0609020204030204" pitchFamily="49" charset="0"/>
              </a:rPr>
              <a:t>	58  	85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4   </a:t>
            </a:r>
            <a:r>
              <a:rPr lang="da-DK" dirty="0" smtClean="0">
                <a:latin typeface="Consolas" panose="020B0609020204030204" pitchFamily="49" charset="0"/>
              </a:rPr>
              <a:t>	45  	79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5   </a:t>
            </a:r>
            <a:r>
              <a:rPr lang="da-DK" dirty="0" smtClean="0">
                <a:latin typeface="Consolas" panose="020B0609020204030204" pitchFamily="49" charset="0"/>
              </a:rPr>
              <a:t>	45  	90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b="1" dirty="0">
                <a:solidFill>
                  <a:srgbClr val="FF0000"/>
                </a:solidFill>
                <a:latin typeface="Consolas" panose="020B0609020204030204" pitchFamily="49" charset="0"/>
              </a:rPr>
              <a:t>6   </a:t>
            </a:r>
            <a:r>
              <a:rPr lang="da-DK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	86  	48</a:t>
            </a:r>
            <a:endParaRPr lang="da-DK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7   </a:t>
            </a:r>
            <a:r>
              <a:rPr lang="da-DK" dirty="0" smtClean="0">
                <a:latin typeface="Consolas" panose="020B0609020204030204" pitchFamily="49" charset="0"/>
              </a:rPr>
              <a:t>	51  	83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8   </a:t>
            </a:r>
            <a:r>
              <a:rPr lang="da-DK" dirty="0" smtClean="0">
                <a:latin typeface="Consolas" panose="020B0609020204030204" pitchFamily="49" charset="0"/>
              </a:rPr>
              <a:t>	56  	99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9   </a:t>
            </a:r>
            <a:r>
              <a:rPr lang="da-DK" dirty="0" smtClean="0">
                <a:latin typeface="Consolas" panose="020B0609020204030204" pitchFamily="49" charset="0"/>
              </a:rPr>
              <a:t>	51  	81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10  </a:t>
            </a:r>
            <a:r>
              <a:rPr lang="da-DK" dirty="0" smtClean="0">
                <a:latin typeface="Consolas" panose="020B0609020204030204" pitchFamily="49" charset="0"/>
              </a:rPr>
              <a:t>	58  	94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11  </a:t>
            </a:r>
            <a:r>
              <a:rPr lang="da-DK" dirty="0" smtClean="0">
                <a:latin typeface="Consolas" panose="020B0609020204030204" pitchFamily="49" charset="0"/>
              </a:rPr>
              <a:t>	42  	86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12  </a:t>
            </a:r>
            <a:r>
              <a:rPr lang="da-DK" dirty="0" smtClean="0">
                <a:latin typeface="Consolas" panose="020B0609020204030204" pitchFamily="49" charset="0"/>
              </a:rPr>
              <a:t>	55  	99</a:t>
            </a:r>
            <a:endParaRPr lang="da-DK" dirty="0">
              <a:latin typeface="Consolas" panose="020B0609020204030204" pitchFamily="49" charset="0"/>
            </a:endParaRPr>
          </a:p>
          <a:p>
            <a:r>
              <a:rPr lang="da-DK" dirty="0">
                <a:latin typeface="Consolas" panose="020B0609020204030204" pitchFamily="49" charset="0"/>
              </a:rPr>
              <a:t>13  </a:t>
            </a:r>
            <a:r>
              <a:rPr lang="da-DK" dirty="0" smtClean="0">
                <a:latin typeface="Consolas" panose="020B0609020204030204" pitchFamily="49" charset="0"/>
              </a:rPr>
              <a:t>	61  	99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690688"/>
            <a:ext cx="3810196" cy="381019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4162575" y="2258218"/>
            <a:ext cx="54428" cy="548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439" y="1027906"/>
            <a:ext cx="3810196" cy="254013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439" y="3692128"/>
            <a:ext cx="3810196" cy="25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2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R uses Standardized Deleted Residuals by Default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Note that the book used </a:t>
                </a:r>
                <a:r>
                  <a:rPr lang="en-US" i="1" dirty="0" err="1" smtClean="0"/>
                  <a:t>studentized</a:t>
                </a:r>
                <a:r>
                  <a:rPr lang="en-US" dirty="0" smtClean="0"/>
                  <a:t> residuals rather than standardized residuals, but conceptually these two calculations obtain a similar result:</a:t>
                </a:r>
              </a:p>
              <a:p>
                <a:endParaRPr lang="en-US" dirty="0"/>
              </a:p>
              <a:p>
                <a:r>
                  <a:rPr lang="en-US" dirty="0" smtClean="0"/>
                  <a:t>Standardized residuals: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</a:p>
              <a:p>
                <a:pPr lvl="1"/>
                <a:endParaRPr lang="en-US" dirty="0"/>
              </a:p>
              <a:p>
                <a:r>
                  <a:rPr lang="en-US" dirty="0" smtClean="0"/>
                  <a:t>The standardized deleted residual solves both of our problems:</a:t>
                </a:r>
              </a:p>
              <a:p>
                <a:pPr lvl="1"/>
                <a:r>
                  <a:rPr lang="en-US" b="1" dirty="0" smtClean="0">
                    <a:solidFill>
                      <a:srgbClr val="FF0000"/>
                    </a:solidFill>
                  </a:rPr>
                  <a:t>Scale</a:t>
                </a:r>
                <a:r>
                  <a:rPr lang="en-US" dirty="0" smtClean="0"/>
                  <a:t>: The residuals are “standardized” to the standard deviation of all the residuals.</a:t>
                </a:r>
              </a:p>
              <a:p>
                <a:pPr lvl="2"/>
                <a:r>
                  <a:rPr lang="en-US" dirty="0" smtClean="0"/>
                  <a:t>This is where </a:t>
                </a:r>
                <a:r>
                  <a:rPr lang="en-US" i="1" dirty="0" err="1" smtClean="0"/>
                  <a:t>studentized</a:t>
                </a:r>
                <a:r>
                  <a:rPr lang="en-US" dirty="0" smtClean="0"/>
                  <a:t> and </a:t>
                </a:r>
                <a:r>
                  <a:rPr lang="en-US" i="1" dirty="0" smtClean="0"/>
                  <a:t>standardized</a:t>
                </a:r>
                <a:r>
                  <a:rPr lang="en-US" dirty="0" smtClean="0"/>
                  <a:t> calculations differ. </a:t>
                </a:r>
                <a:r>
                  <a:rPr lang="en-US" dirty="0" err="1" smtClean="0"/>
                  <a:t>Studentized</a:t>
                </a:r>
                <a:r>
                  <a:rPr lang="en-US" dirty="0" smtClean="0"/>
                  <a:t> takes this adjustment a step further and calculates ‘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s</a:t>
                </a:r>
                <a:r>
                  <a:rPr lang="en-US" dirty="0" smtClean="0"/>
                  <a:t>’ excluding the current residual as well. 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 </a:t>
                </a:r>
              </a:p>
              <a:p>
                <a:pPr lvl="1"/>
                <a:r>
                  <a:rPr lang="en-US" b="1" dirty="0" smtClean="0">
                    <a:solidFill>
                      <a:schemeClr val="accent6"/>
                    </a:solidFill>
                  </a:rPr>
                  <a:t>Inclusion</a:t>
                </a:r>
                <a:r>
                  <a:rPr lang="en-US" dirty="0" smtClean="0"/>
                  <a:t>: We reduce the influence of a single variable by accounting for it’s leverage.  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8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Residual “Outliers”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78" y="1507808"/>
            <a:ext cx="3810196" cy="38101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141" y="1507808"/>
            <a:ext cx="3810196" cy="38101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804" y="1507808"/>
            <a:ext cx="3810196" cy="381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0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Standardized versus </a:t>
            </a:r>
            <a:r>
              <a:rPr lang="en-US" dirty="0" err="1" smtClean="0"/>
              <a:t>Studentized</a:t>
            </a:r>
            <a:r>
              <a:rPr lang="en-US" dirty="0" smtClean="0"/>
              <a:t> Residuals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683" y="1690688"/>
            <a:ext cx="3810196" cy="381019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741" y="1690688"/>
            <a:ext cx="3810196" cy="381019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753647" y="5620123"/>
                <a:ext cx="2098267" cy="7362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rad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647" y="5620123"/>
                <a:ext cx="2098267" cy="736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481705" y="5620123"/>
                <a:ext cx="2303579" cy="7484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rad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705" y="5620123"/>
                <a:ext cx="2303579" cy="7484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39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are outliers bad?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Ideally, we want a model that accurately represents all of the data. </a:t>
            </a:r>
          </a:p>
          <a:p>
            <a:endParaRPr lang="en-US" dirty="0"/>
          </a:p>
          <a:p>
            <a:r>
              <a:rPr lang="en-US" dirty="0" smtClean="0"/>
              <a:t>If a single (or several data points) are large outliers, this could be diagnostic of several things:</a:t>
            </a:r>
          </a:p>
          <a:p>
            <a:pPr lvl="1"/>
            <a:r>
              <a:rPr lang="en-US" dirty="0" smtClean="0"/>
              <a:t>Some error has occurred in the coding/recording of the data,</a:t>
            </a:r>
          </a:p>
          <a:p>
            <a:pPr lvl="1"/>
            <a:r>
              <a:rPr lang="en-US" dirty="0" smtClean="0"/>
              <a:t>That data point does not actually belong to the sample in question,</a:t>
            </a:r>
          </a:p>
          <a:p>
            <a:pPr lvl="1"/>
            <a:r>
              <a:rPr lang="en-US" dirty="0" smtClean="0"/>
              <a:t>That data point could be pulling our model away from the other data points. </a:t>
            </a:r>
          </a:p>
          <a:p>
            <a:pPr lvl="1"/>
            <a:endParaRPr lang="en-US" dirty="0"/>
          </a:p>
          <a:p>
            <a:r>
              <a:rPr lang="en-US" dirty="0" smtClean="0"/>
              <a:t>Thus, the presence of an outlier is not grounds for exclusion of data in itself, but it should raise questions that force us to take a harder look at our data and our model.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4/10/2020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7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601</Words>
  <Application>Microsoft Office PowerPoint</Application>
  <PresentationFormat>Widescreen</PresentationFormat>
  <Paragraphs>69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Consolas</vt:lpstr>
      <vt:lpstr>Office Theme</vt:lpstr>
      <vt:lpstr>Outliers – Unusual Values in Y</vt:lpstr>
      <vt:lpstr>Identifying Residual “Outliers”</vt:lpstr>
      <vt:lpstr>Identifying Residual “Outliers”</vt:lpstr>
      <vt:lpstr>R uses Standardized Deleted Residuals by Default</vt:lpstr>
      <vt:lpstr>Identifying Residual “Outliers”</vt:lpstr>
      <vt:lpstr>Standardized versus Studentized Residuals</vt:lpstr>
      <vt:lpstr>Why are outliers bad?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58</cp:revision>
  <dcterms:created xsi:type="dcterms:W3CDTF">2019-02-09T14:44:07Z</dcterms:created>
  <dcterms:modified xsi:type="dcterms:W3CDTF">2020-04-10T22:00:37Z</dcterms:modified>
</cp:coreProperties>
</file>
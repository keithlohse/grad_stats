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0"/>
  </p:notesMasterIdLst>
  <p:sldIdLst>
    <p:sldId id="382" r:id="rId2"/>
    <p:sldId id="383" r:id="rId3"/>
    <p:sldId id="384" r:id="rId4"/>
    <p:sldId id="385" r:id="rId5"/>
    <p:sldId id="386" r:id="rId6"/>
    <p:sldId id="387" r:id="rId7"/>
    <p:sldId id="388" r:id="rId8"/>
    <p:sldId id="38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4424" autoAdjust="0"/>
  </p:normalViewPr>
  <p:slideViewPr>
    <p:cSldViewPr snapToGrid="0">
      <p:cViewPr varScale="1">
        <p:scale>
          <a:sx n="58" d="100"/>
          <a:sy n="58" d="100"/>
        </p:scale>
        <p:origin x="9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12/29/2018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12/29/2018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12/29/2018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12/29/2018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 smtClean="0"/>
              <a:t>Formal Specification of the Normal Distribution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Department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keith.lohse@health.utah.edu</a:t>
            </a:r>
            <a:endParaRPr lang="en-US" dirty="0"/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@</a:t>
            </a:r>
            <a:r>
              <a:rPr lang="en-US" dirty="0" err="1" smtClean="0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“Know thy Distributions”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It’s easy to get lost in the weeds of mathematical formalisms. </a:t>
            </a:r>
          </a:p>
          <a:p>
            <a:endParaRPr lang="en-US" dirty="0"/>
          </a:p>
          <a:p>
            <a:r>
              <a:rPr lang="en-US" dirty="0" smtClean="0"/>
              <a:t>But it’s important to dwell here for a while so that we appreciate the power that understanding these distributions allows.</a:t>
            </a:r>
          </a:p>
          <a:p>
            <a:endParaRPr lang="en-US" dirty="0"/>
          </a:p>
          <a:p>
            <a:r>
              <a:rPr lang="en-US" dirty="0" smtClean="0"/>
              <a:t>Specifically, knowing a distribution allows us to make quantitative statements about the probability of an event.</a:t>
            </a:r>
          </a:p>
          <a:p>
            <a:pPr lvl="1"/>
            <a:r>
              <a:rPr lang="en-US" dirty="0" smtClean="0"/>
              <a:t>I.e., “Assuming a normal distribution, what is the probability of observing a values &gt;/= 1?”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640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Normal Distribution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lang="en-US" b="0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 smtClean="0"/>
                  <a:t> is the mean and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 smtClean="0"/>
                  <a:t> is the standard deviation. 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 smtClean="0"/>
                  <a:t>, this is referred to as the standard normal distribution.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556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Normal Distribution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lang="en-US" b="0" dirty="0" smtClean="0"/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b="15979"/>
          <a:stretch/>
        </p:blipFill>
        <p:spPr>
          <a:xfrm>
            <a:off x="838200" y="2809353"/>
            <a:ext cx="4572000" cy="23048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60587" y="5230094"/>
                <a:ext cx="6153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587" y="5230094"/>
                <a:ext cx="615361" cy="276999"/>
              </a:xfrm>
              <a:prstGeom prst="rect">
                <a:avLst/>
              </a:prstGeom>
              <a:blipFill>
                <a:blip r:embed="rId4"/>
                <a:stretch>
                  <a:fillRect l="-7921" r="-8911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514633" y="5507093"/>
                <a:ext cx="4871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 smtClean="0"/>
                  <a:t>1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4633" y="5507093"/>
                <a:ext cx="487121" cy="276999"/>
              </a:xfrm>
              <a:prstGeom prst="rect">
                <a:avLst/>
              </a:prstGeom>
              <a:blipFill>
                <a:blip r:embed="rId5"/>
                <a:stretch>
                  <a:fillRect l="-17722" t="-28261" r="-29114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6"/>
          <a:srcRect b="14774"/>
          <a:stretch/>
        </p:blipFill>
        <p:spPr>
          <a:xfrm>
            <a:off x="6535520" y="2792827"/>
            <a:ext cx="4572000" cy="23379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675656" y="5214619"/>
                <a:ext cx="6153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5656" y="5214619"/>
                <a:ext cx="615361" cy="276999"/>
              </a:xfrm>
              <a:prstGeom prst="rect">
                <a:avLst/>
              </a:prstGeom>
              <a:blipFill>
                <a:blip r:embed="rId7"/>
                <a:stretch>
                  <a:fillRect l="-7921" r="-8911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109121" y="3961787"/>
                <a:ext cx="4945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 smtClean="0"/>
                  <a:t>1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121" y="3961787"/>
                <a:ext cx="494559" cy="276999"/>
              </a:xfrm>
              <a:prstGeom prst="rect">
                <a:avLst/>
              </a:prstGeom>
              <a:blipFill>
                <a:blip r:embed="rId8"/>
                <a:stretch>
                  <a:fillRect l="-12346" t="-28889" r="-28395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0842517" y="3651737"/>
                <a:ext cx="6227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2517" y="3651737"/>
                <a:ext cx="622799" cy="276999"/>
              </a:xfrm>
              <a:prstGeom prst="rect">
                <a:avLst/>
              </a:prstGeom>
              <a:blipFill>
                <a:blip r:embed="rId9"/>
                <a:stretch>
                  <a:fillRect l="-4902" r="-8824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0838799" y="3928736"/>
                <a:ext cx="7991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8799" y="3928736"/>
                <a:ext cx="799130" cy="276999"/>
              </a:xfrm>
              <a:prstGeom prst="rect">
                <a:avLst/>
              </a:prstGeom>
              <a:blipFill>
                <a:blip r:embed="rId10"/>
                <a:stretch>
                  <a:fillRect l="-3817" r="-763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0838799" y="4205735"/>
                <a:ext cx="6227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8799" y="4205735"/>
                <a:ext cx="622799" cy="276999"/>
              </a:xfrm>
              <a:prstGeom prst="rect">
                <a:avLst/>
              </a:prstGeom>
              <a:blipFill>
                <a:blip r:embed="rId11"/>
                <a:stretch>
                  <a:fillRect l="-4902" r="-980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190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Normal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any of these normal distributions, we can find the probability that a number lies in a specific range (</a:t>
            </a:r>
            <a:r>
              <a:rPr lang="en-US" dirty="0" err="1" smtClean="0"/>
              <a:t>e.g</a:t>
            </a:r>
            <a:r>
              <a:rPr lang="en-US" dirty="0" smtClean="0"/>
              <a:t>, between -1 and +1, or greater than +2).</a:t>
            </a:r>
          </a:p>
          <a:p>
            <a:endParaRPr lang="en-US" dirty="0"/>
          </a:p>
          <a:p>
            <a:r>
              <a:rPr lang="en-US" dirty="0" smtClean="0"/>
              <a:t>Technically, as our values are continuous, the probability of being precisely </a:t>
            </a:r>
            <a:r>
              <a:rPr lang="en-US" dirty="0" smtClean="0"/>
              <a:t>one is zero, </a:t>
            </a:r>
            <a:r>
              <a:rPr lang="en-US" dirty="0" smtClean="0"/>
              <a:t>p(1</a:t>
            </a:r>
            <a:r>
              <a:rPr lang="en-US" dirty="0" smtClean="0"/>
              <a:t>) = 0. This is </a:t>
            </a:r>
            <a:r>
              <a:rPr lang="en-US" dirty="0" smtClean="0"/>
              <a:t>because, for </a:t>
            </a:r>
            <a:r>
              <a:rPr lang="en-US" dirty="0" smtClean="0"/>
              <a:t>a continuous </a:t>
            </a:r>
            <a:r>
              <a:rPr lang="en-US" dirty="0" smtClean="0"/>
              <a:t>variable, </a:t>
            </a:r>
            <a:r>
              <a:rPr lang="en-US" dirty="0" smtClean="0"/>
              <a:t>1 is different from 0.999 and 1.000.</a:t>
            </a:r>
          </a:p>
          <a:p>
            <a:pPr lvl="1"/>
            <a:r>
              <a:rPr lang="en-US" dirty="0" smtClean="0"/>
              <a:t>With infinite precision, the probability of something being </a:t>
            </a:r>
            <a:r>
              <a:rPr lang="en-US" b="1" i="1" u="sng" dirty="0" smtClean="0"/>
              <a:t>exactly</a:t>
            </a:r>
            <a:r>
              <a:rPr lang="en-US" dirty="0" smtClean="0"/>
              <a:t> anything is going to be 0.</a:t>
            </a:r>
          </a:p>
          <a:p>
            <a:pPr lvl="1"/>
            <a:r>
              <a:rPr lang="en-US" dirty="0" smtClean="0"/>
              <a:t>However, we could look in a very narrow range (1.00 to 1.01).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1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Standardizing a variable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All of these normal distributions are different, thus the probability of being within -1 to +1 changes depending 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endParaRPr lang="en-US" dirty="0"/>
              </a:p>
              <a:p>
                <a:r>
                  <a:rPr lang="en-US" dirty="0" smtClean="0"/>
                  <a:t>However, we can standardize any value of Y by transforming it into a new value called a </a:t>
                </a:r>
                <a:r>
                  <a:rPr lang="en-US" b="1" i="1" u="sng" dirty="0" smtClean="0"/>
                  <a:t>z-value</a:t>
                </a:r>
                <a:r>
                  <a:rPr lang="en-US" dirty="0" smtClean="0"/>
                  <a:t> or z-score.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r>
                  <a:rPr lang="en-US" dirty="0" smtClean="0"/>
                  <a:t>  </a:t>
                </a:r>
              </a:p>
              <a:p>
                <a:pPr lvl="1"/>
                <a:endParaRPr lang="en-US" dirty="0"/>
              </a:p>
              <a:p>
                <a:r>
                  <a:rPr lang="en-US" dirty="0" smtClean="0"/>
                  <a:t>Thus,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 smtClean="0"/>
                  <a:t>, when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 smtClean="0"/>
                  <a:t>, the z-value is 1. </a:t>
                </a:r>
              </a:p>
              <a:p>
                <a:r>
                  <a:rPr lang="en-US" dirty="0" smtClean="0"/>
                  <a:t>However, when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 smtClean="0"/>
                  <a:t>, the z-value is 2!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44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904860" y="5070179"/>
            <a:ext cx="774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smtClean="0"/>
              <a:t>15.8%</a:t>
            </a:r>
            <a:endParaRPr lang="en-US" b="1" i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b="14702"/>
          <a:stretch/>
        </p:blipFill>
        <p:spPr>
          <a:xfrm>
            <a:off x="1752600" y="2704618"/>
            <a:ext cx="2743200" cy="23398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b="16604"/>
          <a:stretch/>
        </p:blipFill>
        <p:spPr>
          <a:xfrm>
            <a:off x="4724810" y="2704618"/>
            <a:ext cx="2743200" cy="22877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77578" y="5044508"/>
            <a:ext cx="774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smtClean="0"/>
              <a:t>84.1%</a:t>
            </a:r>
            <a:endParaRPr lang="en-US" b="1" i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/>
          <a:srcRect b="16164"/>
          <a:stretch/>
        </p:blipFill>
        <p:spPr>
          <a:xfrm>
            <a:off x="7697020" y="2679831"/>
            <a:ext cx="2743200" cy="22997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50296" y="5044508"/>
            <a:ext cx="774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smtClean="0"/>
              <a:t>68.3%</a:t>
            </a:r>
            <a:endParaRPr lang="en-US" b="1" i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Standardizing a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7164" y="5681427"/>
            <a:ext cx="10515600" cy="744509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dirty="0" smtClean="0"/>
              <a:t>(We will use built-in functions in R to calculate the probabilities for continuous variables, but we will calculations for some discrete variables by hand!)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990600" y="1978025"/>
            <a:ext cx="10515600" cy="9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Once standardized, we can find the probability associated with specific z-values!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04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Know thy distributions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will discuss how to calculate these probabilities in more detail for both normal and non-normal distributions.</a:t>
            </a:r>
          </a:p>
          <a:p>
            <a:endParaRPr lang="en-US" dirty="0"/>
          </a:p>
          <a:p>
            <a:r>
              <a:rPr lang="en-US" dirty="0" smtClean="0"/>
              <a:t>Regardless of the specific distribution, the lesson is the same: if we know the underlying distribution or we are confident the distribution is a reasonable assumption, we can make very explicit quantitative statements about the probability of observing an event.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0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3671</TotalTime>
  <Words>434</Words>
  <Application>Microsoft Office PowerPoint</Application>
  <PresentationFormat>Widescreen</PresentationFormat>
  <Paragraphs>68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Formal Specification of the Normal Distribution</vt:lpstr>
      <vt:lpstr>“Know thy Distributions”</vt:lpstr>
      <vt:lpstr>The Normal Distribution</vt:lpstr>
      <vt:lpstr>The Normal Distribution</vt:lpstr>
      <vt:lpstr>The Normal Distribution</vt:lpstr>
      <vt:lpstr>Standardizing a variable</vt:lpstr>
      <vt:lpstr>Standardizing a variable</vt:lpstr>
      <vt:lpstr>Know thy distributions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in medic</dc:title>
  <dc:creator>Keith Lohse</dc:creator>
  <cp:lastModifiedBy>Keith Lohse</cp:lastModifiedBy>
  <cp:revision>368</cp:revision>
  <dcterms:created xsi:type="dcterms:W3CDTF">2017-01-28T12:59:49Z</dcterms:created>
  <dcterms:modified xsi:type="dcterms:W3CDTF">2018-12-29T19:18:59Z</dcterms:modified>
</cp:coreProperties>
</file>
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82" r:id="rId2"/>
    <p:sldId id="384" r:id="rId3"/>
    <p:sldId id="385" r:id="rId4"/>
    <p:sldId id="401" r:id="rId5"/>
    <p:sldId id="420" r:id="rId6"/>
    <p:sldId id="421" r:id="rId7"/>
    <p:sldId id="402" r:id="rId8"/>
    <p:sldId id="403" r:id="rId9"/>
    <p:sldId id="404" r:id="rId10"/>
    <p:sldId id="405" r:id="rId11"/>
    <p:sldId id="386" r:id="rId12"/>
    <p:sldId id="387" r:id="rId13"/>
    <p:sldId id="406" r:id="rId14"/>
    <p:sldId id="407" r:id="rId15"/>
    <p:sldId id="408" r:id="rId16"/>
    <p:sldId id="409" r:id="rId17"/>
    <p:sldId id="410" r:id="rId18"/>
    <p:sldId id="411" r:id="rId19"/>
    <p:sldId id="413" r:id="rId20"/>
    <p:sldId id="414" r:id="rId21"/>
    <p:sldId id="415" r:id="rId22"/>
    <p:sldId id="416" r:id="rId23"/>
    <p:sldId id="417" r:id="rId24"/>
    <p:sldId id="418" r:id="rId25"/>
    <p:sldId id="419" r:id="rId26"/>
    <p:sldId id="40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1384"/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92" d="100"/>
          <a:sy n="92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gif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DB831A-91D0-4768-AB1B-6898AFFAA49A}" type="doc">
      <dgm:prSet loTypeId="urn:microsoft.com/office/officeart/2018/2/layout/IconVerticalSolid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4EEAF3-BB5F-4EFD-83FA-A1E9BB84F7FF}">
      <dgm:prSet/>
      <dgm:spPr/>
      <dgm:t>
        <a:bodyPr/>
        <a:lstStyle/>
        <a:p>
          <a:r>
            <a:rPr lang="en-US" b="1" dirty="0"/>
            <a:t>Nonlinear</a:t>
          </a:r>
          <a:r>
            <a:rPr lang="en-US" dirty="0"/>
            <a:t>: The effect of one variable changes as a function of itself.</a:t>
          </a:r>
        </a:p>
      </dgm:t>
    </dgm:pt>
    <dgm:pt modelId="{9FF129FE-E155-4606-B1C2-5BEBA79D3AD7}" type="parTrans" cxnId="{2B9E98DA-9C7C-41B1-85E0-9F1E1C097586}">
      <dgm:prSet/>
      <dgm:spPr/>
      <dgm:t>
        <a:bodyPr/>
        <a:lstStyle/>
        <a:p>
          <a:endParaRPr lang="en-US"/>
        </a:p>
      </dgm:t>
    </dgm:pt>
    <dgm:pt modelId="{9868DB63-58FB-4054-A2ED-A8D587089FD6}" type="sibTrans" cxnId="{2B9E98DA-9C7C-41B1-85E0-9F1E1C097586}">
      <dgm:prSet/>
      <dgm:spPr/>
      <dgm:t>
        <a:bodyPr/>
        <a:lstStyle/>
        <a:p>
          <a:endParaRPr lang="en-US"/>
        </a:p>
      </dgm:t>
    </dgm:pt>
    <dgm:pt modelId="{50443389-1196-448C-935A-04FBCF0DE2BA}">
      <dgm:prSet/>
      <dgm:spPr/>
      <dgm:t>
        <a:bodyPr/>
        <a:lstStyle/>
        <a:p>
          <a:r>
            <a:rPr lang="en-US" b="1" dirty="0"/>
            <a:t>Moderated</a:t>
          </a:r>
          <a:r>
            <a:rPr lang="en-US" dirty="0"/>
            <a:t>: The effect of one variable changes as a function of another variable.</a:t>
          </a:r>
        </a:p>
      </dgm:t>
    </dgm:pt>
    <dgm:pt modelId="{D04C4AEB-9EA1-4FA9-8675-40B5692EC8DB}" type="parTrans" cxnId="{CB8C6900-B0BB-4325-8A63-C47EFE47B665}">
      <dgm:prSet/>
      <dgm:spPr/>
      <dgm:t>
        <a:bodyPr/>
        <a:lstStyle/>
        <a:p>
          <a:endParaRPr lang="en-US"/>
        </a:p>
      </dgm:t>
    </dgm:pt>
    <dgm:pt modelId="{F1E092B4-FBA4-4D6C-9A0A-D79F7F193DF8}" type="sibTrans" cxnId="{CB8C6900-B0BB-4325-8A63-C47EFE47B665}">
      <dgm:prSet/>
      <dgm:spPr/>
      <dgm:t>
        <a:bodyPr/>
        <a:lstStyle/>
        <a:p>
          <a:endParaRPr lang="en-US"/>
        </a:p>
      </dgm:t>
    </dgm:pt>
    <dgm:pt modelId="{FC0AF3BB-C192-43FF-B322-757DC95FAC33}" type="pres">
      <dgm:prSet presAssocID="{7EDB831A-91D0-4768-AB1B-6898AFFAA49A}" presName="root" presStyleCnt="0">
        <dgm:presLayoutVars>
          <dgm:dir/>
          <dgm:resizeHandles val="exact"/>
        </dgm:presLayoutVars>
      </dgm:prSet>
      <dgm:spPr/>
    </dgm:pt>
    <dgm:pt modelId="{F86FF1E2-40FF-4A67-AC24-78FDFE0FC4C2}" type="pres">
      <dgm:prSet presAssocID="{CE4EEAF3-BB5F-4EFD-83FA-A1E9BB84F7FF}" presName="compNode" presStyleCnt="0"/>
      <dgm:spPr/>
    </dgm:pt>
    <dgm:pt modelId="{451449B9-B0E7-40F0-8162-269F90845E02}" type="pres">
      <dgm:prSet presAssocID="{CE4EEAF3-BB5F-4EFD-83FA-A1E9BB84F7FF}" presName="bgRect" presStyleLbl="bgShp" presStyleIdx="0" presStyleCnt="2" custLinFactY="34181" custLinFactNeighborX="0" custLinFactNeighborY="100000"/>
      <dgm:spPr/>
    </dgm:pt>
    <dgm:pt modelId="{D43C83E6-6B4C-49C2-9EE5-533542E86D3F}" type="pres">
      <dgm:prSet presAssocID="{CE4EEAF3-BB5F-4EFD-83FA-A1E9BB84F7FF}" presName="iconRect" presStyleLbl="node1" presStyleIdx="0" presStyleCnt="2" custLinFactY="100000" custLinFactNeighborX="0" custLinFactNeighborY="14396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1000" r="-31000"/>
          </a:stretch>
        </a:blipFill>
        <a:ln>
          <a:noFill/>
        </a:ln>
      </dgm:spPr>
      <dgm:extLst/>
    </dgm:pt>
    <dgm:pt modelId="{D9D64A20-2AA0-4ED7-B04C-C14EBFCA8077}" type="pres">
      <dgm:prSet presAssocID="{CE4EEAF3-BB5F-4EFD-83FA-A1E9BB84F7FF}" presName="spaceRect" presStyleCnt="0"/>
      <dgm:spPr/>
    </dgm:pt>
    <dgm:pt modelId="{D9DE4B46-2CC3-4664-8AC5-BE012378F5DA}" type="pres">
      <dgm:prSet presAssocID="{CE4EEAF3-BB5F-4EFD-83FA-A1E9BB84F7FF}" presName="parTx" presStyleLbl="revTx" presStyleIdx="0" presStyleCnt="2" custLinFactY="34181" custLinFactNeighborX="0" custLinFactNeighborY="100000">
        <dgm:presLayoutVars>
          <dgm:chMax val="0"/>
          <dgm:chPref val="0"/>
        </dgm:presLayoutVars>
      </dgm:prSet>
      <dgm:spPr/>
    </dgm:pt>
    <dgm:pt modelId="{C43596C7-557F-4E08-A0E5-1218B65774B7}" type="pres">
      <dgm:prSet presAssocID="{9868DB63-58FB-4054-A2ED-A8D587089FD6}" presName="sibTrans" presStyleCnt="0"/>
      <dgm:spPr/>
    </dgm:pt>
    <dgm:pt modelId="{4FA17327-4999-40DB-AD23-1136795F3B97}" type="pres">
      <dgm:prSet presAssocID="{50443389-1196-448C-935A-04FBCF0DE2BA}" presName="compNode" presStyleCnt="0"/>
      <dgm:spPr/>
    </dgm:pt>
    <dgm:pt modelId="{EF882030-B143-4CC8-98FB-D915B3E6102A}" type="pres">
      <dgm:prSet presAssocID="{50443389-1196-448C-935A-04FBCF0DE2BA}" presName="bgRect" presStyleLbl="bgShp" presStyleIdx="1" presStyleCnt="2" custLinFactY="-42679" custLinFactNeighborX="0" custLinFactNeighborY="-100000"/>
      <dgm:spPr/>
    </dgm:pt>
    <dgm:pt modelId="{EB298052-6B5C-410F-AB9C-09DBD861FC3B}" type="pres">
      <dgm:prSet presAssocID="{50443389-1196-448C-935A-04FBCF0DE2BA}" presName="iconRect" presStyleLbl="node1" presStyleIdx="1" presStyleCnt="2" custLinFactY="-100000" custLinFactNeighborX="-1855" custLinFactNeighborY="-158540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  <a:ln>
          <a:noFill/>
        </a:ln>
      </dgm:spPr>
      <dgm:extLst/>
    </dgm:pt>
    <dgm:pt modelId="{DAA85479-5207-40FC-AD68-9F3AC79F3A78}" type="pres">
      <dgm:prSet presAssocID="{50443389-1196-448C-935A-04FBCF0DE2BA}" presName="spaceRect" presStyleCnt="0"/>
      <dgm:spPr/>
    </dgm:pt>
    <dgm:pt modelId="{4201A929-F271-45EF-B380-F01BC0CB264D}" type="pres">
      <dgm:prSet presAssocID="{50443389-1196-448C-935A-04FBCF0DE2BA}" presName="parTx" presStyleLbl="revTx" presStyleIdx="1" presStyleCnt="2" custLinFactY="-42679" custLinFactNeighborX="-2090" custLinFactNeighborY="-100000">
        <dgm:presLayoutVars>
          <dgm:chMax val="0"/>
          <dgm:chPref val="0"/>
        </dgm:presLayoutVars>
      </dgm:prSet>
      <dgm:spPr/>
    </dgm:pt>
  </dgm:ptLst>
  <dgm:cxnLst>
    <dgm:cxn modelId="{CB8C6900-B0BB-4325-8A63-C47EFE47B665}" srcId="{7EDB831A-91D0-4768-AB1B-6898AFFAA49A}" destId="{50443389-1196-448C-935A-04FBCF0DE2BA}" srcOrd="1" destOrd="0" parTransId="{D04C4AEB-9EA1-4FA9-8675-40B5692EC8DB}" sibTransId="{F1E092B4-FBA4-4D6C-9A0A-D79F7F193DF8}"/>
    <dgm:cxn modelId="{5B8C2C33-B070-46CE-8D1A-2BEBC125967A}" type="presOf" srcId="{50443389-1196-448C-935A-04FBCF0DE2BA}" destId="{4201A929-F271-45EF-B380-F01BC0CB264D}" srcOrd="0" destOrd="0" presId="urn:microsoft.com/office/officeart/2018/2/layout/IconVerticalSolidList"/>
    <dgm:cxn modelId="{F3A4127D-BF56-466B-972E-93E88B6E4558}" type="presOf" srcId="{7EDB831A-91D0-4768-AB1B-6898AFFAA49A}" destId="{FC0AF3BB-C192-43FF-B322-757DC95FAC33}" srcOrd="0" destOrd="0" presId="urn:microsoft.com/office/officeart/2018/2/layout/IconVerticalSolidList"/>
    <dgm:cxn modelId="{C0E5C192-50CA-4FF5-8710-EA7A3808731F}" type="presOf" srcId="{CE4EEAF3-BB5F-4EFD-83FA-A1E9BB84F7FF}" destId="{D9DE4B46-2CC3-4664-8AC5-BE012378F5DA}" srcOrd="0" destOrd="0" presId="urn:microsoft.com/office/officeart/2018/2/layout/IconVerticalSolidList"/>
    <dgm:cxn modelId="{2B9E98DA-9C7C-41B1-85E0-9F1E1C097586}" srcId="{7EDB831A-91D0-4768-AB1B-6898AFFAA49A}" destId="{CE4EEAF3-BB5F-4EFD-83FA-A1E9BB84F7FF}" srcOrd="0" destOrd="0" parTransId="{9FF129FE-E155-4606-B1C2-5BEBA79D3AD7}" sibTransId="{9868DB63-58FB-4054-A2ED-A8D587089FD6}"/>
    <dgm:cxn modelId="{885576EE-5A90-44D9-88F0-8FF97A9DFD94}" type="presParOf" srcId="{FC0AF3BB-C192-43FF-B322-757DC95FAC33}" destId="{F86FF1E2-40FF-4A67-AC24-78FDFE0FC4C2}" srcOrd="0" destOrd="0" presId="urn:microsoft.com/office/officeart/2018/2/layout/IconVerticalSolidList"/>
    <dgm:cxn modelId="{DC4A7D23-38BA-4540-8742-6832DA8333E3}" type="presParOf" srcId="{F86FF1E2-40FF-4A67-AC24-78FDFE0FC4C2}" destId="{451449B9-B0E7-40F0-8162-269F90845E02}" srcOrd="0" destOrd="0" presId="urn:microsoft.com/office/officeart/2018/2/layout/IconVerticalSolidList"/>
    <dgm:cxn modelId="{E704EBBE-F68B-4241-BAD4-A93AF0DEFD19}" type="presParOf" srcId="{F86FF1E2-40FF-4A67-AC24-78FDFE0FC4C2}" destId="{D43C83E6-6B4C-49C2-9EE5-533542E86D3F}" srcOrd="1" destOrd="0" presId="urn:microsoft.com/office/officeart/2018/2/layout/IconVerticalSolidList"/>
    <dgm:cxn modelId="{592892A7-F4BE-4E2F-8E9B-64778D7CC147}" type="presParOf" srcId="{F86FF1E2-40FF-4A67-AC24-78FDFE0FC4C2}" destId="{D9D64A20-2AA0-4ED7-B04C-C14EBFCA8077}" srcOrd="2" destOrd="0" presId="urn:microsoft.com/office/officeart/2018/2/layout/IconVerticalSolidList"/>
    <dgm:cxn modelId="{BAE0E62E-97AB-49E0-9592-3FD9E436F740}" type="presParOf" srcId="{F86FF1E2-40FF-4A67-AC24-78FDFE0FC4C2}" destId="{D9DE4B46-2CC3-4664-8AC5-BE012378F5DA}" srcOrd="3" destOrd="0" presId="urn:microsoft.com/office/officeart/2018/2/layout/IconVerticalSolidList"/>
    <dgm:cxn modelId="{8607ECB8-2EDB-46F5-B2C1-B99E4D803169}" type="presParOf" srcId="{FC0AF3BB-C192-43FF-B322-757DC95FAC33}" destId="{C43596C7-557F-4E08-A0E5-1218B65774B7}" srcOrd="1" destOrd="0" presId="urn:microsoft.com/office/officeart/2018/2/layout/IconVerticalSolidList"/>
    <dgm:cxn modelId="{2D2BA1CA-CAE2-4127-8809-E499B1126FF6}" type="presParOf" srcId="{FC0AF3BB-C192-43FF-B322-757DC95FAC33}" destId="{4FA17327-4999-40DB-AD23-1136795F3B97}" srcOrd="2" destOrd="0" presId="urn:microsoft.com/office/officeart/2018/2/layout/IconVerticalSolidList"/>
    <dgm:cxn modelId="{15C5337A-4450-4C8E-986A-15D446C9AF95}" type="presParOf" srcId="{4FA17327-4999-40DB-AD23-1136795F3B97}" destId="{EF882030-B143-4CC8-98FB-D915B3E6102A}" srcOrd="0" destOrd="0" presId="urn:microsoft.com/office/officeart/2018/2/layout/IconVerticalSolidList"/>
    <dgm:cxn modelId="{4D51E2D9-A9AA-43D5-8488-0F9C10843638}" type="presParOf" srcId="{4FA17327-4999-40DB-AD23-1136795F3B97}" destId="{EB298052-6B5C-410F-AB9C-09DBD861FC3B}" srcOrd="1" destOrd="0" presId="urn:microsoft.com/office/officeart/2018/2/layout/IconVerticalSolidList"/>
    <dgm:cxn modelId="{0D99AA4B-2889-4A83-B46A-FEE52C6E615C}" type="presParOf" srcId="{4FA17327-4999-40DB-AD23-1136795F3B97}" destId="{DAA85479-5207-40FC-AD68-9F3AC79F3A78}" srcOrd="2" destOrd="0" presId="urn:microsoft.com/office/officeart/2018/2/layout/IconVerticalSolidList"/>
    <dgm:cxn modelId="{787D9401-0197-4FFD-A2BD-8C6EC78A718D}" type="presParOf" srcId="{4FA17327-4999-40DB-AD23-1136795F3B97}" destId="{4201A929-F271-45EF-B380-F01BC0CB26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449B9-B0E7-40F0-8162-269F90845E02}">
      <dsp:nvSpPr>
        <dsp:cNvPr id="0" name=""/>
        <dsp:cNvSpPr/>
      </dsp:nvSpPr>
      <dsp:spPr>
        <a:xfrm>
          <a:off x="0" y="3325518"/>
          <a:ext cx="6513603" cy="1765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43C83E6-6B4C-49C2-9EE5-533542E86D3F}">
      <dsp:nvSpPr>
        <dsp:cNvPr id="0" name=""/>
        <dsp:cNvSpPr/>
      </dsp:nvSpPr>
      <dsp:spPr>
        <a:xfrm>
          <a:off x="534102" y="3722780"/>
          <a:ext cx="971095" cy="9710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1000" r="-31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DE4B46-2CC3-4664-8AC5-BE012378F5DA}">
      <dsp:nvSpPr>
        <dsp:cNvPr id="0" name=""/>
        <dsp:cNvSpPr/>
      </dsp:nvSpPr>
      <dsp:spPr>
        <a:xfrm>
          <a:off x="2039300" y="3325518"/>
          <a:ext cx="4474303" cy="176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62" tIns="186862" rIns="186862" bIns="1868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Nonlinear</a:t>
          </a:r>
          <a:r>
            <a:rPr lang="en-US" sz="2500" kern="1200" dirty="0"/>
            <a:t>: The effect of one variable changes as a function of itself.</a:t>
          </a:r>
        </a:p>
      </dsp:txBody>
      <dsp:txXfrm>
        <a:off x="2039300" y="3325518"/>
        <a:ext cx="4474303" cy="1765627"/>
      </dsp:txXfrm>
    </dsp:sp>
    <dsp:sp modelId="{EF882030-B143-4CC8-98FB-D915B3E6102A}">
      <dsp:nvSpPr>
        <dsp:cNvPr id="0" name=""/>
        <dsp:cNvSpPr/>
      </dsp:nvSpPr>
      <dsp:spPr>
        <a:xfrm>
          <a:off x="0" y="644236"/>
          <a:ext cx="6513603" cy="1765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B298052-6B5C-410F-AB9C-09DBD861FC3B}">
      <dsp:nvSpPr>
        <dsp:cNvPr id="0" name=""/>
        <dsp:cNvSpPr/>
      </dsp:nvSpPr>
      <dsp:spPr>
        <a:xfrm>
          <a:off x="516088" y="1050012"/>
          <a:ext cx="971095" cy="971095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01A929-F271-45EF-B380-F01BC0CB264D}">
      <dsp:nvSpPr>
        <dsp:cNvPr id="0" name=""/>
        <dsp:cNvSpPr/>
      </dsp:nvSpPr>
      <dsp:spPr>
        <a:xfrm>
          <a:off x="1945787" y="644236"/>
          <a:ext cx="4474303" cy="176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62" tIns="186862" rIns="186862" bIns="1868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Moderated</a:t>
          </a:r>
          <a:r>
            <a:rPr lang="en-US" sz="2500" kern="1200" dirty="0"/>
            <a:t>: The effect of one variable changes as a function of another variable.</a:t>
          </a:r>
        </a:p>
      </dsp:txBody>
      <dsp:txXfrm>
        <a:off x="1945787" y="644236"/>
        <a:ext cx="4474303" cy="17656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2/9/2019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2/9/2019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2/9/2019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2/9/2019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2/9/2019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Moderated and Non-Linear Models.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9382D-9FE7-42EF-A2AD-78CE8FA2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E3C8-86D4-480C-9703-CE1EF377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62293" y="6356350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5547C99B-7F2C-4E84-8128-EB3E64FAD082}" type="datetime1">
              <a:rPr lang="en-US">
                <a:solidFill>
                  <a:prstClr val="black">
                    <a:tint val="75000"/>
                  </a:prstClr>
                </a:solidFill>
              </a:rPr>
              <a:pPr algn="r">
                <a:spcAft>
                  <a:spcPts val="600"/>
                </a:spcAft>
              </a:pPr>
              <a:t>2/9/2019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FC291-8F7A-42B3-8C43-0134D6E5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6220" y="6356350"/>
            <a:ext cx="6275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11FFFE4-4E4B-40A7-A942-4F1B7E93AB5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ED1EB6D-71FE-4DBD-973F-4CA5481641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535769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39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AA10-8C4D-46C3-BF41-AA9EAA11C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Moderated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8DD51-E48A-4426-A331-B9668663C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Statistically, moderation refers to the </a:t>
                </a:r>
                <a:r>
                  <a:rPr lang="en-US" b="1" u="sng" dirty="0"/>
                  <a:t>interaction</a:t>
                </a:r>
                <a:r>
                  <a:rPr lang="en-US" dirty="0"/>
                  <a:t> between two variables.  </a:t>
                </a:r>
              </a:p>
              <a:p>
                <a:endParaRPr lang="en-US" dirty="0"/>
              </a:p>
              <a:p>
                <a:r>
                  <a:rPr lang="en-US" dirty="0"/>
                  <a:t>For instance, in our altitude dataset, we were looking at the decrease in VO</a:t>
                </a:r>
                <a:r>
                  <a:rPr lang="en-US" baseline="-25000" dirty="0"/>
                  <a:t>2max </a:t>
                </a:r>
                <a:r>
                  <a:rPr lang="en-US" dirty="0"/>
                  <a:t>as function of the altitude at which a test was conducted and an athlete’s baseline VO</a:t>
                </a:r>
                <a:r>
                  <a:rPr lang="en-US" baseline="-25000" dirty="0"/>
                  <a:t>2max</a:t>
                </a:r>
                <a:r>
                  <a:rPr lang="en-US" dirty="0"/>
                  <a:t>.</a:t>
                </a:r>
                <a:endParaRPr lang="en-US" baseline="-25000" dirty="0"/>
              </a:p>
              <a:p>
                <a:endParaRPr lang="en-US" dirty="0"/>
              </a:p>
              <a:p>
                <a:pPr lvl="1"/>
                <a:r>
                  <a:rPr lang="en-US" dirty="0"/>
                  <a:t>Unmoderated Model: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8DD51-E48A-4426-A331-B9668663C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04E2F-F040-442D-817B-7A282241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0954-41D9-426E-B29D-46A718F3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8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AA10-8C4D-46C3-BF41-AA9EAA11C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Unmoderated (Additive)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04E2F-F040-442D-817B-7A282241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0954-41D9-426E-B29D-46A718F3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A29B5D9-C1A2-4E5D-8FEE-CF509C6C0081}"/>
                  </a:ext>
                </a:extLst>
              </p:cNvPr>
              <p:cNvSpPr/>
              <p:nvPr/>
            </p:nvSpPr>
            <p:spPr>
              <a:xfrm>
                <a:off x="2408198" y="1488196"/>
                <a:ext cx="73756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Unmoderated Model: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18.698−4.078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−0.294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A29B5D9-C1A2-4E5D-8FEE-CF509C6C00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198" y="1488196"/>
                <a:ext cx="7375610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7687041-D55F-46FD-A0E6-D165968A5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48937"/>
            <a:ext cx="4764024" cy="3970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68FD48E-3A33-4D1D-857E-4B96CF514A47}"/>
                  </a:ext>
                </a:extLst>
              </p:cNvPr>
              <p:cNvSpPr/>
              <p:nvPr/>
            </p:nvSpPr>
            <p:spPr>
              <a:xfrm>
                <a:off x="6475734" y="2316006"/>
                <a:ext cx="4942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[18.698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−0.294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]−4.078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68FD48E-3A33-4D1D-857E-4B96CF514A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734" y="2316006"/>
                <a:ext cx="4942187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F42FAA-C0D4-4B12-9EE6-82DFB9280B17}"/>
                  </a:ext>
                </a:extLst>
              </p:cNvPr>
              <p:cNvSpPr/>
              <p:nvPr/>
            </p:nvSpPr>
            <p:spPr>
              <a:xfrm>
                <a:off x="6543241" y="2685338"/>
                <a:ext cx="32405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6.938−4.078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F42FAA-C0D4-4B12-9EE6-82DFB9280B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241" y="2685338"/>
                <a:ext cx="3240567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8D0751-458C-4B0C-95F0-B50B89E75C0F}"/>
              </a:ext>
            </a:extLst>
          </p:cNvPr>
          <p:cNvCxnSpPr>
            <a:cxnSpLocks/>
          </p:cNvCxnSpPr>
          <p:nvPr/>
        </p:nvCxnSpPr>
        <p:spPr>
          <a:xfrm>
            <a:off x="2161309" y="2223655"/>
            <a:ext cx="2660073" cy="196493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51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AA10-8C4D-46C3-BF41-AA9EAA11C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Unmoderated (Additive)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04E2F-F040-442D-817B-7A282241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0954-41D9-426E-B29D-46A718F3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A29B5D9-C1A2-4E5D-8FEE-CF509C6C0081}"/>
                  </a:ext>
                </a:extLst>
              </p:cNvPr>
              <p:cNvSpPr/>
              <p:nvPr/>
            </p:nvSpPr>
            <p:spPr>
              <a:xfrm>
                <a:off x="2408198" y="1488196"/>
                <a:ext cx="73756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Unmoderated Model: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18.698−4.078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−0.294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A29B5D9-C1A2-4E5D-8FEE-CF509C6C00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198" y="1488196"/>
                <a:ext cx="7375610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7687041-D55F-46FD-A0E6-D165968A5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48937"/>
            <a:ext cx="4764024" cy="3970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68FD48E-3A33-4D1D-857E-4B96CF514A47}"/>
                  </a:ext>
                </a:extLst>
              </p:cNvPr>
              <p:cNvSpPr/>
              <p:nvPr/>
            </p:nvSpPr>
            <p:spPr>
              <a:xfrm>
                <a:off x="6475734" y="2316006"/>
                <a:ext cx="4942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[18.698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−0.294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]−4.078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68FD48E-3A33-4D1D-857E-4B96CF514A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734" y="2316006"/>
                <a:ext cx="4942187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F42FAA-C0D4-4B12-9EE6-82DFB9280B17}"/>
                  </a:ext>
                </a:extLst>
              </p:cNvPr>
              <p:cNvSpPr/>
              <p:nvPr/>
            </p:nvSpPr>
            <p:spPr>
              <a:xfrm>
                <a:off x="6543241" y="2685338"/>
                <a:ext cx="32405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6.938−4.078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F42FAA-C0D4-4B12-9EE6-82DFB9280B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241" y="2685338"/>
                <a:ext cx="3240567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AFE8963-FAF1-4847-BC4C-5C88B44CE54E}"/>
                  </a:ext>
                </a:extLst>
              </p:cNvPr>
              <p:cNvSpPr/>
              <p:nvPr/>
            </p:nvSpPr>
            <p:spPr>
              <a:xfrm>
                <a:off x="6475734" y="3249333"/>
                <a:ext cx="48139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BD1384"/>
                          </a:solidFill>
                          <a:latin typeface="Cambria Math" panose="02040503050406030204" pitchFamily="18" charset="0"/>
                        </a:rPr>
                        <m:t>[18.698</m:t>
                      </m:r>
                      <m:r>
                        <a:rPr lang="en-US" i="1">
                          <a:solidFill>
                            <a:srgbClr val="BD1384"/>
                          </a:solidFill>
                          <a:latin typeface="Cambria Math" panose="02040503050406030204" pitchFamily="18" charset="0"/>
                        </a:rPr>
                        <m:t>−0.294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BD138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BD1384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BD1384"/>
                          </a:solidFill>
                          <a:latin typeface="Cambria Math" panose="02040503050406030204" pitchFamily="18" charset="0"/>
                        </a:rPr>
                        <m:t>]−4.078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BD138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BD138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BD1384"/>
                                  </a:solidFill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BD138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AFE8963-FAF1-4847-BC4C-5C88B44CE5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734" y="3249333"/>
                <a:ext cx="4813946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2A1866C-7B93-4A9C-B366-052DF7322C07}"/>
                  </a:ext>
                </a:extLst>
              </p:cNvPr>
              <p:cNvSpPr/>
              <p:nvPr/>
            </p:nvSpPr>
            <p:spPr>
              <a:xfrm>
                <a:off x="6543241" y="3618665"/>
                <a:ext cx="32405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BD1384"/>
                          </a:solidFill>
                          <a:latin typeface="Cambria Math" panose="02040503050406030204" pitchFamily="18" charset="0"/>
                        </a:rPr>
                        <m:t>2.528−4.078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BD138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BD138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BD1384"/>
                                  </a:solidFill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BD138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2A1866C-7B93-4A9C-B366-052DF7322C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241" y="3618665"/>
                <a:ext cx="3240567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D58653F-F084-4212-B50D-7F80F47956C3}"/>
              </a:ext>
            </a:extLst>
          </p:cNvPr>
          <p:cNvCxnSpPr>
            <a:cxnSpLocks/>
          </p:cNvCxnSpPr>
          <p:nvPr/>
        </p:nvCxnSpPr>
        <p:spPr>
          <a:xfrm>
            <a:off x="2161309" y="2223655"/>
            <a:ext cx="2660073" cy="196493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2729D22-AE43-4ED4-B954-4A63EAC49CBA}"/>
              </a:ext>
            </a:extLst>
          </p:cNvPr>
          <p:cNvCxnSpPr>
            <a:cxnSpLocks/>
          </p:cNvCxnSpPr>
          <p:nvPr/>
        </p:nvCxnSpPr>
        <p:spPr>
          <a:xfrm>
            <a:off x="1537855" y="2223655"/>
            <a:ext cx="3283527" cy="2462645"/>
          </a:xfrm>
          <a:prstGeom prst="line">
            <a:avLst/>
          </a:prstGeom>
          <a:ln w="28575">
            <a:solidFill>
              <a:srgbClr val="BD138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654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AA10-8C4D-46C3-BF41-AA9EAA11C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Unmoderated (Additive)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04E2F-F040-442D-817B-7A282241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0954-41D9-426E-B29D-46A718F3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A29B5D9-C1A2-4E5D-8FEE-CF509C6C0081}"/>
                  </a:ext>
                </a:extLst>
              </p:cNvPr>
              <p:cNvSpPr/>
              <p:nvPr/>
            </p:nvSpPr>
            <p:spPr>
              <a:xfrm>
                <a:off x="2408198" y="1488196"/>
                <a:ext cx="73756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Unmoderated Model: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18.698−4.078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−0.294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A29B5D9-C1A2-4E5D-8FEE-CF509C6C00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198" y="1488196"/>
                <a:ext cx="7375610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7687041-D55F-46FD-A0E6-D165968A5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48937"/>
            <a:ext cx="4764024" cy="3970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68FD48E-3A33-4D1D-857E-4B96CF514A47}"/>
                  </a:ext>
                </a:extLst>
              </p:cNvPr>
              <p:cNvSpPr/>
              <p:nvPr/>
            </p:nvSpPr>
            <p:spPr>
              <a:xfrm>
                <a:off x="6475734" y="2316006"/>
                <a:ext cx="4942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[18.698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−0.294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]−4.078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68FD48E-3A33-4D1D-857E-4B96CF514A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734" y="2316006"/>
                <a:ext cx="4942187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F42FAA-C0D4-4B12-9EE6-82DFB9280B17}"/>
                  </a:ext>
                </a:extLst>
              </p:cNvPr>
              <p:cNvSpPr/>
              <p:nvPr/>
            </p:nvSpPr>
            <p:spPr>
              <a:xfrm>
                <a:off x="6543241" y="2685338"/>
                <a:ext cx="32405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6.938−4.078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F42FAA-C0D4-4B12-9EE6-82DFB9280B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241" y="2685338"/>
                <a:ext cx="3240567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AFE8963-FAF1-4847-BC4C-5C88B44CE54E}"/>
                  </a:ext>
                </a:extLst>
              </p:cNvPr>
              <p:cNvSpPr/>
              <p:nvPr/>
            </p:nvSpPr>
            <p:spPr>
              <a:xfrm>
                <a:off x="6475734" y="3249333"/>
                <a:ext cx="48139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BD1384"/>
                          </a:solidFill>
                          <a:latin typeface="Cambria Math" panose="02040503050406030204" pitchFamily="18" charset="0"/>
                        </a:rPr>
                        <m:t>[18.698</m:t>
                      </m:r>
                      <m:r>
                        <a:rPr lang="en-US" i="1">
                          <a:solidFill>
                            <a:srgbClr val="BD1384"/>
                          </a:solidFill>
                          <a:latin typeface="Cambria Math" panose="02040503050406030204" pitchFamily="18" charset="0"/>
                        </a:rPr>
                        <m:t>−0.294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BD138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BD1384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BD1384"/>
                          </a:solidFill>
                          <a:latin typeface="Cambria Math" panose="02040503050406030204" pitchFamily="18" charset="0"/>
                        </a:rPr>
                        <m:t>]−4.078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BD138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BD138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BD1384"/>
                                  </a:solidFill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BD138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AFE8963-FAF1-4847-BC4C-5C88B44CE5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734" y="3249333"/>
                <a:ext cx="4813946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2A1866C-7B93-4A9C-B366-052DF7322C07}"/>
                  </a:ext>
                </a:extLst>
              </p:cNvPr>
              <p:cNvSpPr/>
              <p:nvPr/>
            </p:nvSpPr>
            <p:spPr>
              <a:xfrm>
                <a:off x="6543241" y="3618665"/>
                <a:ext cx="32405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BD1384"/>
                          </a:solidFill>
                          <a:latin typeface="Cambria Math" panose="02040503050406030204" pitchFamily="18" charset="0"/>
                        </a:rPr>
                        <m:t>2.528−4.078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BD138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BD138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BD1384"/>
                                  </a:solidFill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BD138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2A1866C-7B93-4A9C-B366-052DF7322C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241" y="3618665"/>
                <a:ext cx="3240567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0C4D9FF-7A3B-4E58-ABE8-E628D40F87C9}"/>
                  </a:ext>
                </a:extLst>
              </p:cNvPr>
              <p:cNvSpPr/>
              <p:nvPr/>
            </p:nvSpPr>
            <p:spPr>
              <a:xfrm>
                <a:off x="6475734" y="4188593"/>
                <a:ext cx="4942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[18.698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−0.294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70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]−4.078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0C4D9FF-7A3B-4E58-ABE8-E628D40F87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734" y="4188593"/>
                <a:ext cx="4942187" cy="369332"/>
              </a:xfrm>
              <a:prstGeom prst="rect">
                <a:avLst/>
              </a:prstGeom>
              <a:blipFill>
                <a:blip r:embed="rId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6311385-6FA1-4A09-9B02-38C35B8F7638}"/>
                  </a:ext>
                </a:extLst>
              </p:cNvPr>
              <p:cNvSpPr/>
              <p:nvPr/>
            </p:nvSpPr>
            <p:spPr>
              <a:xfrm>
                <a:off x="6543241" y="4557925"/>
                <a:ext cx="34136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−1.882−4.078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𝐴𝐿𝑇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6311385-6FA1-4A09-9B02-38C35B8F7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241" y="4557925"/>
                <a:ext cx="3413691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2B93DF7-C88E-4CD6-9165-1F686852F98E}"/>
              </a:ext>
            </a:extLst>
          </p:cNvPr>
          <p:cNvCxnSpPr>
            <a:cxnSpLocks/>
          </p:cNvCxnSpPr>
          <p:nvPr/>
        </p:nvCxnSpPr>
        <p:spPr>
          <a:xfrm>
            <a:off x="2161309" y="2223655"/>
            <a:ext cx="2660073" cy="196493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78842A-5232-431F-AFA1-DD58A27FCB7F}"/>
              </a:ext>
            </a:extLst>
          </p:cNvPr>
          <p:cNvCxnSpPr>
            <a:cxnSpLocks/>
          </p:cNvCxnSpPr>
          <p:nvPr/>
        </p:nvCxnSpPr>
        <p:spPr>
          <a:xfrm>
            <a:off x="1537855" y="2223655"/>
            <a:ext cx="3283527" cy="2462645"/>
          </a:xfrm>
          <a:prstGeom prst="line">
            <a:avLst/>
          </a:prstGeom>
          <a:ln w="28575">
            <a:solidFill>
              <a:srgbClr val="BD138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E95F88D-058D-4DBB-8F65-49DDABD2E139}"/>
              </a:ext>
            </a:extLst>
          </p:cNvPr>
          <p:cNvCxnSpPr>
            <a:cxnSpLocks/>
          </p:cNvCxnSpPr>
          <p:nvPr/>
        </p:nvCxnSpPr>
        <p:spPr>
          <a:xfrm>
            <a:off x="1402773" y="2685338"/>
            <a:ext cx="3418609" cy="2603635"/>
          </a:xfrm>
          <a:prstGeom prst="line">
            <a:avLst/>
          </a:prstGeom>
          <a:ln w="28575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723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AA10-8C4D-46C3-BF41-AA9EAA11C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Moderated (Multiplicative)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8DD51-E48A-4426-A331-B9668663C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HOWEVER, we can also ask if the effect of altitude depends on a person’s baseline fitness. </a:t>
                </a:r>
              </a:p>
              <a:p>
                <a:pPr lvl="1"/>
                <a:r>
                  <a:rPr lang="en-US" dirty="0"/>
                  <a:t>Some physiological data and theories suggest that fitter individuals actually experience a bigger decrease in VO</a:t>
                </a:r>
                <a:r>
                  <a:rPr lang="en-US" baseline="-25000" dirty="0"/>
                  <a:t>2max</a:t>
                </a:r>
                <a:r>
                  <a:rPr lang="en-US" dirty="0"/>
                  <a:t> at altitude.   </a:t>
                </a:r>
              </a:p>
              <a:p>
                <a:pPr lvl="1"/>
                <a:r>
                  <a:rPr lang="en-US" dirty="0"/>
                  <a:t>Their absolute VO</a:t>
                </a:r>
                <a:r>
                  <a:rPr lang="en-US" baseline="-25000" dirty="0"/>
                  <a:t>2max</a:t>
                </a:r>
                <a:r>
                  <a:rPr lang="en-US" dirty="0"/>
                  <a:t> is still higher than less fit individuals, but their relative decline is greater.</a:t>
                </a:r>
              </a:p>
              <a:p>
                <a:endParaRPr lang="en-US" dirty="0"/>
              </a:p>
              <a:p>
                <a:r>
                  <a:rPr lang="en-US" dirty="0"/>
                  <a:t>Interaction/Moderation: does the effect of altitude depend on fitness?</a:t>
                </a:r>
                <a:endParaRPr lang="en-US" baseline="-25000" dirty="0"/>
              </a:p>
              <a:p>
                <a:pPr lvl="1"/>
                <a:r>
                  <a:rPr lang="en-US" dirty="0"/>
                  <a:t>Moderated Model 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𝑩𝑽𝑶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Unmoderated Model C: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8DD51-E48A-4426-A331-B9668663C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04E2F-F040-442D-817B-7A282241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0954-41D9-426E-B29D-46A718F3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4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DB4A-AECF-4E3C-91CF-BA8678DF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moderated model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E0A5C-E2CA-42DF-B6BC-B9EA593955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It probably isn’t intuitive why multiplying two values together would allow them to “interact”. </a:t>
                </a:r>
              </a:p>
              <a:p>
                <a:endParaRPr lang="en-US" dirty="0"/>
              </a:p>
              <a:p>
                <a:r>
                  <a:rPr lang="en-US" dirty="0"/>
                  <a:t>Through some algebraic rearrangement, however, we can show why this works.</a:t>
                </a:r>
              </a:p>
              <a:p>
                <a:endParaRPr lang="en-US" dirty="0"/>
              </a:p>
              <a:p>
                <a:r>
                  <a:rPr lang="en-US" dirty="0"/>
                  <a:t>What is the effect of Altitude?</a:t>
                </a:r>
              </a:p>
              <a:p>
                <a:pPr lvl="1"/>
                <a:r>
                  <a:rPr lang="en-US" dirty="0"/>
                  <a:t>Model 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𝑩𝑽𝑶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E0A5C-E2CA-42DF-B6BC-B9EA593955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5A76-C1EA-402C-A933-DAEFCEF8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74768-2176-4D34-B840-08167F0DA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46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DB4A-AECF-4E3C-91CF-BA8678DF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moderated model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E0A5C-E2CA-42DF-B6BC-B9EA593955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is the effect of Altitude?</a:t>
                </a:r>
              </a:p>
              <a:p>
                <a:r>
                  <a:rPr lang="en-US" dirty="0"/>
                  <a:t>Well, it depends on your BVO2:</a:t>
                </a:r>
              </a:p>
              <a:p>
                <a:pPr lvl="1"/>
                <a:r>
                  <a:rPr lang="en-US" dirty="0"/>
                  <a:t>Model 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𝑩𝑽𝑶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Model 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Model 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Model 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)]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E0A5C-E2CA-42DF-B6BC-B9EA593955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5A76-C1EA-402C-A933-DAEFCEF8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74768-2176-4D34-B840-08167F0DA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EA01F-1E18-46E9-9A75-8636D93795FC}"/>
              </a:ext>
            </a:extLst>
          </p:cNvPr>
          <p:cNvSpPr txBox="1"/>
          <p:nvPr/>
        </p:nvSpPr>
        <p:spPr>
          <a:xfrm>
            <a:off x="5413664" y="5943491"/>
            <a:ext cx="3196936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the ‘simple slope’ of altitude when BVO2 = 30!</a:t>
            </a:r>
          </a:p>
        </p:txBody>
      </p:sp>
    </p:spTree>
    <p:extLst>
      <p:ext uri="{BB962C8B-B14F-4D97-AF65-F5344CB8AC3E}">
        <p14:creationId xmlns:p14="http://schemas.microsoft.com/office/powerpoint/2010/main" val="99333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DB4A-AECF-4E3C-91CF-BA8678DF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moderated model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E0A5C-E2CA-42DF-B6BC-B9EA593955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How does this change if your BVO2 increases?</a:t>
                </a:r>
              </a:p>
              <a:p>
                <a:pPr lvl="1"/>
                <a:r>
                  <a:rPr lang="en-US" dirty="0"/>
                  <a:t>Model 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𝑩𝑽𝑶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Model 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Model 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Model 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)]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E0A5C-E2CA-42DF-B6BC-B9EA593955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5A76-C1EA-402C-A933-DAEFCEF8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74768-2176-4D34-B840-08167F0DA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EA01F-1E18-46E9-9A75-8636D93795FC}"/>
              </a:ext>
            </a:extLst>
          </p:cNvPr>
          <p:cNvSpPr txBox="1"/>
          <p:nvPr/>
        </p:nvSpPr>
        <p:spPr>
          <a:xfrm>
            <a:off x="3803073" y="5338583"/>
            <a:ext cx="6099464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the ‘simple slope’ of altitude when BVO2 = 50!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Thus, in the moderated model, the effect of altitude changes with a person’s BVO2.</a:t>
            </a:r>
          </a:p>
        </p:txBody>
      </p:sp>
    </p:spTree>
    <p:extLst>
      <p:ext uri="{BB962C8B-B14F-4D97-AF65-F5344CB8AC3E}">
        <p14:creationId xmlns:p14="http://schemas.microsoft.com/office/powerpoint/2010/main" val="325365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an interaction?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1390E5-295D-4348-93F0-5ADE64C58F01}"/>
                  </a:ext>
                </a:extLst>
              </p:cNvPr>
              <p:cNvSpPr txBox="1"/>
              <p:nvPr/>
            </p:nvSpPr>
            <p:spPr>
              <a:xfrm>
                <a:off x="578428" y="1934457"/>
                <a:ext cx="5824313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Using the ALTITUDE datafile, we can see how the VO</a:t>
                </a:r>
                <a:r>
                  <a:rPr lang="en-US" baseline="-25000" dirty="0"/>
                  <a:t>2max</a:t>
                </a:r>
                <a:r>
                  <a:rPr lang="en-US" dirty="0"/>
                  <a:t> of 105 athletes changed as a function of the altitude at which their VO</a:t>
                </a:r>
                <a:r>
                  <a:rPr lang="en-US" baseline="-25000" dirty="0"/>
                  <a:t>2max</a:t>
                </a:r>
                <a:r>
                  <a:rPr lang="en-US" dirty="0"/>
                  <a:t> was assessed, their baseline fitness, and the interaction of those terms.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1390E5-295D-4348-93F0-5ADE64C58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28" y="1934457"/>
                <a:ext cx="5824313" cy="2400657"/>
              </a:xfrm>
              <a:prstGeom prst="rect">
                <a:avLst/>
              </a:prstGeom>
              <a:blipFill>
                <a:blip r:embed="rId2"/>
                <a:stretch>
                  <a:fillRect l="-942" t="-1269" b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D84226A-C867-4805-90C7-5B92134C3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513" y="1934457"/>
            <a:ext cx="4764024" cy="397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61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* BVO2,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-7.2307 -1.4511 -0.1014  1.2200  6.9343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8.51588    </a:t>
            </a:r>
            <a:r>
              <a:rPr lang="en-US" sz="1200" dirty="0">
                <a:latin typeface="Consolas" panose="020B0609020204030204" pitchFamily="49" charset="0"/>
              </a:rPr>
              <a:t>3.01436   2.825 0.005697 **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-0.11323    </a:t>
            </a:r>
            <a:r>
              <a:rPr lang="en-US" sz="1200" dirty="0">
                <a:latin typeface="Consolas" panose="020B0609020204030204" pitchFamily="49" charset="0"/>
              </a:rPr>
              <a:t>1.00029  -0.113 0.910097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BVO2        -0.10874    </a:t>
            </a:r>
            <a:r>
              <a:rPr lang="en-US" sz="1200" dirty="0">
                <a:latin typeface="Consolas" panose="020B0609020204030204" pitchFamily="49" charset="0"/>
              </a:rPr>
              <a:t>0.05266  -2.065 0.041512 *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alt_km:BVO2 -0.07448    </a:t>
            </a:r>
            <a:r>
              <a:rPr lang="en-US" sz="1200" dirty="0">
                <a:latin typeface="Consolas" panose="020B0609020204030204" pitchFamily="49" charset="0"/>
              </a:rPr>
              <a:t>0.01849  -4.027 0.000109 ***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2.432 on 101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0.8488,	Adjusted R-squared:  0.8443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F-statistic:   189 on 3 and 101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an interaction?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A6F90-371C-4012-B1CC-AC77BCEF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513" y="1934457"/>
            <a:ext cx="4764024" cy="397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86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* BVO2,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-7.2307 -1.4511 -0.1014  1.2200  6.9343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8.51588    </a:t>
            </a:r>
            <a:r>
              <a:rPr lang="en-US" sz="1200" dirty="0">
                <a:latin typeface="Consolas" panose="020B0609020204030204" pitchFamily="49" charset="0"/>
              </a:rPr>
              <a:t>3.01436   2.825 0.005697 **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-0.11323    </a:t>
            </a:r>
            <a:r>
              <a:rPr lang="en-US" sz="1200" dirty="0">
                <a:latin typeface="Consolas" panose="020B0609020204030204" pitchFamily="49" charset="0"/>
              </a:rPr>
              <a:t>1.00029  -0.113 0.910097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BVO2        -0.10874    </a:t>
            </a:r>
            <a:r>
              <a:rPr lang="en-US" sz="1200" dirty="0">
                <a:latin typeface="Consolas" panose="020B0609020204030204" pitchFamily="49" charset="0"/>
              </a:rPr>
              <a:t>0.05266  -2.065 0.041512 *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alt_km:BVO2 -0.07448    </a:t>
            </a:r>
            <a:r>
              <a:rPr lang="en-US" sz="1200" dirty="0">
                <a:latin typeface="Consolas" panose="020B0609020204030204" pitchFamily="49" charset="0"/>
              </a:rPr>
              <a:t>0.01849  -4.027 0.000109 ***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2.432 on 101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0.8488,	Adjusted R-squared:  0.8443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F-statistic:   189 on 3 and 101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an interaction?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C25674-9671-4833-B577-DE7941DFF646}"/>
                  </a:ext>
                </a:extLst>
              </p:cNvPr>
              <p:cNvSpPr txBox="1"/>
              <p:nvPr/>
            </p:nvSpPr>
            <p:spPr>
              <a:xfrm>
                <a:off x="3702627" y="6015359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C25674-9671-4833-B577-DE7941DFF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627" y="6015359"/>
                <a:ext cx="6303818" cy="584775"/>
              </a:xfrm>
              <a:prstGeom prst="rect">
                <a:avLst/>
              </a:prstGeom>
              <a:blipFill>
                <a:blip r:embed="rId2"/>
                <a:stretch>
                  <a:fillRect l="-386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595A63A1-D705-462C-9AD9-46DDD0CBA99F}"/>
              </a:ext>
            </a:extLst>
          </p:cNvPr>
          <p:cNvCxnSpPr>
            <a:cxnSpLocks/>
            <a:stCxn id="7" idx="1"/>
            <a:endCxn id="11" idx="2"/>
          </p:cNvCxnSpPr>
          <p:nvPr/>
        </p:nvCxnSpPr>
        <p:spPr>
          <a:xfrm rot="10800000">
            <a:off x="3028765" y="5812293"/>
            <a:ext cx="673862" cy="495455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271F2-03F3-4EE1-B1B5-0171AB3FAF75}"/>
              </a:ext>
            </a:extLst>
          </p:cNvPr>
          <p:cNvSpPr/>
          <p:nvPr/>
        </p:nvSpPr>
        <p:spPr>
          <a:xfrm>
            <a:off x="643866" y="5467672"/>
            <a:ext cx="4769798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33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* BVO2,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-7.2307 -1.4511 -0.1014  1.2200  6.9343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8.51588    </a:t>
            </a:r>
            <a:r>
              <a:rPr lang="en-US" sz="1200" dirty="0">
                <a:latin typeface="Consolas" panose="020B0609020204030204" pitchFamily="49" charset="0"/>
              </a:rPr>
              <a:t>3.01436   2.825 0.005697 **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-0.11323    </a:t>
            </a:r>
            <a:r>
              <a:rPr lang="en-US" sz="1200" dirty="0">
                <a:latin typeface="Consolas" panose="020B0609020204030204" pitchFamily="49" charset="0"/>
              </a:rPr>
              <a:t>1.00029  -0.113 0.910097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BVO2        -0.10874    </a:t>
            </a:r>
            <a:r>
              <a:rPr lang="en-US" sz="1200" dirty="0">
                <a:latin typeface="Consolas" panose="020B0609020204030204" pitchFamily="49" charset="0"/>
              </a:rPr>
              <a:t>0.05266  -2.065 0.041512 *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alt_km:BVO2 -0.07448    </a:t>
            </a:r>
            <a:r>
              <a:rPr lang="en-US" sz="1200" dirty="0">
                <a:latin typeface="Consolas" panose="020B0609020204030204" pitchFamily="49" charset="0"/>
              </a:rPr>
              <a:t>0.01849  -4.027 0.000109 ***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2.432 on 101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0.8488,	Adjusted R-squared:  0.8443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F-statistic:   189 on 3 and 101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an interaction?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C25674-9671-4833-B577-DE7941DFF646}"/>
                  </a:ext>
                </a:extLst>
              </p:cNvPr>
              <p:cNvSpPr txBox="1"/>
              <p:nvPr/>
            </p:nvSpPr>
            <p:spPr>
              <a:xfrm>
                <a:off x="3702627" y="6015359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C25674-9671-4833-B577-DE7941DFF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627" y="6015359"/>
                <a:ext cx="6303818" cy="584775"/>
              </a:xfrm>
              <a:prstGeom prst="rect">
                <a:avLst/>
              </a:prstGeom>
              <a:blipFill>
                <a:blip r:embed="rId2"/>
                <a:stretch>
                  <a:fillRect l="-386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595A63A1-D705-462C-9AD9-46DDD0CBA99F}"/>
              </a:ext>
            </a:extLst>
          </p:cNvPr>
          <p:cNvCxnSpPr>
            <a:cxnSpLocks/>
            <a:stCxn id="7" idx="1"/>
            <a:endCxn id="11" idx="2"/>
          </p:cNvCxnSpPr>
          <p:nvPr/>
        </p:nvCxnSpPr>
        <p:spPr>
          <a:xfrm rot="10800000">
            <a:off x="3028765" y="5812293"/>
            <a:ext cx="673862" cy="495455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271F2-03F3-4EE1-B1B5-0171AB3FAF75}"/>
              </a:ext>
            </a:extLst>
          </p:cNvPr>
          <p:cNvSpPr/>
          <p:nvPr/>
        </p:nvSpPr>
        <p:spPr>
          <a:xfrm>
            <a:off x="643866" y="5467672"/>
            <a:ext cx="4769798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86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* BVO2,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-7.2307 -1.4511 -0.1014  1.2200  6.9343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8.51588    </a:t>
            </a:r>
            <a:r>
              <a:rPr lang="en-US" sz="1200" dirty="0">
                <a:latin typeface="Consolas" panose="020B0609020204030204" pitchFamily="49" charset="0"/>
              </a:rPr>
              <a:t>3.01436   2.825 0.005697 **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-0.11323    </a:t>
            </a:r>
            <a:r>
              <a:rPr lang="en-US" sz="1200" dirty="0">
                <a:latin typeface="Consolas" panose="020B0609020204030204" pitchFamily="49" charset="0"/>
              </a:rPr>
              <a:t>1.00029  -0.113 0.910097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BVO2        -0.10874    </a:t>
            </a:r>
            <a:r>
              <a:rPr lang="en-US" sz="1200" dirty="0">
                <a:latin typeface="Consolas" panose="020B0609020204030204" pitchFamily="49" charset="0"/>
              </a:rPr>
              <a:t>0.05266  -2.065 0.041512 *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alt_km:BVO2 -0.07448    </a:t>
            </a:r>
            <a:r>
              <a:rPr lang="en-US" sz="1200" dirty="0">
                <a:latin typeface="Consolas" panose="020B0609020204030204" pitchFamily="49" charset="0"/>
              </a:rPr>
              <a:t>0.01849  -4.027 0.000109 ***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2.432 on 101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0.8488,	Adjusted R-squared:  0.8443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F-statistic:   189 on 3 and 101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an interaction?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C25674-9671-4833-B577-DE7941DFF646}"/>
                  </a:ext>
                </a:extLst>
              </p:cNvPr>
              <p:cNvSpPr txBox="1"/>
              <p:nvPr/>
            </p:nvSpPr>
            <p:spPr>
              <a:xfrm>
                <a:off x="3702627" y="6015359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C25674-9671-4833-B577-DE7941DFF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627" y="6015359"/>
                <a:ext cx="6303818" cy="584775"/>
              </a:xfrm>
              <a:prstGeom prst="rect">
                <a:avLst/>
              </a:prstGeom>
              <a:blipFill>
                <a:blip r:embed="rId2"/>
                <a:stretch>
                  <a:fillRect l="-386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595A63A1-D705-462C-9AD9-46DDD0CBA99F}"/>
              </a:ext>
            </a:extLst>
          </p:cNvPr>
          <p:cNvCxnSpPr>
            <a:cxnSpLocks/>
            <a:stCxn id="7" idx="1"/>
            <a:endCxn id="11" idx="2"/>
          </p:cNvCxnSpPr>
          <p:nvPr/>
        </p:nvCxnSpPr>
        <p:spPr>
          <a:xfrm rot="10800000">
            <a:off x="3028765" y="5812293"/>
            <a:ext cx="673862" cy="495455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271F2-03F3-4EE1-B1B5-0171AB3FAF75}"/>
              </a:ext>
            </a:extLst>
          </p:cNvPr>
          <p:cNvSpPr/>
          <p:nvPr/>
        </p:nvSpPr>
        <p:spPr>
          <a:xfrm>
            <a:off x="643866" y="5467672"/>
            <a:ext cx="4769798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ADF570-E2FE-4421-8E51-49506CE1E06D}"/>
                  </a:ext>
                </a:extLst>
              </p:cNvPr>
              <p:cNvSpPr txBox="1"/>
              <p:nvPr/>
            </p:nvSpPr>
            <p:spPr>
              <a:xfrm>
                <a:off x="5888182" y="4470000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ADF570-E2FE-4421-8E51-49506CE1E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4470000"/>
                <a:ext cx="6303818" cy="584775"/>
              </a:xfrm>
              <a:prstGeom prst="rect">
                <a:avLst/>
              </a:prstGeom>
              <a:blipFill>
                <a:blip r:embed="rId3"/>
                <a:stretch>
                  <a:fillRect l="-483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3A477317-A821-43B5-98B1-E68AAC9ED67C}"/>
              </a:ext>
            </a:extLst>
          </p:cNvPr>
          <p:cNvCxnSpPr>
            <a:cxnSpLocks/>
            <a:stCxn id="9" idx="1"/>
            <a:endCxn id="13" idx="3"/>
          </p:cNvCxnSpPr>
          <p:nvPr/>
        </p:nvCxnSpPr>
        <p:spPr>
          <a:xfrm rot="10800000">
            <a:off x="5413664" y="4562564"/>
            <a:ext cx="474518" cy="19982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7769D18-63FE-499F-9B99-366977679EC6}"/>
              </a:ext>
            </a:extLst>
          </p:cNvPr>
          <p:cNvSpPr/>
          <p:nvPr/>
        </p:nvSpPr>
        <p:spPr>
          <a:xfrm>
            <a:off x="643866" y="4470000"/>
            <a:ext cx="4769798" cy="18512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60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* BVO2,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-7.2307 -1.4511 -0.1014  1.2200  6.9343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8.51588    </a:t>
            </a:r>
            <a:r>
              <a:rPr lang="en-US" sz="1200" dirty="0">
                <a:latin typeface="Consolas" panose="020B0609020204030204" pitchFamily="49" charset="0"/>
              </a:rPr>
              <a:t>3.01436   2.825 0.005697 **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-0.11323    </a:t>
            </a:r>
            <a:r>
              <a:rPr lang="en-US" sz="1200" dirty="0">
                <a:latin typeface="Consolas" panose="020B0609020204030204" pitchFamily="49" charset="0"/>
              </a:rPr>
              <a:t>1.00029  -0.113 0.910097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BVO2        -0.10874    </a:t>
            </a:r>
            <a:r>
              <a:rPr lang="en-US" sz="1200" dirty="0">
                <a:latin typeface="Consolas" panose="020B0609020204030204" pitchFamily="49" charset="0"/>
              </a:rPr>
              <a:t>0.05266  -2.065 0.041512 *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alt_km:BVO2 -0.07448    </a:t>
            </a:r>
            <a:r>
              <a:rPr lang="en-US" sz="1200" dirty="0">
                <a:latin typeface="Consolas" panose="020B0609020204030204" pitchFamily="49" charset="0"/>
              </a:rPr>
              <a:t>0.01849  -4.027 0.000109 ***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2.432 on 101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0.8488,	Adjusted R-squared:  0.8443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F-statistic:   189 on 3 and 101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an interaction?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C25674-9671-4833-B577-DE7941DFF646}"/>
                  </a:ext>
                </a:extLst>
              </p:cNvPr>
              <p:cNvSpPr txBox="1"/>
              <p:nvPr/>
            </p:nvSpPr>
            <p:spPr>
              <a:xfrm>
                <a:off x="3702627" y="6015359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C25674-9671-4833-B577-DE7941DFF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627" y="6015359"/>
                <a:ext cx="6303818" cy="584775"/>
              </a:xfrm>
              <a:prstGeom prst="rect">
                <a:avLst/>
              </a:prstGeom>
              <a:blipFill>
                <a:blip r:embed="rId2"/>
                <a:stretch>
                  <a:fillRect l="-386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595A63A1-D705-462C-9AD9-46DDD0CBA99F}"/>
              </a:ext>
            </a:extLst>
          </p:cNvPr>
          <p:cNvCxnSpPr>
            <a:cxnSpLocks/>
            <a:stCxn id="7" idx="1"/>
            <a:endCxn id="11" idx="2"/>
          </p:cNvCxnSpPr>
          <p:nvPr/>
        </p:nvCxnSpPr>
        <p:spPr>
          <a:xfrm rot="10800000">
            <a:off x="3028765" y="5812293"/>
            <a:ext cx="673862" cy="495455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271F2-03F3-4EE1-B1B5-0171AB3FAF75}"/>
              </a:ext>
            </a:extLst>
          </p:cNvPr>
          <p:cNvSpPr/>
          <p:nvPr/>
        </p:nvSpPr>
        <p:spPr>
          <a:xfrm>
            <a:off x="643866" y="5467672"/>
            <a:ext cx="4769798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ADF570-E2FE-4421-8E51-49506CE1E06D}"/>
                  </a:ext>
                </a:extLst>
              </p:cNvPr>
              <p:cNvSpPr txBox="1"/>
              <p:nvPr/>
            </p:nvSpPr>
            <p:spPr>
              <a:xfrm>
                <a:off x="5888182" y="4470000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ADF570-E2FE-4421-8E51-49506CE1E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4470000"/>
                <a:ext cx="6303818" cy="584775"/>
              </a:xfrm>
              <a:prstGeom prst="rect">
                <a:avLst/>
              </a:prstGeom>
              <a:blipFill>
                <a:blip r:embed="rId3"/>
                <a:stretch>
                  <a:fillRect l="-483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3A477317-A821-43B5-98B1-E68AAC9ED67C}"/>
              </a:ext>
            </a:extLst>
          </p:cNvPr>
          <p:cNvCxnSpPr>
            <a:cxnSpLocks/>
            <a:stCxn id="9" idx="1"/>
            <a:endCxn id="13" idx="3"/>
          </p:cNvCxnSpPr>
          <p:nvPr/>
        </p:nvCxnSpPr>
        <p:spPr>
          <a:xfrm rot="10800000">
            <a:off x="5413664" y="4562564"/>
            <a:ext cx="474518" cy="19982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7769D18-63FE-499F-9B99-366977679EC6}"/>
              </a:ext>
            </a:extLst>
          </p:cNvPr>
          <p:cNvSpPr/>
          <p:nvPr/>
        </p:nvSpPr>
        <p:spPr>
          <a:xfrm>
            <a:off x="643866" y="4470000"/>
            <a:ext cx="4769798" cy="18512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1841C8-1946-4BEB-9647-90DB85FF113E}"/>
                  </a:ext>
                </a:extLst>
              </p:cNvPr>
              <p:cNvSpPr txBox="1"/>
              <p:nvPr/>
            </p:nvSpPr>
            <p:spPr>
              <a:xfrm>
                <a:off x="5888182" y="3876255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1841C8-1946-4BEB-9647-90DB85FF1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3876255"/>
                <a:ext cx="6303818" cy="584775"/>
              </a:xfrm>
              <a:prstGeom prst="rect">
                <a:avLst/>
              </a:prstGeom>
              <a:blipFill>
                <a:blip r:embed="rId4"/>
                <a:stretch>
                  <a:fillRect l="-483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D897F9DE-A91B-4A6D-96F8-48759E6EEB01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rot="10800000" flipV="1">
            <a:off x="5413664" y="4168643"/>
            <a:ext cx="474518" cy="1913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18923-DC22-47A8-89C3-899E6E9EFE48}"/>
              </a:ext>
            </a:extLst>
          </p:cNvPr>
          <p:cNvSpPr/>
          <p:nvPr/>
        </p:nvSpPr>
        <p:spPr>
          <a:xfrm>
            <a:off x="643866" y="4267379"/>
            <a:ext cx="4769798" cy="18512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34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* BVO2,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-7.2307 -1.4511 -0.1014  1.2200  6.9343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8.51588    </a:t>
            </a:r>
            <a:r>
              <a:rPr lang="en-US" sz="1200" dirty="0">
                <a:latin typeface="Consolas" panose="020B0609020204030204" pitchFamily="49" charset="0"/>
              </a:rPr>
              <a:t>3.01436   2.825 0.005697 **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-0.11323    </a:t>
            </a:r>
            <a:r>
              <a:rPr lang="en-US" sz="1200" dirty="0">
                <a:latin typeface="Consolas" panose="020B0609020204030204" pitchFamily="49" charset="0"/>
              </a:rPr>
              <a:t>1.00029  -0.113 0.910097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BVO2        -0.10874    </a:t>
            </a:r>
            <a:r>
              <a:rPr lang="en-US" sz="1200" dirty="0">
                <a:latin typeface="Consolas" panose="020B0609020204030204" pitchFamily="49" charset="0"/>
              </a:rPr>
              <a:t>0.05266  -2.065 0.041512 *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alt_km:BVO2 -0.07448    </a:t>
            </a:r>
            <a:r>
              <a:rPr lang="en-US" sz="1200" dirty="0">
                <a:latin typeface="Consolas" panose="020B0609020204030204" pitchFamily="49" charset="0"/>
              </a:rPr>
              <a:t>0.01849  -4.027 0.000109 ***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2.432 on 101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0.8488,	Adjusted R-squared:  0.8443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F-statistic:   189 on 3 and 101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an interaction?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C25674-9671-4833-B577-DE7941DFF646}"/>
                  </a:ext>
                </a:extLst>
              </p:cNvPr>
              <p:cNvSpPr txBox="1"/>
              <p:nvPr/>
            </p:nvSpPr>
            <p:spPr>
              <a:xfrm>
                <a:off x="3702627" y="6015359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C25674-9671-4833-B577-DE7941DFF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627" y="6015359"/>
                <a:ext cx="6303818" cy="584775"/>
              </a:xfrm>
              <a:prstGeom prst="rect">
                <a:avLst/>
              </a:prstGeom>
              <a:blipFill>
                <a:blip r:embed="rId2"/>
                <a:stretch>
                  <a:fillRect l="-386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595A63A1-D705-462C-9AD9-46DDD0CBA99F}"/>
              </a:ext>
            </a:extLst>
          </p:cNvPr>
          <p:cNvCxnSpPr>
            <a:cxnSpLocks/>
            <a:stCxn id="7" idx="1"/>
            <a:endCxn id="11" idx="2"/>
          </p:cNvCxnSpPr>
          <p:nvPr/>
        </p:nvCxnSpPr>
        <p:spPr>
          <a:xfrm rot="10800000">
            <a:off x="3028765" y="5812293"/>
            <a:ext cx="673862" cy="495455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271F2-03F3-4EE1-B1B5-0171AB3FAF75}"/>
              </a:ext>
            </a:extLst>
          </p:cNvPr>
          <p:cNvSpPr/>
          <p:nvPr/>
        </p:nvSpPr>
        <p:spPr>
          <a:xfrm>
            <a:off x="643866" y="5467672"/>
            <a:ext cx="4769798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ADF570-E2FE-4421-8E51-49506CE1E06D}"/>
                  </a:ext>
                </a:extLst>
              </p:cNvPr>
              <p:cNvSpPr txBox="1"/>
              <p:nvPr/>
            </p:nvSpPr>
            <p:spPr>
              <a:xfrm>
                <a:off x="5888182" y="4470000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ADF570-E2FE-4421-8E51-49506CE1E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4470000"/>
                <a:ext cx="6303818" cy="584775"/>
              </a:xfrm>
              <a:prstGeom prst="rect">
                <a:avLst/>
              </a:prstGeom>
              <a:blipFill>
                <a:blip r:embed="rId3"/>
                <a:stretch>
                  <a:fillRect l="-483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3A477317-A821-43B5-98B1-E68AAC9ED67C}"/>
              </a:ext>
            </a:extLst>
          </p:cNvPr>
          <p:cNvCxnSpPr>
            <a:cxnSpLocks/>
            <a:stCxn id="9" idx="1"/>
            <a:endCxn id="13" idx="3"/>
          </p:cNvCxnSpPr>
          <p:nvPr/>
        </p:nvCxnSpPr>
        <p:spPr>
          <a:xfrm rot="10800000">
            <a:off x="5413664" y="4562564"/>
            <a:ext cx="474518" cy="19982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7769D18-63FE-499F-9B99-366977679EC6}"/>
              </a:ext>
            </a:extLst>
          </p:cNvPr>
          <p:cNvSpPr/>
          <p:nvPr/>
        </p:nvSpPr>
        <p:spPr>
          <a:xfrm>
            <a:off x="643866" y="4470000"/>
            <a:ext cx="4769798" cy="18512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1841C8-1946-4BEB-9647-90DB85FF113E}"/>
                  </a:ext>
                </a:extLst>
              </p:cNvPr>
              <p:cNvSpPr txBox="1"/>
              <p:nvPr/>
            </p:nvSpPr>
            <p:spPr>
              <a:xfrm>
                <a:off x="5888182" y="3876255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1841C8-1946-4BEB-9647-90DB85FF1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3876255"/>
                <a:ext cx="6303818" cy="584775"/>
              </a:xfrm>
              <a:prstGeom prst="rect">
                <a:avLst/>
              </a:prstGeom>
              <a:blipFill>
                <a:blip r:embed="rId4"/>
                <a:stretch>
                  <a:fillRect l="-483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D897F9DE-A91B-4A6D-96F8-48759E6EEB01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rot="10800000" flipV="1">
            <a:off x="5413664" y="4168643"/>
            <a:ext cx="474518" cy="1913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18923-DC22-47A8-89C3-899E6E9EFE48}"/>
              </a:ext>
            </a:extLst>
          </p:cNvPr>
          <p:cNvSpPr/>
          <p:nvPr/>
        </p:nvSpPr>
        <p:spPr>
          <a:xfrm>
            <a:off x="643866" y="4267379"/>
            <a:ext cx="4769798" cy="18512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89EB36-EB26-4218-84F2-34EF002B381C}"/>
                  </a:ext>
                </a:extLst>
              </p:cNvPr>
              <p:cNvSpPr txBox="1"/>
              <p:nvPr/>
            </p:nvSpPr>
            <p:spPr>
              <a:xfrm>
                <a:off x="5888182" y="3291479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89EB36-EB26-4218-84F2-34EF002B3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3291479"/>
                <a:ext cx="6303818" cy="584775"/>
              </a:xfrm>
              <a:prstGeom prst="rect">
                <a:avLst/>
              </a:prstGeom>
              <a:blipFill>
                <a:blip r:embed="rId5"/>
                <a:stretch>
                  <a:fillRect l="-483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C6C6C740-FF10-47C3-AFFD-EE2B07632EC4}"/>
              </a:ext>
            </a:extLst>
          </p:cNvPr>
          <p:cNvCxnSpPr>
            <a:cxnSpLocks/>
            <a:stCxn id="17" idx="1"/>
            <a:endCxn id="19" idx="3"/>
          </p:cNvCxnSpPr>
          <p:nvPr/>
        </p:nvCxnSpPr>
        <p:spPr>
          <a:xfrm rot="10800000" flipV="1">
            <a:off x="5413664" y="3583867"/>
            <a:ext cx="474519" cy="584776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FBEAB59-0F77-495D-B826-F02601A40D44}"/>
              </a:ext>
            </a:extLst>
          </p:cNvPr>
          <p:cNvSpPr/>
          <p:nvPr/>
        </p:nvSpPr>
        <p:spPr>
          <a:xfrm>
            <a:off x="643865" y="4076079"/>
            <a:ext cx="4769798" cy="18512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21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* BVO2,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-7.2307 -1.4511 -0.1014  1.2200  6.9343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8.51588    </a:t>
            </a:r>
            <a:r>
              <a:rPr lang="en-US" sz="1200" dirty="0">
                <a:latin typeface="Consolas" panose="020B0609020204030204" pitchFamily="49" charset="0"/>
              </a:rPr>
              <a:t>3.01436   2.825 0.005697 **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-0.11323    </a:t>
            </a:r>
            <a:r>
              <a:rPr lang="en-US" sz="1200" dirty="0">
                <a:latin typeface="Consolas" panose="020B0609020204030204" pitchFamily="49" charset="0"/>
              </a:rPr>
              <a:t>1.00029  -0.113 0.910097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BVO2        -0.10874    </a:t>
            </a:r>
            <a:r>
              <a:rPr lang="en-US" sz="1200" dirty="0">
                <a:latin typeface="Consolas" panose="020B0609020204030204" pitchFamily="49" charset="0"/>
              </a:rPr>
              <a:t>0.05266  -2.065 0.041512 *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alt_km:BVO2 -0.07448    </a:t>
            </a:r>
            <a:r>
              <a:rPr lang="en-US" sz="1200" dirty="0">
                <a:latin typeface="Consolas" panose="020B0609020204030204" pitchFamily="49" charset="0"/>
              </a:rPr>
              <a:t>0.01849  -4.027 0.000109 ***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2.432 on 101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0.8488,	Adjusted R-squared:  0.8443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F-statistic:   189 on 3 and 101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an interaction?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C25674-9671-4833-B577-DE7941DFF646}"/>
                  </a:ext>
                </a:extLst>
              </p:cNvPr>
              <p:cNvSpPr txBox="1"/>
              <p:nvPr/>
            </p:nvSpPr>
            <p:spPr>
              <a:xfrm>
                <a:off x="3702627" y="6015359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C25674-9671-4833-B577-DE7941DFF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627" y="6015359"/>
                <a:ext cx="6303818" cy="584775"/>
              </a:xfrm>
              <a:prstGeom prst="rect">
                <a:avLst/>
              </a:prstGeom>
              <a:blipFill>
                <a:blip r:embed="rId2"/>
                <a:stretch>
                  <a:fillRect l="-386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595A63A1-D705-462C-9AD9-46DDD0CBA99F}"/>
              </a:ext>
            </a:extLst>
          </p:cNvPr>
          <p:cNvCxnSpPr>
            <a:cxnSpLocks/>
            <a:stCxn id="7" idx="1"/>
            <a:endCxn id="11" idx="2"/>
          </p:cNvCxnSpPr>
          <p:nvPr/>
        </p:nvCxnSpPr>
        <p:spPr>
          <a:xfrm rot="10800000">
            <a:off x="3028765" y="5812293"/>
            <a:ext cx="673862" cy="495455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271F2-03F3-4EE1-B1B5-0171AB3FAF75}"/>
              </a:ext>
            </a:extLst>
          </p:cNvPr>
          <p:cNvSpPr/>
          <p:nvPr/>
        </p:nvSpPr>
        <p:spPr>
          <a:xfrm>
            <a:off x="643866" y="5467672"/>
            <a:ext cx="4769798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ADF570-E2FE-4421-8E51-49506CE1E06D}"/>
                  </a:ext>
                </a:extLst>
              </p:cNvPr>
              <p:cNvSpPr txBox="1"/>
              <p:nvPr/>
            </p:nvSpPr>
            <p:spPr>
              <a:xfrm>
                <a:off x="5888182" y="4470000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ADF570-E2FE-4421-8E51-49506CE1E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4470000"/>
                <a:ext cx="6303818" cy="584775"/>
              </a:xfrm>
              <a:prstGeom prst="rect">
                <a:avLst/>
              </a:prstGeom>
              <a:blipFill>
                <a:blip r:embed="rId3"/>
                <a:stretch>
                  <a:fillRect l="-483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3A477317-A821-43B5-98B1-E68AAC9ED67C}"/>
              </a:ext>
            </a:extLst>
          </p:cNvPr>
          <p:cNvCxnSpPr>
            <a:cxnSpLocks/>
            <a:stCxn id="9" idx="1"/>
            <a:endCxn id="13" idx="3"/>
          </p:cNvCxnSpPr>
          <p:nvPr/>
        </p:nvCxnSpPr>
        <p:spPr>
          <a:xfrm rot="10800000">
            <a:off x="5413664" y="4562564"/>
            <a:ext cx="474518" cy="19982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7769D18-63FE-499F-9B99-366977679EC6}"/>
              </a:ext>
            </a:extLst>
          </p:cNvPr>
          <p:cNvSpPr/>
          <p:nvPr/>
        </p:nvSpPr>
        <p:spPr>
          <a:xfrm>
            <a:off x="643866" y="4470000"/>
            <a:ext cx="4769798" cy="18512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1841C8-1946-4BEB-9647-90DB85FF113E}"/>
                  </a:ext>
                </a:extLst>
              </p:cNvPr>
              <p:cNvSpPr txBox="1"/>
              <p:nvPr/>
            </p:nvSpPr>
            <p:spPr>
              <a:xfrm>
                <a:off x="5888182" y="3876255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1841C8-1946-4BEB-9647-90DB85FF1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3876255"/>
                <a:ext cx="6303818" cy="584775"/>
              </a:xfrm>
              <a:prstGeom prst="rect">
                <a:avLst/>
              </a:prstGeom>
              <a:blipFill>
                <a:blip r:embed="rId4"/>
                <a:stretch>
                  <a:fillRect l="-483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D897F9DE-A91B-4A6D-96F8-48759E6EEB01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rot="10800000" flipV="1">
            <a:off x="5413664" y="4168643"/>
            <a:ext cx="474518" cy="1913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18923-DC22-47A8-89C3-899E6E9EFE48}"/>
              </a:ext>
            </a:extLst>
          </p:cNvPr>
          <p:cNvSpPr/>
          <p:nvPr/>
        </p:nvSpPr>
        <p:spPr>
          <a:xfrm>
            <a:off x="643866" y="4267379"/>
            <a:ext cx="4769798" cy="18512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89EB36-EB26-4218-84F2-34EF002B381C}"/>
                  </a:ext>
                </a:extLst>
              </p:cNvPr>
              <p:cNvSpPr txBox="1"/>
              <p:nvPr/>
            </p:nvSpPr>
            <p:spPr>
              <a:xfrm>
                <a:off x="5888182" y="3291479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89EB36-EB26-4218-84F2-34EF002B3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3291479"/>
                <a:ext cx="6303818" cy="584775"/>
              </a:xfrm>
              <a:prstGeom prst="rect">
                <a:avLst/>
              </a:prstGeom>
              <a:blipFill>
                <a:blip r:embed="rId5"/>
                <a:stretch>
                  <a:fillRect l="-483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C6C6C740-FF10-47C3-AFFD-EE2B07632EC4}"/>
              </a:ext>
            </a:extLst>
          </p:cNvPr>
          <p:cNvCxnSpPr>
            <a:cxnSpLocks/>
            <a:stCxn id="17" idx="1"/>
            <a:endCxn id="19" idx="3"/>
          </p:cNvCxnSpPr>
          <p:nvPr/>
        </p:nvCxnSpPr>
        <p:spPr>
          <a:xfrm rot="10800000" flipV="1">
            <a:off x="5413664" y="3583867"/>
            <a:ext cx="474519" cy="584776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FBEAB59-0F77-495D-B826-F02601A40D44}"/>
              </a:ext>
            </a:extLst>
          </p:cNvPr>
          <p:cNvSpPr/>
          <p:nvPr/>
        </p:nvSpPr>
        <p:spPr>
          <a:xfrm>
            <a:off x="643865" y="4076079"/>
            <a:ext cx="4769798" cy="18512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CEFADD-838F-46AF-8D9F-A5422E35FC90}"/>
                  </a:ext>
                </a:extLst>
              </p:cNvPr>
              <p:cNvSpPr txBox="1"/>
              <p:nvPr/>
            </p:nvSpPr>
            <p:spPr>
              <a:xfrm>
                <a:off x="5888182" y="2694915"/>
                <a:ext cx="6303818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𝐴𝐿𝑇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𝐴𝐿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𝐵𝑉𝑂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𝐴𝐿𝑇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CEFADD-838F-46AF-8D9F-A5422E35F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2694915"/>
                <a:ext cx="6303818" cy="584775"/>
              </a:xfrm>
              <a:prstGeom prst="rect">
                <a:avLst/>
              </a:prstGeom>
              <a:blipFill>
                <a:blip r:embed="rId6"/>
                <a:stretch>
                  <a:fillRect l="-483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674319E8-43E3-404A-9107-EEE3EA4890BB}"/>
              </a:ext>
            </a:extLst>
          </p:cNvPr>
          <p:cNvCxnSpPr>
            <a:cxnSpLocks/>
            <a:stCxn id="20" idx="1"/>
            <a:endCxn id="22" idx="3"/>
          </p:cNvCxnSpPr>
          <p:nvPr/>
        </p:nvCxnSpPr>
        <p:spPr>
          <a:xfrm rot="10800000" flipV="1">
            <a:off x="5413664" y="2987303"/>
            <a:ext cx="474519" cy="99004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1DFFAE8-B875-4E6C-BABE-227E0F3B0FED}"/>
              </a:ext>
            </a:extLst>
          </p:cNvPr>
          <p:cNvSpPr/>
          <p:nvPr/>
        </p:nvSpPr>
        <p:spPr>
          <a:xfrm>
            <a:off x="643865" y="3884779"/>
            <a:ext cx="4769798" cy="18512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13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does our interaction mean?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A6F90-371C-4012-B1CC-AC77BCEF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513" y="1934457"/>
            <a:ext cx="4764024" cy="3970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810298-C07B-4BE5-B45B-9328D6636BF2}"/>
              </a:ext>
            </a:extLst>
          </p:cNvPr>
          <p:cNvSpPr txBox="1"/>
          <p:nvPr/>
        </p:nvSpPr>
        <p:spPr>
          <a:xfrm>
            <a:off x="632937" y="1934457"/>
            <a:ext cx="60063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effect of altitude depends on your baseline fitness.</a:t>
            </a:r>
          </a:p>
          <a:p>
            <a:endParaRPr lang="en-US" dirty="0"/>
          </a:p>
          <a:p>
            <a:r>
              <a:rPr lang="en-US" dirty="0"/>
              <a:t>What is the effect of altitude for someone with a BVO2 = </a:t>
            </a:r>
            <a:r>
              <a:rPr lang="en-US" b="1" dirty="0">
                <a:solidFill>
                  <a:srgbClr val="FF0000"/>
                </a:solidFill>
              </a:rPr>
              <a:t>40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2936" y="2953471"/>
                <a:ext cx="5889305" cy="306286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𝑩𝑽𝑶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b="1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8.516−0.113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−0.109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−0.074 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𝐴𝐿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8.516−0.109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𝟏𝟏𝟑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𝟎𝟕𝟒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)]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𝟏𝟓𝟔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𝟑𝟎𝟕𝟑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pPr lvl="1"/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36" y="2953471"/>
                <a:ext cx="5889305" cy="3062865"/>
              </a:xfrm>
              <a:prstGeom prst="rect">
                <a:avLst/>
              </a:prstGeom>
              <a:blipFill>
                <a:blip r:embed="rId3"/>
                <a:stretch>
                  <a:fillRect l="-207" t="-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065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does our interaction mean?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A6F90-371C-4012-B1CC-AC77BCEF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513" y="1934457"/>
            <a:ext cx="4764024" cy="3970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810298-C07B-4BE5-B45B-9328D6636BF2}"/>
              </a:ext>
            </a:extLst>
          </p:cNvPr>
          <p:cNvSpPr txBox="1"/>
          <p:nvPr/>
        </p:nvSpPr>
        <p:spPr>
          <a:xfrm>
            <a:off x="632937" y="1934457"/>
            <a:ext cx="60063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effect of altitude depends on your baseline fitness.</a:t>
            </a:r>
          </a:p>
          <a:p>
            <a:endParaRPr lang="en-US" dirty="0"/>
          </a:p>
          <a:p>
            <a:r>
              <a:rPr lang="en-US" dirty="0"/>
              <a:t>What is the effect of altitude for someone with a BVO2 = </a:t>
            </a:r>
            <a:r>
              <a:rPr lang="en-US" b="1" dirty="0">
                <a:solidFill>
                  <a:srgbClr val="FF0000"/>
                </a:solidFill>
              </a:rPr>
              <a:t>40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2936" y="2953471"/>
                <a:ext cx="5889305" cy="306286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𝑩𝑽𝑶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b="1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8.516−0.113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−0.109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−0.074 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𝐴𝐿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8.516−0.109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𝟏𝟏𝟑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𝟎𝟕𝟒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)]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𝟏𝟓𝟔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𝟑𝟎𝟕𝟑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pPr lvl="1"/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36" y="2953471"/>
                <a:ext cx="5889305" cy="3062865"/>
              </a:xfrm>
              <a:prstGeom prst="rect">
                <a:avLst/>
              </a:prstGeom>
              <a:blipFill>
                <a:blip r:embed="rId3"/>
                <a:stretch>
                  <a:fillRect l="-207" t="-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02A050-1286-4A32-B874-A2FA5B256540}"/>
              </a:ext>
            </a:extLst>
          </p:cNvPr>
          <p:cNvCxnSpPr>
            <a:cxnSpLocks/>
          </p:cNvCxnSpPr>
          <p:nvPr/>
        </p:nvCxnSpPr>
        <p:spPr>
          <a:xfrm>
            <a:off x="7574973" y="2015836"/>
            <a:ext cx="3096491" cy="160020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142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does our interaction mean?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A6F90-371C-4012-B1CC-AC77BCEF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513" y="1934457"/>
            <a:ext cx="4764024" cy="3970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810298-C07B-4BE5-B45B-9328D6636BF2}"/>
              </a:ext>
            </a:extLst>
          </p:cNvPr>
          <p:cNvSpPr txBox="1"/>
          <p:nvPr/>
        </p:nvSpPr>
        <p:spPr>
          <a:xfrm>
            <a:off x="632937" y="1934457"/>
            <a:ext cx="61233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effect of altitude depends on your baseline fitness.</a:t>
            </a:r>
          </a:p>
          <a:p>
            <a:endParaRPr lang="en-US" dirty="0"/>
          </a:p>
          <a:p>
            <a:r>
              <a:rPr lang="en-US" dirty="0"/>
              <a:t>What is the effect of altitude for someone with a BVO2 = </a:t>
            </a:r>
            <a:r>
              <a:rPr lang="en-US" b="1" dirty="0">
                <a:solidFill>
                  <a:srgbClr val="BD1384"/>
                </a:solidFill>
              </a:rPr>
              <a:t>55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2936" y="2953471"/>
                <a:ext cx="5889305" cy="306286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𝑩𝑽𝑶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b="1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8.516−0.113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−0.109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−0.074 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𝐴𝐿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8.516−0.109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55</m:t>
                            </m:r>
                          </m:e>
                        </m:d>
                      </m:e>
                    </m:d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+[−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𝟏𝟏𝟑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𝟎𝟕𝟒</m:t>
                    </m:r>
                    <m:r>
                      <a:rPr lang="en-US" sz="1400" b="1" i="1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en-US" sz="1400" b="1" i="1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)]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BD138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𝟓𝟐𝟏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𝟏𝟖𝟑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BD138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pPr lvl="1"/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36" y="2953471"/>
                <a:ext cx="5889305" cy="3062865"/>
              </a:xfrm>
              <a:prstGeom prst="rect">
                <a:avLst/>
              </a:prstGeom>
              <a:blipFill>
                <a:blip r:embed="rId3"/>
                <a:stretch>
                  <a:fillRect l="-207" t="-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02A050-1286-4A32-B874-A2FA5B256540}"/>
              </a:ext>
            </a:extLst>
          </p:cNvPr>
          <p:cNvCxnSpPr>
            <a:cxnSpLocks/>
          </p:cNvCxnSpPr>
          <p:nvPr/>
        </p:nvCxnSpPr>
        <p:spPr>
          <a:xfrm>
            <a:off x="7574973" y="2015836"/>
            <a:ext cx="3096491" cy="160020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137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does our interaction mean?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A6F90-371C-4012-B1CC-AC77BCEF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513" y="1934457"/>
            <a:ext cx="4764024" cy="3970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810298-C07B-4BE5-B45B-9328D6636BF2}"/>
              </a:ext>
            </a:extLst>
          </p:cNvPr>
          <p:cNvSpPr txBox="1"/>
          <p:nvPr/>
        </p:nvSpPr>
        <p:spPr>
          <a:xfrm>
            <a:off x="632937" y="1934457"/>
            <a:ext cx="61233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effect of altitude depends on your baseline fitness.</a:t>
            </a:r>
          </a:p>
          <a:p>
            <a:endParaRPr lang="en-US" dirty="0"/>
          </a:p>
          <a:p>
            <a:r>
              <a:rPr lang="en-US" dirty="0"/>
              <a:t>What is the effect of altitude for someone with a BVO2 = </a:t>
            </a:r>
            <a:r>
              <a:rPr lang="en-US" b="1" dirty="0">
                <a:solidFill>
                  <a:srgbClr val="BD1384"/>
                </a:solidFill>
              </a:rPr>
              <a:t>55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2936" y="2953471"/>
                <a:ext cx="5889305" cy="306286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𝑩𝑽𝑶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b="1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8.516−0.113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−0.109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−0.074 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𝐴𝐿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8.516−0.109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55</m:t>
                            </m:r>
                          </m:e>
                        </m:d>
                      </m:e>
                    </m:d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+[−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𝟏𝟏𝟑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𝟎𝟕𝟒</m:t>
                    </m:r>
                    <m:r>
                      <a:rPr lang="en-US" sz="1400" b="1" i="1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en-US" sz="1400" b="1" i="1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)]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BD138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𝟓𝟐𝟏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𝟏𝟖𝟑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BD138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pPr lvl="1"/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36" y="2953471"/>
                <a:ext cx="5889305" cy="3062865"/>
              </a:xfrm>
              <a:prstGeom prst="rect">
                <a:avLst/>
              </a:prstGeom>
              <a:blipFill>
                <a:blip r:embed="rId3"/>
                <a:stretch>
                  <a:fillRect l="-207" t="-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02A050-1286-4A32-B874-A2FA5B256540}"/>
              </a:ext>
            </a:extLst>
          </p:cNvPr>
          <p:cNvCxnSpPr>
            <a:cxnSpLocks/>
          </p:cNvCxnSpPr>
          <p:nvPr/>
        </p:nvCxnSpPr>
        <p:spPr>
          <a:xfrm>
            <a:off x="7574973" y="2015836"/>
            <a:ext cx="3096491" cy="160020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97FAA6-2818-4392-A947-E5CEE6C0FBBA}"/>
              </a:ext>
            </a:extLst>
          </p:cNvPr>
          <p:cNvCxnSpPr>
            <a:cxnSpLocks/>
          </p:cNvCxnSpPr>
          <p:nvPr/>
        </p:nvCxnSpPr>
        <p:spPr>
          <a:xfrm>
            <a:off x="7356764" y="2015836"/>
            <a:ext cx="3314700" cy="2469067"/>
          </a:xfrm>
          <a:prstGeom prst="line">
            <a:avLst/>
          </a:prstGeom>
          <a:ln w="28575">
            <a:solidFill>
              <a:srgbClr val="BD138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948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does our interaction mean?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A6F90-371C-4012-B1CC-AC77BCEF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513" y="1934457"/>
            <a:ext cx="4764024" cy="3970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810298-C07B-4BE5-B45B-9328D6636BF2}"/>
              </a:ext>
            </a:extLst>
          </p:cNvPr>
          <p:cNvSpPr txBox="1"/>
          <p:nvPr/>
        </p:nvSpPr>
        <p:spPr>
          <a:xfrm>
            <a:off x="632937" y="1934457"/>
            <a:ext cx="58893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effect of altitude depends on your baseline fitness.</a:t>
            </a:r>
          </a:p>
          <a:p>
            <a:endParaRPr lang="en-US" dirty="0"/>
          </a:p>
          <a:p>
            <a:r>
              <a:rPr lang="en-US" dirty="0"/>
              <a:t>What is the effect of altitude for someone with a BVO2 = </a:t>
            </a:r>
            <a:r>
              <a:rPr lang="en-US" b="1" dirty="0">
                <a:solidFill>
                  <a:srgbClr val="0070C0"/>
                </a:solidFill>
              </a:rPr>
              <a:t>70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2936" y="2953471"/>
                <a:ext cx="5889305" cy="306286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𝑩𝑽𝑶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b="1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8.516−0.113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−0.109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−0.074 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𝐴𝐿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8.516−0.109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+[−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𝟏𝟏𝟑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𝟎𝟕𝟒</m:t>
                    </m:r>
                    <m:r>
                      <a:rPr lang="en-US" sz="1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𝟕𝟎</m:t>
                    </m:r>
                    <m:r>
                      <a:rPr lang="en-US" sz="1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)]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𝟖𝟖𝟔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𝟐𝟗𝟑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pPr lvl="1"/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36" y="2953471"/>
                <a:ext cx="5889305" cy="3062865"/>
              </a:xfrm>
              <a:prstGeom prst="rect">
                <a:avLst/>
              </a:prstGeom>
              <a:blipFill>
                <a:blip r:embed="rId3"/>
                <a:stretch>
                  <a:fillRect l="-207" t="-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02A050-1286-4A32-B874-A2FA5B256540}"/>
              </a:ext>
            </a:extLst>
          </p:cNvPr>
          <p:cNvCxnSpPr>
            <a:cxnSpLocks/>
          </p:cNvCxnSpPr>
          <p:nvPr/>
        </p:nvCxnSpPr>
        <p:spPr>
          <a:xfrm>
            <a:off x="7574973" y="2015836"/>
            <a:ext cx="3096491" cy="160020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97FAA6-2818-4392-A947-E5CEE6C0FBBA}"/>
              </a:ext>
            </a:extLst>
          </p:cNvPr>
          <p:cNvCxnSpPr>
            <a:cxnSpLocks/>
          </p:cNvCxnSpPr>
          <p:nvPr/>
        </p:nvCxnSpPr>
        <p:spPr>
          <a:xfrm>
            <a:off x="7356764" y="2015836"/>
            <a:ext cx="3314700" cy="2469067"/>
          </a:xfrm>
          <a:prstGeom prst="line">
            <a:avLst/>
          </a:prstGeom>
          <a:ln w="28575">
            <a:solidFill>
              <a:srgbClr val="BD138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924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does our interaction mean?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A6F90-371C-4012-B1CC-AC77BCEF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513" y="1934457"/>
            <a:ext cx="4764024" cy="3970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810298-C07B-4BE5-B45B-9328D6636BF2}"/>
              </a:ext>
            </a:extLst>
          </p:cNvPr>
          <p:cNvSpPr txBox="1"/>
          <p:nvPr/>
        </p:nvSpPr>
        <p:spPr>
          <a:xfrm>
            <a:off x="632937" y="1934457"/>
            <a:ext cx="58893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effect of altitude depends on your baseline fitness.</a:t>
            </a:r>
          </a:p>
          <a:p>
            <a:endParaRPr lang="en-US" dirty="0"/>
          </a:p>
          <a:p>
            <a:r>
              <a:rPr lang="en-US" dirty="0"/>
              <a:t>What is the effect of altitude for someone with a BVO2 = </a:t>
            </a:r>
            <a:r>
              <a:rPr lang="en-US" b="1" dirty="0">
                <a:solidFill>
                  <a:srgbClr val="0070C0"/>
                </a:solidFill>
              </a:rPr>
              <a:t>70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2936" y="2953471"/>
                <a:ext cx="5889305" cy="306286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𝑨𝑳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𝑩𝑽𝑶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b="1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8.516−0.113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−0.109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−0.074 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𝐴𝐿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8.516−0.109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+[−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𝟏𝟏𝟑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𝟎𝟕𝟒</m:t>
                    </m:r>
                    <m:r>
                      <a:rPr lang="en-US" sz="1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𝟕𝟎</m:t>
                    </m:r>
                    <m:r>
                      <a:rPr lang="en-US" sz="1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)]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𝟖𝟖𝟔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𝟐𝟗𝟑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pPr lvl="1"/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36" y="2953471"/>
                <a:ext cx="5889305" cy="3062865"/>
              </a:xfrm>
              <a:prstGeom prst="rect">
                <a:avLst/>
              </a:prstGeom>
              <a:blipFill>
                <a:blip r:embed="rId3"/>
                <a:stretch>
                  <a:fillRect l="-207" t="-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02A050-1286-4A32-B874-A2FA5B256540}"/>
              </a:ext>
            </a:extLst>
          </p:cNvPr>
          <p:cNvCxnSpPr>
            <a:cxnSpLocks/>
          </p:cNvCxnSpPr>
          <p:nvPr/>
        </p:nvCxnSpPr>
        <p:spPr>
          <a:xfrm>
            <a:off x="7574973" y="2015836"/>
            <a:ext cx="3096491" cy="160020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97FAA6-2818-4392-A947-E5CEE6C0FBBA}"/>
              </a:ext>
            </a:extLst>
          </p:cNvPr>
          <p:cNvCxnSpPr>
            <a:cxnSpLocks/>
          </p:cNvCxnSpPr>
          <p:nvPr/>
        </p:nvCxnSpPr>
        <p:spPr>
          <a:xfrm>
            <a:off x="7356764" y="2015836"/>
            <a:ext cx="3314700" cy="2469067"/>
          </a:xfrm>
          <a:prstGeom prst="line">
            <a:avLst/>
          </a:prstGeom>
          <a:ln w="28575">
            <a:solidFill>
              <a:srgbClr val="BD138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B01E18-A513-4BA7-9101-37F45BE0A4AB}"/>
              </a:ext>
            </a:extLst>
          </p:cNvPr>
          <p:cNvCxnSpPr>
            <a:cxnSpLocks/>
          </p:cNvCxnSpPr>
          <p:nvPr/>
        </p:nvCxnSpPr>
        <p:spPr>
          <a:xfrm>
            <a:off x="7242463" y="2265218"/>
            <a:ext cx="3397828" cy="3158837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677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does our interaction mean?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10312"/>
            <a:ext cx="2743200" cy="365125"/>
          </a:xfrm>
        </p:spPr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A6F90-371C-4012-B1CC-AC77BCEF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513" y="1934457"/>
            <a:ext cx="4764024" cy="3970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810298-C07B-4BE5-B45B-9328D6636BF2}"/>
              </a:ext>
            </a:extLst>
          </p:cNvPr>
          <p:cNvSpPr txBox="1"/>
          <p:nvPr/>
        </p:nvSpPr>
        <p:spPr>
          <a:xfrm>
            <a:off x="632937" y="1934457"/>
            <a:ext cx="534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effect of altitude depends on your baseline fitness.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6747" y="2388034"/>
                <a:ext cx="5889305" cy="306286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=8.516−0.113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𝐴𝐿𝑇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−0.109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𝐵𝑉𝑂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−0.074 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𝐴𝐿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𝐵𝑉𝑂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pPr marL="0" indent="0">
                  <a:buNone/>
                </a:pPr>
                <a:endParaRPr lang="en-US" sz="1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𝟏𝟓𝟔</m:t>
                    </m:r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𝟑𝟎𝟕𝟑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𝟓𝟐𝟏</m:t>
                    </m:r>
                    <m:r>
                      <a:rPr lang="en-US" sz="1400" b="1" i="1" smtClean="0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400" b="1" i="1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>
                        <a:solidFill>
                          <a:srgbClr val="BD1384"/>
                        </a:solidFill>
                        <a:latin typeface="Cambria Math" panose="02040503050406030204" pitchFamily="18" charset="0"/>
                      </a:rPr>
                      <m:t>𝟏𝟖𝟑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BD138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BD1384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𝟖𝟖𝟔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𝟐𝟗𝟑</m:t>
                    </m:r>
                    <m:d>
                      <m:dPr>
                        <m:ctrlPr>
                          <a:rPr lang="en-US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𝑨𝑳𝑻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pPr lvl="1"/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820DBD2-3788-4AA9-A46D-F18BD006E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47" y="2388034"/>
                <a:ext cx="5889305" cy="3062865"/>
              </a:xfrm>
              <a:prstGeom prst="rect">
                <a:avLst/>
              </a:prstGeom>
              <a:blipFill>
                <a:blip r:embed="rId3"/>
                <a:stretch>
                  <a:fillRect l="-103" t="-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02A050-1286-4A32-B874-A2FA5B256540}"/>
              </a:ext>
            </a:extLst>
          </p:cNvPr>
          <p:cNvCxnSpPr>
            <a:cxnSpLocks/>
          </p:cNvCxnSpPr>
          <p:nvPr/>
        </p:nvCxnSpPr>
        <p:spPr>
          <a:xfrm>
            <a:off x="7574973" y="2015836"/>
            <a:ext cx="3096491" cy="160020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97FAA6-2818-4392-A947-E5CEE6C0FBBA}"/>
              </a:ext>
            </a:extLst>
          </p:cNvPr>
          <p:cNvCxnSpPr>
            <a:cxnSpLocks/>
          </p:cNvCxnSpPr>
          <p:nvPr/>
        </p:nvCxnSpPr>
        <p:spPr>
          <a:xfrm>
            <a:off x="7356764" y="2015836"/>
            <a:ext cx="3314700" cy="2469067"/>
          </a:xfrm>
          <a:prstGeom prst="line">
            <a:avLst/>
          </a:prstGeom>
          <a:ln w="28575">
            <a:solidFill>
              <a:srgbClr val="BD138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B01E18-A513-4BA7-9101-37F45BE0A4AB}"/>
              </a:ext>
            </a:extLst>
          </p:cNvPr>
          <p:cNvCxnSpPr>
            <a:cxnSpLocks/>
          </p:cNvCxnSpPr>
          <p:nvPr/>
        </p:nvCxnSpPr>
        <p:spPr>
          <a:xfrm>
            <a:off x="7242463" y="2265218"/>
            <a:ext cx="3397828" cy="3158837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675799E-941D-49E4-8C1D-249BB1295CB8}"/>
              </a:ext>
            </a:extLst>
          </p:cNvPr>
          <p:cNvSpPr txBox="1"/>
          <p:nvPr/>
        </p:nvSpPr>
        <p:spPr>
          <a:xfrm>
            <a:off x="8941377" y="2631270"/>
            <a:ext cx="45200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ED6805-BACD-4847-99FC-152629C40A6F}"/>
              </a:ext>
            </a:extLst>
          </p:cNvPr>
          <p:cNvSpPr txBox="1"/>
          <p:nvPr/>
        </p:nvSpPr>
        <p:spPr>
          <a:xfrm>
            <a:off x="8941377" y="3181988"/>
            <a:ext cx="45200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BD1384"/>
                </a:solidFill>
              </a:rPr>
              <a:t>55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D6C404-CF33-475E-A291-5BAF957A09DE}"/>
              </a:ext>
            </a:extLst>
          </p:cNvPr>
          <p:cNvSpPr txBox="1"/>
          <p:nvPr/>
        </p:nvSpPr>
        <p:spPr>
          <a:xfrm>
            <a:off x="8788112" y="3738978"/>
            <a:ext cx="452004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3091860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4564-4D21-4A04-BA42-86A87BCB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table for the full model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C232C8C-EC43-4327-8181-28F9CC0674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5464390"/>
              </p:ext>
            </p:extLst>
          </p:nvPr>
        </p:nvGraphicFramePr>
        <p:xfrm>
          <a:off x="838200" y="1825625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6234276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686214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0598491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6203099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9505121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41151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F_obs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</a:t>
                      </a:r>
                      <a:r>
                        <a:rPr lang="en-US" dirty="0"/>
                        <a:t>(&gt;</a:t>
                      </a:r>
                      <a:r>
                        <a:rPr lang="en-US" dirty="0" err="1"/>
                        <a:t>F_obs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47.21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47.21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7.981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347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Alt 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0.910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667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BVO2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25.22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25.22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4.263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44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Alt * BVO2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95.95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95.95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16.221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66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Residuals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597.44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8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765.90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361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3A449-1D67-44D6-8917-76DB6FDE6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163DA-0CD0-4019-8994-E9B2C7AB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35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2900</Words>
  <Application>Microsoft Office PowerPoint</Application>
  <PresentationFormat>Widescreen</PresentationFormat>
  <Paragraphs>445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Consolas</vt:lpstr>
      <vt:lpstr>Office Theme</vt:lpstr>
      <vt:lpstr>Moderated and Non-Linear Models.</vt:lpstr>
      <vt:lpstr>Definitions</vt:lpstr>
      <vt:lpstr>Moderated Models</vt:lpstr>
      <vt:lpstr>Unmoderated (Additive) Model</vt:lpstr>
      <vt:lpstr>Unmoderated (Additive) Model</vt:lpstr>
      <vt:lpstr>Unmoderated (Additive) Model</vt:lpstr>
      <vt:lpstr>Moderated (Multiplicative) Models</vt:lpstr>
      <vt:lpstr>How does a moderated model work?</vt:lpstr>
      <vt:lpstr>How does a moderated model work?</vt:lpstr>
      <vt:lpstr>How does a moderated model work?</vt:lpstr>
      <vt:lpstr>Is there an interaction?</vt:lpstr>
      <vt:lpstr>Is there an interaction?</vt:lpstr>
      <vt:lpstr>Is there an interaction?</vt:lpstr>
      <vt:lpstr>Is there an interaction?</vt:lpstr>
      <vt:lpstr>Is there an interaction?</vt:lpstr>
      <vt:lpstr>Is there an interaction?</vt:lpstr>
      <vt:lpstr>Is there an interaction?</vt:lpstr>
      <vt:lpstr>Is there an interaction?</vt:lpstr>
      <vt:lpstr>So what does our interaction mean?</vt:lpstr>
      <vt:lpstr>So what does our interaction mean?</vt:lpstr>
      <vt:lpstr>So what does our interaction mean?</vt:lpstr>
      <vt:lpstr>So what does our interaction mean?</vt:lpstr>
      <vt:lpstr>So what does our interaction mean?</vt:lpstr>
      <vt:lpstr>So what does our interaction mean?</vt:lpstr>
      <vt:lpstr>So what does our interaction mean?</vt:lpstr>
      <vt:lpstr>ANOVA table for the full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32</cp:revision>
  <dcterms:created xsi:type="dcterms:W3CDTF">2019-02-09T14:44:07Z</dcterms:created>
  <dcterms:modified xsi:type="dcterms:W3CDTF">2019-02-10T00:35:03Z</dcterms:modified>
</cp:coreProperties>
</file>
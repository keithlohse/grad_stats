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7"/>
  </p:notesMasterIdLst>
  <p:sldIdLst>
    <p:sldId id="382" r:id="rId2"/>
    <p:sldId id="383" r:id="rId3"/>
    <p:sldId id="384" r:id="rId4"/>
    <p:sldId id="385" r:id="rId5"/>
    <p:sldId id="38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58" d="100"/>
          <a:sy n="58" d="100"/>
        </p:scale>
        <p:origin x="9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12/29/2018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12/29/2018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12/29/2018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A Note on Notation.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keith.lohse@health.utah.edu</a:t>
            </a:r>
            <a:endParaRPr lang="en-US" dirty="0"/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@</a:t>
            </a:r>
            <a:r>
              <a:rPr lang="en-US" dirty="0" err="1" smtClean="0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Formal Notation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A big part of design and analysis is being able to translate our </a:t>
                </a:r>
                <a:r>
                  <a:rPr lang="en-US" b="1" i="1" u="sng" dirty="0" smtClean="0"/>
                  <a:t>narrative</a:t>
                </a:r>
                <a:r>
                  <a:rPr lang="en-US" dirty="0" smtClean="0"/>
                  <a:t> hypotheses (e.g., there is a beneficial effect of exercise on resting blood pressure) into </a:t>
                </a:r>
                <a:r>
                  <a:rPr lang="en-US" b="1" i="1" u="sng" dirty="0" smtClean="0"/>
                  <a:t>statistical</a:t>
                </a:r>
                <a:r>
                  <a:rPr lang="en-US" dirty="0" smtClean="0"/>
                  <a:t> hypotheses.</a:t>
                </a:r>
              </a:p>
              <a:p>
                <a:endParaRPr lang="en-US" dirty="0"/>
              </a:p>
              <a:p>
                <a:r>
                  <a:rPr lang="en-US" dirty="0" smtClean="0"/>
                  <a:t>In order to do this, we need to learn a bit about formal notation. Elaborating on our general framework of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DATA</a:t>
                </a:r>
                <a:r>
                  <a:rPr lang="en-US" dirty="0" smtClean="0"/>
                  <a:t> = 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MODEL</a:t>
                </a:r>
                <a:r>
                  <a:rPr lang="en-US" dirty="0" smtClean="0"/>
                  <a:t> + </a:t>
                </a:r>
                <a:r>
                  <a:rPr lang="en-US" dirty="0" smtClean="0">
                    <a:solidFill>
                      <a:schemeClr val="accent6"/>
                    </a:solidFill>
                  </a:rPr>
                  <a:t>ERROR</a:t>
                </a:r>
                <a:r>
                  <a:rPr lang="en-US" dirty="0" smtClean="0"/>
                  <a:t>, we can rewrite this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 smtClean="0"/>
                  <a:t> is the estimated value for the </a:t>
                </a:r>
                <a:r>
                  <a:rPr lang="en-US" dirty="0" err="1" smtClean="0"/>
                  <a:t>i</a:t>
                </a:r>
                <a:r>
                  <a:rPr lang="en-US" baseline="30000" dirty="0" err="1" smtClean="0"/>
                  <a:t>th</a:t>
                </a:r>
                <a:r>
                  <a:rPr lang="en-US" dirty="0" smtClean="0"/>
                  <a:t> observation in our data. This term could also be expanded to show exactly what the model is, not just the model’s prediction: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>
                  <a:solidFill>
                    <a:schemeClr val="accent1"/>
                  </a:solidFill>
                </a:endParaRPr>
              </a:p>
              <a:p>
                <a:pPr lvl="1"/>
                <a:endParaRPr lang="en-US" dirty="0" smtClean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dirty="0" smtClean="0"/>
                  <a:t>Thus, written more completely: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>
                    <a:solidFill>
                      <a:schemeClr val="accent1"/>
                    </a:solidFill>
                  </a:rPr>
                  <a:t> </a:t>
                </a:r>
                <a:endParaRPr lang="en-US" dirty="0">
                  <a:solidFill>
                    <a:schemeClr val="accent1"/>
                  </a:solidFill>
                </a:endParaRPr>
              </a:p>
              <a:p>
                <a:pPr marL="457200" lvl="1" indent="0">
                  <a:buNone/>
                </a:pP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73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Formal Notation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It is also important to distinguish between parameters (represented using Greek letters: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 smtClean="0"/>
                  <a:t>) and estimates of those parameters (represented using Roman letters: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 smtClean="0"/>
                  <a:t>).</a:t>
                </a:r>
              </a:p>
              <a:p>
                <a:endParaRPr lang="en-US" dirty="0"/>
              </a:p>
              <a:p>
                <a:r>
                  <a:rPr lang="en-US" dirty="0" smtClean="0"/>
                  <a:t>The true value of the parameters are not knowable and thus need to be estimated from our sample. </a:t>
                </a:r>
              </a:p>
              <a:p>
                <a:pPr lvl="1"/>
                <a:r>
                  <a:rPr lang="en-US" dirty="0" smtClean="0"/>
                  <a:t>If we had access to our entire population, the true values would be knowable, but this is almost never the case.</a:t>
                </a:r>
              </a:p>
              <a:p>
                <a:pPr lvl="1"/>
                <a:endParaRPr lang="en-US" dirty="0" smtClean="0"/>
              </a:p>
              <a:p>
                <a:pPr lvl="1"/>
                <a:r>
                  <a:rPr lang="en-US" dirty="0" smtClean="0"/>
                  <a:t>Usually, we are interested in applying the results of our study to large groups of people (e.g., all human adults; adults with a family history </a:t>
                </a:r>
                <a:r>
                  <a:rPr lang="en-US" smtClean="0"/>
                  <a:t>of heart </a:t>
                </a:r>
                <a:r>
                  <a:rPr lang="en-US" dirty="0" smtClean="0"/>
                  <a:t>disease; post-menopausal women)… and these groups are just too big to measure completely!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9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 Estimates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71768" y="1825624"/>
                <a:ext cx="6182032" cy="453072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It is important to remember that these parameter estimates come from the data that we observe. </a:t>
                </a:r>
                <a:endParaRPr lang="en-US" dirty="0"/>
              </a:p>
              <a:p>
                <a:endParaRPr lang="en-US" dirty="0" smtClean="0"/>
              </a:p>
              <a:p>
                <a:r>
                  <a:rPr lang="en-US" dirty="0" smtClean="0"/>
                  <a:t>They are informative, but if we had taken a different sample, the data would have also been different. </a:t>
                </a:r>
              </a:p>
              <a:p>
                <a:endParaRPr lang="en-US" dirty="0"/>
              </a:p>
              <a:p>
                <a:r>
                  <a:rPr lang="en-US" dirty="0" smtClean="0"/>
                  <a:t>All else being equal, the variability between samples depends on sample size (denoted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).</a:t>
                </a:r>
              </a:p>
              <a:p>
                <a:pPr lvl="1"/>
                <a:r>
                  <a:rPr lang="en-US" dirty="0" smtClean="0"/>
                  <a:t>Consider the effect of one outlier in a sample of 10 versus a sample of 10,000.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71768" y="1825624"/>
                <a:ext cx="6182032" cy="4530725"/>
              </a:xfrm>
              <a:blipFill>
                <a:blip r:embed="rId2"/>
                <a:stretch>
                  <a:fillRect l="-1478" t="-3360" r="-2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48812" y="2939845"/>
                <a:ext cx="44416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812" y="2939845"/>
                <a:ext cx="44416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58296" y="1883750"/>
                <a:ext cx="4160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296" y="1883750"/>
                <a:ext cx="416076" cy="307777"/>
              </a:xfrm>
              <a:prstGeom prst="rect">
                <a:avLst/>
              </a:prstGeom>
              <a:blipFill>
                <a:blip r:embed="rId4"/>
                <a:stretch>
                  <a:fillRect l="-14706" r="-588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58296" y="2558747"/>
                <a:ext cx="4160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296" y="2558747"/>
                <a:ext cx="416076" cy="307777"/>
              </a:xfrm>
              <a:prstGeom prst="rect">
                <a:avLst/>
              </a:prstGeom>
              <a:blipFill>
                <a:blip r:embed="rId5"/>
                <a:stretch>
                  <a:fillRect l="-14706" r="-5882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58296" y="4108818"/>
                <a:ext cx="4160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296" y="4108818"/>
                <a:ext cx="416076" cy="307777"/>
              </a:xfrm>
              <a:prstGeom prst="rect">
                <a:avLst/>
              </a:prstGeom>
              <a:blipFill>
                <a:blip r:embed="rId6"/>
                <a:stretch>
                  <a:fillRect l="-14706" r="-588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48812" y="5173955"/>
                <a:ext cx="44416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812" y="5173955"/>
                <a:ext cx="44416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858296" y="4963432"/>
                <a:ext cx="4160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296" y="4963432"/>
                <a:ext cx="416076" cy="307777"/>
              </a:xfrm>
              <a:prstGeom prst="rect">
                <a:avLst/>
              </a:prstGeom>
              <a:blipFill>
                <a:blip r:embed="rId8"/>
                <a:stretch>
                  <a:fillRect l="-14706" r="-588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858296" y="5353298"/>
                <a:ext cx="4160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296" y="5353298"/>
                <a:ext cx="416076" cy="307777"/>
              </a:xfrm>
              <a:prstGeom prst="rect">
                <a:avLst/>
              </a:prstGeom>
              <a:blipFill>
                <a:blip r:embed="rId9"/>
                <a:stretch>
                  <a:fillRect l="-14706" r="-588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858296" y="5566177"/>
                <a:ext cx="4160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296" y="5566177"/>
                <a:ext cx="416076" cy="307777"/>
              </a:xfrm>
              <a:prstGeom prst="rect">
                <a:avLst/>
              </a:prstGeom>
              <a:blipFill>
                <a:blip r:embed="rId10"/>
                <a:stretch>
                  <a:fillRect l="-14706" r="-588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stCxn id="7" idx="1"/>
            <a:endCxn id="6" idx="3"/>
          </p:cNvCxnSpPr>
          <p:nvPr/>
        </p:nvCxnSpPr>
        <p:spPr>
          <a:xfrm flipH="1">
            <a:off x="1392973" y="2037639"/>
            <a:ext cx="465323" cy="1117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1"/>
            <a:endCxn id="6" idx="3"/>
          </p:cNvCxnSpPr>
          <p:nvPr/>
        </p:nvCxnSpPr>
        <p:spPr>
          <a:xfrm flipH="1">
            <a:off x="1392973" y="2712636"/>
            <a:ext cx="465323" cy="442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1"/>
            <a:endCxn id="6" idx="3"/>
          </p:cNvCxnSpPr>
          <p:nvPr/>
        </p:nvCxnSpPr>
        <p:spPr>
          <a:xfrm flipH="1" flipV="1">
            <a:off x="1392973" y="3155289"/>
            <a:ext cx="465323" cy="1107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1" idx="1"/>
            <a:endCxn id="10" idx="3"/>
          </p:cNvCxnSpPr>
          <p:nvPr/>
        </p:nvCxnSpPr>
        <p:spPr>
          <a:xfrm flipH="1">
            <a:off x="1392973" y="5117321"/>
            <a:ext cx="465323" cy="272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2" idx="1"/>
            <a:endCxn id="10" idx="3"/>
          </p:cNvCxnSpPr>
          <p:nvPr/>
        </p:nvCxnSpPr>
        <p:spPr>
          <a:xfrm flipH="1" flipV="1">
            <a:off x="1392973" y="5389399"/>
            <a:ext cx="465323" cy="117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3" idx="1"/>
            <a:endCxn id="10" idx="3"/>
          </p:cNvCxnSpPr>
          <p:nvPr/>
        </p:nvCxnSpPr>
        <p:spPr>
          <a:xfrm flipH="1" flipV="1">
            <a:off x="1392973" y="5389399"/>
            <a:ext cx="465323" cy="330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92028" y="2556304"/>
            <a:ext cx="2113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Larger sampling </a:t>
            </a:r>
            <a:r>
              <a:rPr lang="en-US" dirty="0"/>
              <a:t>v</a:t>
            </a:r>
            <a:r>
              <a:rPr lang="en-US" dirty="0" smtClean="0"/>
              <a:t>ariability </a:t>
            </a:r>
            <a:r>
              <a:rPr lang="en-US" dirty="0" smtClean="0"/>
              <a:t>in </a:t>
            </a:r>
            <a:r>
              <a:rPr lang="en-US" b="1" u="sng" dirty="0" smtClean="0"/>
              <a:t>Small</a:t>
            </a:r>
            <a:r>
              <a:rPr lang="en-US" dirty="0" smtClean="0"/>
              <a:t> </a:t>
            </a:r>
            <a:r>
              <a:rPr lang="en-US" dirty="0" smtClean="0"/>
              <a:t>samples</a:t>
            </a:r>
            <a:endParaRPr lang="en-US" dirty="0" smtClean="0"/>
          </a:p>
          <a:p>
            <a:r>
              <a:rPr lang="en-US" dirty="0" smtClean="0"/>
              <a:t>(e.g., n = 10)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2617273" y="4788991"/>
            <a:ext cx="2113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Smaller sampling </a:t>
            </a:r>
            <a:r>
              <a:rPr lang="en-US" dirty="0"/>
              <a:t>v</a:t>
            </a:r>
            <a:r>
              <a:rPr lang="en-US" dirty="0" smtClean="0"/>
              <a:t>ariability </a:t>
            </a:r>
            <a:r>
              <a:rPr lang="en-US" dirty="0" smtClean="0"/>
              <a:t>in </a:t>
            </a:r>
            <a:r>
              <a:rPr lang="en-US" b="1" u="sng" dirty="0"/>
              <a:t>l</a:t>
            </a:r>
            <a:r>
              <a:rPr lang="en-US" b="1" u="sng" dirty="0" smtClean="0"/>
              <a:t>arge</a:t>
            </a:r>
            <a:r>
              <a:rPr lang="en-US" dirty="0" smtClean="0"/>
              <a:t> </a:t>
            </a:r>
            <a:r>
              <a:rPr lang="en-US" dirty="0"/>
              <a:t>s</a:t>
            </a:r>
            <a:r>
              <a:rPr lang="en-US" dirty="0" smtClean="0"/>
              <a:t>amples</a:t>
            </a:r>
            <a:endParaRPr lang="en-US" dirty="0" smtClean="0"/>
          </a:p>
          <a:p>
            <a:r>
              <a:rPr lang="en-US" dirty="0" smtClean="0"/>
              <a:t>(e.g., n = 1,000)</a:t>
            </a:r>
            <a:endParaRPr lang="en-US" dirty="0"/>
          </a:p>
        </p:txBody>
      </p:sp>
      <p:sp>
        <p:nvSpPr>
          <p:cNvPr id="34" name="Right Brace 33"/>
          <p:cNvSpPr/>
          <p:nvPr/>
        </p:nvSpPr>
        <p:spPr>
          <a:xfrm>
            <a:off x="2302456" y="2037639"/>
            <a:ext cx="221976" cy="222506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Brace 34"/>
          <p:cNvSpPr/>
          <p:nvPr/>
        </p:nvSpPr>
        <p:spPr>
          <a:xfrm>
            <a:off x="2311585" y="4957982"/>
            <a:ext cx="212847" cy="85579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78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Statistics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As we will discuss, we want to use data from our sample to make inferences about likely values for parameters in the population. </a:t>
                </a:r>
              </a:p>
              <a:p>
                <a:endParaRPr lang="en-US" dirty="0"/>
              </a:p>
              <a:p>
                <a:r>
                  <a:rPr lang="en-US" dirty="0" smtClean="0"/>
                  <a:t>Often this means that we will need to calculate measures of </a:t>
                </a:r>
                <a:r>
                  <a:rPr lang="en-US" i="1" dirty="0" smtClean="0"/>
                  <a:t>central tendency</a:t>
                </a:r>
                <a:r>
                  <a:rPr lang="en-US" dirty="0" smtClean="0"/>
                  <a:t> and measures of </a:t>
                </a:r>
                <a:r>
                  <a:rPr lang="en-US" i="1" dirty="0" smtClean="0"/>
                  <a:t>spread</a:t>
                </a:r>
                <a:r>
                  <a:rPr lang="en-US" dirty="0" smtClean="0"/>
                  <a:t>: </a:t>
                </a:r>
              </a:p>
              <a:p>
                <a:pPr lvl="1"/>
                <a:r>
                  <a:rPr lang="en-US" dirty="0" smtClean="0"/>
                  <a:t>Mean;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b="0" dirty="0" smtClean="0"/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lvl="1"/>
                <a:r>
                  <a:rPr lang="en-US" dirty="0" smtClean="0"/>
                  <a:t>Variance;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877430"/>
              </p:ext>
            </p:extLst>
          </p:nvPr>
        </p:nvGraphicFramePr>
        <p:xfrm>
          <a:off x="7757651" y="3943032"/>
          <a:ext cx="1288026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8026">
                  <a:extLst>
                    <a:ext uri="{9D8B030D-6E8A-4147-A177-3AD203B41FA5}">
                      <a16:colId xmlns:a16="http://schemas.microsoft.com/office/drawing/2014/main" val="711182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73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23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072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539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362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30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763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75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3292</TotalTime>
  <Words>395</Words>
  <Application>Microsoft Office PowerPoint</Application>
  <PresentationFormat>Widescreen</PresentationFormat>
  <Paragraphs>66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A Note on Notation.</vt:lpstr>
      <vt:lpstr>Formal Notation</vt:lpstr>
      <vt:lpstr>Formal Notation</vt:lpstr>
      <vt:lpstr>Parameter Estimates</vt:lpstr>
      <vt:lpstr>Sample Statistics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333</cp:revision>
  <dcterms:created xsi:type="dcterms:W3CDTF">2017-01-28T12:59:49Z</dcterms:created>
  <dcterms:modified xsi:type="dcterms:W3CDTF">2018-12-29T19:06:44Z</dcterms:modified>
</cp:coreProperties>
</file>
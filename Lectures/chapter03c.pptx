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48" r:id="rId1"/>
  </p:sldMasterIdLst>
  <p:notesMasterIdLst>
    <p:notesMasterId r:id="rId8"/>
  </p:notesMasterIdLst>
  <p:sldIdLst>
    <p:sldId id="382" r:id="rId2"/>
    <p:sldId id="383" r:id="rId3"/>
    <p:sldId id="384" r:id="rId4"/>
    <p:sldId id="385" r:id="rId5"/>
    <p:sldId id="386" r:id="rId6"/>
    <p:sldId id="387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FF9797"/>
    <a:srgbClr val="A3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53" autoAdjust="0"/>
    <p:restoredTop sz="84424" autoAdjust="0"/>
  </p:normalViewPr>
  <p:slideViewPr>
    <p:cSldViewPr snapToGrid="0">
      <p:cViewPr varScale="1">
        <p:scale>
          <a:sx n="58" d="100"/>
          <a:sy n="58" d="100"/>
        </p:scale>
        <p:origin x="93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3252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676DDE-75BB-4B04-A0BD-5C17E33DC40E}" type="datetimeFigureOut">
              <a:rPr lang="en-US" smtClean="0"/>
              <a:t>12/29/2018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A7B62B-0753-4BDE-90F4-CDED710DE1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4868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A7B62B-0753-4BDE-90F4-CDED710DE13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4731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5B63A-1390-4120-94EB-00092381E02F}" type="datetime1">
              <a:rPr lang="en-US" smtClean="0"/>
              <a:t>12/29/2018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4654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12/29/2018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7303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6FB65-6EAB-49E5-A1DB-3E80C39C53B8}" type="datetime1">
              <a:rPr lang="en-US" smtClean="0"/>
              <a:t>12/29/2018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023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99224-D20E-45FC-AB47-7036B7429E06}" type="datetime1">
              <a:rPr lang="en-US" smtClean="0"/>
              <a:t>12/29/2018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4358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4B67A-60ED-4797-943A-55D5CD883011}" type="datetime1">
              <a:rPr lang="en-US" smtClean="0"/>
              <a:t>12/29/2018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2288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20365-48B9-4CE9-9604-727AE8FB1773}" type="datetime1">
              <a:rPr lang="en-US" smtClean="0"/>
              <a:t>12/29/2018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258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DC5B5-E9BF-4312-938F-57F5458B9411}" type="datetime1">
              <a:rPr lang="en-US" smtClean="0"/>
              <a:t>12/29/2018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9043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61C03-418D-427D-912F-3A80D46B024B}" type="datetime1">
              <a:rPr lang="en-US" smtClean="0"/>
              <a:t>12/29/2018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4933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C2541-89D1-43A5-9247-9C9B7AE89E66}" type="datetime1">
              <a:rPr lang="en-US" smtClean="0"/>
              <a:t>12/29/2018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4528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A8DF6-2286-4D85-88A8-00AC199A2C34}" type="datetime1">
              <a:rPr lang="en-US" smtClean="0"/>
              <a:t>12/29/2018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9047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E0AFB-8BB9-4422-BB79-0EF175454CED}" type="datetime1">
              <a:rPr lang="en-US" smtClean="0"/>
              <a:t>12/29/2018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7784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117F07-1C55-41A1-B81A-75CAA13E3CFD}" type="datetime1">
              <a:rPr lang="en-US" smtClean="0"/>
              <a:t>12/29/2018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271849" cy="6858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323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C0000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422" y="-12033"/>
            <a:ext cx="11916578" cy="4783484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275421" y="4120308"/>
            <a:ext cx="11914632" cy="273769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7316" y="1027966"/>
            <a:ext cx="11421410" cy="1771839"/>
          </a:xfrm>
          <a:solidFill>
            <a:srgbClr val="FFFFFF">
              <a:alpha val="50196"/>
            </a:srgbClr>
          </a:solidFill>
          <a:ln>
            <a:solidFill>
              <a:schemeClr val="tx1"/>
            </a:solidFill>
          </a:ln>
        </p:spPr>
        <p:txBody>
          <a:bodyPr anchor="ctr">
            <a:normAutofit/>
          </a:bodyPr>
          <a:lstStyle/>
          <a:p>
            <a:r>
              <a:rPr lang="en-US" sz="5400" dirty="0" smtClean="0"/>
              <a:t>Other Assumptions about Errors</a:t>
            </a:r>
            <a:endParaRPr lang="en-US" sz="5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7316" y="4313760"/>
            <a:ext cx="9144000" cy="2302208"/>
          </a:xfrm>
        </p:spPr>
        <p:txBody>
          <a:bodyPr>
            <a:normAutofit/>
          </a:bodyPr>
          <a:lstStyle/>
          <a:p>
            <a:pPr algn="l"/>
            <a:r>
              <a:rPr lang="en-US" b="1" dirty="0"/>
              <a:t>Keith Lohse, PhD</a:t>
            </a:r>
          </a:p>
          <a:p>
            <a:pPr algn="l"/>
            <a:r>
              <a:rPr lang="en-US" sz="2000" dirty="0" smtClean="0">
                <a:solidFill>
                  <a:schemeClr val="bg1">
                    <a:lumMod val="50000"/>
                  </a:schemeClr>
                </a:solidFill>
              </a:rPr>
              <a:t>Assistant Professor</a:t>
            </a:r>
          </a:p>
          <a:p>
            <a:pPr algn="l"/>
            <a:r>
              <a:rPr lang="en-US" sz="2000" dirty="0" smtClean="0">
                <a:solidFill>
                  <a:schemeClr val="bg1">
                    <a:lumMod val="50000"/>
                  </a:schemeClr>
                </a:solidFill>
              </a:rPr>
              <a:t>Department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of Health, Kinesiology, and Recreation</a:t>
            </a:r>
          </a:p>
          <a:p>
            <a:pPr algn="l"/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Department of Physical Therapy and Athletic Training</a:t>
            </a:r>
          </a:p>
          <a:p>
            <a:pPr algn="l"/>
            <a:r>
              <a:rPr lang="en-US" sz="2000" b="1" dirty="0">
                <a:solidFill>
                  <a:schemeClr val="bg1">
                    <a:lumMod val="50000"/>
                  </a:schemeClr>
                </a:solidFill>
              </a:rPr>
              <a:t>University of Utah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1</a:t>
            </a:fld>
            <a:endParaRPr lang="en-US"/>
          </a:p>
        </p:txBody>
      </p:sp>
      <p:sp>
        <p:nvSpPr>
          <p:cNvPr id="7" name="AutoShape 2" descr="Image result for utah college of health log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37336B5-4F30-4282-9AE3-C49F61A3C55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2484" y="5747288"/>
            <a:ext cx="2626242" cy="868680"/>
          </a:xfrm>
          <a:prstGeom prst="rect">
            <a:avLst/>
          </a:prstGeom>
        </p:spPr>
      </p:pic>
      <p:pic>
        <p:nvPicPr>
          <p:cNvPr id="12" name="Picture 2" descr="Image result for email logo png"/>
          <p:cNvPicPr>
            <a:picLocks noChangeAspect="1" noChangeArrowheads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4381" y="4314251"/>
            <a:ext cx="4572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/>
          <p:cNvSpPr txBox="1"/>
          <p:nvPr/>
        </p:nvSpPr>
        <p:spPr>
          <a:xfrm>
            <a:off x="9091581" y="4358185"/>
            <a:ext cx="29600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keith.lohse@health.utah.edu</a:t>
            </a:r>
            <a:endParaRPr lang="en-US" dirty="0"/>
          </a:p>
        </p:txBody>
      </p:sp>
      <p:pic>
        <p:nvPicPr>
          <p:cNvPr id="14" name="Picture 4" descr="Image result for twitter logo png"/>
          <p:cNvPicPr>
            <a:picLocks noChangeAspect="1" noChangeArrowheads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4381" y="4815385"/>
            <a:ext cx="4572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/>
          <p:cNvSpPr txBox="1"/>
          <p:nvPr/>
        </p:nvSpPr>
        <p:spPr>
          <a:xfrm>
            <a:off x="9091581" y="4859319"/>
            <a:ext cx="15253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@</a:t>
            </a:r>
            <a:r>
              <a:rPr lang="en-US" dirty="0" err="1" smtClean="0"/>
              <a:t>keith_lohse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5738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Other assumptions about errors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 our preceding discussions of errors and distributions, we made several implicit assumptions.</a:t>
            </a:r>
          </a:p>
          <a:p>
            <a:endParaRPr lang="en-US" dirty="0"/>
          </a:p>
          <a:p>
            <a:r>
              <a:rPr lang="en-US" dirty="0" smtClean="0"/>
              <a:t>We need to make those assumptions explicit so that we know (1) precisely what those assumptions are and (2) situations in which those assumptions might be violated.  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12/29/2018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146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1. Independence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Independence is the assumption that any given error term is not systematically related to another error term. </a:t>
            </a:r>
          </a:p>
          <a:p>
            <a:pPr lvl="1"/>
            <a:r>
              <a:rPr lang="en-US" dirty="0" smtClean="0"/>
              <a:t>I.e., independence is violated when knowing one error term allows us to make a reasonable guess about another error term. </a:t>
            </a:r>
          </a:p>
          <a:p>
            <a:pPr lvl="1"/>
            <a:r>
              <a:rPr lang="en-US" dirty="0" smtClean="0"/>
              <a:t>An example of this would be </a:t>
            </a:r>
            <a:r>
              <a:rPr lang="en-US" b="1" i="1" u="sng" dirty="0" smtClean="0"/>
              <a:t>time-series</a:t>
            </a:r>
            <a:r>
              <a:rPr lang="en-US" dirty="0" smtClean="0"/>
              <a:t> data. A player’s performance in 2017 is more probably more predictive of their performance in 2018 than their 2009 performance. </a:t>
            </a:r>
          </a:p>
          <a:p>
            <a:pPr lvl="1"/>
            <a:r>
              <a:rPr lang="en-US" dirty="0" smtClean="0"/>
              <a:t>Another example would be </a:t>
            </a:r>
            <a:r>
              <a:rPr lang="en-US" b="1" i="1" u="sng" dirty="0" smtClean="0"/>
              <a:t>clustered</a:t>
            </a:r>
            <a:r>
              <a:rPr lang="en-US" dirty="0" smtClean="0"/>
              <a:t> data. Individuals from the same family are more like each other (usually) than individuals from different families.</a:t>
            </a:r>
          </a:p>
          <a:p>
            <a:pPr lvl="2"/>
            <a:r>
              <a:rPr lang="en-US" dirty="0" smtClean="0"/>
              <a:t>More broadly, these are both examples of </a:t>
            </a:r>
            <a:r>
              <a:rPr lang="en-US" b="1" i="1" u="sng" dirty="0" smtClean="0"/>
              <a:t>nested</a:t>
            </a:r>
            <a:r>
              <a:rPr lang="en-US" dirty="0" smtClean="0"/>
              <a:t> data. In the time-series case there is a natural order to the data, whereas in the clustered case, there is not.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12/29/2018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592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1. Independence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Our assumption of normality is relatively </a:t>
            </a:r>
            <a:r>
              <a:rPr lang="en-US" b="1" i="1" u="sng" dirty="0" smtClean="0"/>
              <a:t>robust</a:t>
            </a:r>
            <a:r>
              <a:rPr lang="en-US" dirty="0" smtClean="0"/>
              <a:t>. That is, as long as the underlying distribution is approximately normal, we will get a similar answer as if we had a truly normal distribution.</a:t>
            </a:r>
          </a:p>
          <a:p>
            <a:endParaRPr lang="en-US" dirty="0"/>
          </a:p>
          <a:p>
            <a:r>
              <a:rPr lang="en-US" b="1" i="1" u="sng" dirty="0" smtClean="0"/>
              <a:t>The independence assumption is not at all robust</a:t>
            </a:r>
            <a:r>
              <a:rPr lang="en-US" dirty="0" smtClean="0"/>
              <a:t>. That is, if we fail to recognize statistical dependence in our data we will get a very different (i.e. very wrong) answer. Thus, we need to properly identify and handle statistical dependence.</a:t>
            </a:r>
          </a:p>
          <a:p>
            <a:pPr lvl="1"/>
            <a:r>
              <a:rPr lang="en-US" dirty="0" smtClean="0"/>
              <a:t>We will discuss how to address statistical dependence in later chapters.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12/29/2018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026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2. Identically </a:t>
            </a:r>
            <a:r>
              <a:rPr lang="en-US" dirty="0" smtClean="0"/>
              <a:t>Distributed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We assume that all errors are sampled from the same distribution. </a:t>
            </a:r>
            <a:endParaRPr lang="en-US" dirty="0"/>
          </a:p>
          <a:p>
            <a:endParaRPr lang="en-US" dirty="0" smtClean="0"/>
          </a:p>
          <a:p>
            <a:r>
              <a:rPr lang="en-US" dirty="0" smtClean="0"/>
              <a:t>For instance, if we randomly sampled two groups from the population, we would assume that these </a:t>
            </a:r>
            <a:r>
              <a:rPr lang="en-US" dirty="0" smtClean="0"/>
              <a:t>groups </a:t>
            </a:r>
            <a:r>
              <a:rPr lang="en-US" dirty="0" smtClean="0"/>
              <a:t>have similar (or </a:t>
            </a:r>
            <a:r>
              <a:rPr lang="en-US" b="1" i="1" u="sng" dirty="0" smtClean="0"/>
              <a:t>homogenous</a:t>
            </a:r>
            <a:r>
              <a:rPr lang="en-US" dirty="0" smtClean="0"/>
              <a:t>) variances. </a:t>
            </a:r>
          </a:p>
          <a:p>
            <a:endParaRPr lang="en-US" dirty="0"/>
          </a:p>
          <a:p>
            <a:r>
              <a:rPr lang="en-US" dirty="0" smtClean="0"/>
              <a:t>Or, if I subjected people to </a:t>
            </a:r>
            <a:r>
              <a:rPr lang="en-US" dirty="0" smtClean="0"/>
              <a:t>different </a:t>
            </a:r>
            <a:r>
              <a:rPr lang="en-US" dirty="0" smtClean="0"/>
              <a:t>treatments (i.e., placebo versus a caffeine supplement) their average level of performance might change, but variability in their performance might increase as well. </a:t>
            </a:r>
          </a:p>
          <a:p>
            <a:endParaRPr lang="en-US" dirty="0"/>
          </a:p>
          <a:p>
            <a:r>
              <a:rPr lang="en-US" dirty="0" smtClean="0"/>
              <a:t>If the independence and identical distribution assumptions are met, then the errors are referred to as </a:t>
            </a:r>
            <a:r>
              <a:rPr lang="en-US" b="1" i="1" u="sng" dirty="0" smtClean="0"/>
              <a:t>IID</a:t>
            </a:r>
            <a:r>
              <a:rPr lang="en-US" dirty="0" smtClean="0"/>
              <a:t> (independent and identically distributed).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12/29/2018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161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3. Errors </a:t>
            </a:r>
            <a:r>
              <a:rPr lang="en-US" dirty="0" smtClean="0"/>
              <a:t>are Unbiased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 smtClean="0"/>
              <a:t>Finally, we make an assumption that the distribution of errors is unbiased (i.e., the mean of all errors is 0). </a:t>
            </a:r>
          </a:p>
          <a:p>
            <a:endParaRPr lang="en-US" dirty="0"/>
          </a:p>
          <a:p>
            <a:r>
              <a:rPr lang="en-US" dirty="0" smtClean="0"/>
              <a:t>This assumption is important because, if the distribution of errors averaged either above or below zero, then some systematic error is being forced into the model (i.e., DATA = MODEL + ERROR).</a:t>
            </a:r>
          </a:p>
          <a:p>
            <a:endParaRPr lang="en-US" dirty="0"/>
          </a:p>
          <a:p>
            <a:r>
              <a:rPr lang="en-US" dirty="0" smtClean="0"/>
              <a:t>Depending on the substantive domain, ensuring that errors are random involves aspects of the experimental design, measurement tools, and ‘</a:t>
            </a:r>
            <a:r>
              <a:rPr lang="en-US" dirty="0" err="1" smtClean="0"/>
              <a:t>missingness</a:t>
            </a:r>
            <a:r>
              <a:rPr lang="en-US" dirty="0" smtClean="0"/>
              <a:t>’.</a:t>
            </a:r>
          </a:p>
          <a:p>
            <a:pPr lvl="1"/>
            <a:r>
              <a:rPr lang="en-US" dirty="0" smtClean="0"/>
              <a:t>We will generally assume that data are missing at random (MAR). In practice this is not always the case and data might be missing not at random (MNAR).</a:t>
            </a:r>
          </a:p>
          <a:p>
            <a:pPr lvl="1"/>
            <a:r>
              <a:rPr lang="en-US" dirty="0" smtClean="0"/>
              <a:t>I.e., in a longitudinal study, data are more likely to be missing from the end of the study than the beginning. 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12/29/2018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051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3703</TotalTime>
  <Words>575</Words>
  <Application>Microsoft Office PowerPoint</Application>
  <PresentationFormat>Widescreen</PresentationFormat>
  <Paragraphs>51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Other Assumptions about Errors</vt:lpstr>
      <vt:lpstr>Other assumptions about errors</vt:lpstr>
      <vt:lpstr>1. Independence</vt:lpstr>
      <vt:lpstr>1. Independence</vt:lpstr>
      <vt:lpstr>2. Identically Distributed</vt:lpstr>
      <vt:lpstr>3. Errors are Unbiased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Measurement in medic</dc:title>
  <dc:creator>Keith Lohse</dc:creator>
  <cp:lastModifiedBy>Keith Lohse</cp:lastModifiedBy>
  <cp:revision>378</cp:revision>
  <dcterms:created xsi:type="dcterms:W3CDTF">2017-01-28T12:59:49Z</dcterms:created>
  <dcterms:modified xsi:type="dcterms:W3CDTF">2018-12-29T19:22:42Z</dcterms:modified>
</cp:coreProperties>
</file>
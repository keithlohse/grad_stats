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82" r:id="rId2"/>
    <p:sldId id="383" r:id="rId3"/>
    <p:sldId id="384" r:id="rId4"/>
    <p:sldId id="385" r:id="rId5"/>
    <p:sldId id="386" r:id="rId6"/>
    <p:sldId id="387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39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3/8/2019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3/8/2019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3/8/2019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3/8/2019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3/8/2019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3/8/2019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3/8/2019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Models with Multiple Categorical Predictors (Factorial ANOVA).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F1D5-1D76-4BE4-85B0-983B9747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“Factorial”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73BD-240F-4DFB-B1AE-109BA5291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fully factorial design, every level of one categorical variable (or factor) is combined with every level of another categorical variable (factor).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2361-F330-4AB0-95AC-09A4ECD8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CC257-4ACF-4808-B739-EA70B832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B35E12-87F6-4F48-A93E-368CF71AC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080962"/>
              </p:ext>
            </p:extLst>
          </p:nvPr>
        </p:nvGraphicFramePr>
        <p:xfrm>
          <a:off x="838200" y="3805766"/>
          <a:ext cx="37822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764">
                  <a:extLst>
                    <a:ext uri="{9D8B030D-6E8A-4147-A177-3AD203B41FA5}">
                      <a16:colId xmlns:a16="http://schemas.microsoft.com/office/drawing/2014/main" val="260039770"/>
                    </a:ext>
                  </a:extLst>
                </a:gridCol>
                <a:gridCol w="1260764">
                  <a:extLst>
                    <a:ext uri="{9D8B030D-6E8A-4147-A177-3AD203B41FA5}">
                      <a16:colId xmlns:a16="http://schemas.microsoft.com/office/drawing/2014/main" val="2371534825"/>
                    </a:ext>
                  </a:extLst>
                </a:gridCol>
                <a:gridCol w="1260764">
                  <a:extLst>
                    <a:ext uri="{9D8B030D-6E8A-4147-A177-3AD203B41FA5}">
                      <a16:colId xmlns:a16="http://schemas.microsoft.com/office/drawing/2014/main" val="1431570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51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A1_B1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A2_B1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A1_B2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A2_B2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579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A1_B3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A2_B3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70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94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F1D5-1D76-4BE4-85B0-983B9747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“Factorial”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873BD-240F-4DFB-B1AE-109BA5291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763"/>
            <a:ext cx="10515600" cy="4351338"/>
          </a:xfrm>
        </p:spPr>
        <p:txBody>
          <a:bodyPr/>
          <a:lstStyle/>
          <a:p>
            <a:r>
              <a:rPr lang="en-US" dirty="0"/>
              <a:t>In a fully factorial design, every level of one categorical variable (or factor) is combined with every level of another categorical variable (factor).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2361-F330-4AB0-95AC-09A4ECD8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CC257-4ACF-4808-B739-EA70B832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B35E12-87F6-4F48-A93E-368CF71AC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132799"/>
              </p:ext>
            </p:extLst>
          </p:nvPr>
        </p:nvGraphicFramePr>
        <p:xfrm>
          <a:off x="838200" y="3805766"/>
          <a:ext cx="37822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764">
                  <a:extLst>
                    <a:ext uri="{9D8B030D-6E8A-4147-A177-3AD203B41FA5}">
                      <a16:colId xmlns:a16="http://schemas.microsoft.com/office/drawing/2014/main" val="260039770"/>
                    </a:ext>
                  </a:extLst>
                </a:gridCol>
                <a:gridCol w="1260764">
                  <a:extLst>
                    <a:ext uri="{9D8B030D-6E8A-4147-A177-3AD203B41FA5}">
                      <a16:colId xmlns:a16="http://schemas.microsoft.com/office/drawing/2014/main" val="2371534825"/>
                    </a:ext>
                  </a:extLst>
                </a:gridCol>
                <a:gridCol w="1260764">
                  <a:extLst>
                    <a:ext uri="{9D8B030D-6E8A-4147-A177-3AD203B41FA5}">
                      <a16:colId xmlns:a16="http://schemas.microsoft.com/office/drawing/2014/main" val="1431570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51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A1_B1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A2_B1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A1_B2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A2_B2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579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B3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A1_B3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A2_B3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7087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C50698-6D03-4356-9394-293C8BCFD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752093"/>
              </p:ext>
            </p:extLst>
          </p:nvPr>
        </p:nvGraphicFramePr>
        <p:xfrm>
          <a:off x="6525488" y="3805766"/>
          <a:ext cx="37822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764">
                  <a:extLst>
                    <a:ext uri="{9D8B030D-6E8A-4147-A177-3AD203B41FA5}">
                      <a16:colId xmlns:a16="http://schemas.microsoft.com/office/drawing/2014/main" val="260039770"/>
                    </a:ext>
                  </a:extLst>
                </a:gridCol>
                <a:gridCol w="1260764">
                  <a:extLst>
                    <a:ext uri="{9D8B030D-6E8A-4147-A177-3AD203B41FA5}">
                      <a16:colId xmlns:a16="http://schemas.microsoft.com/office/drawing/2014/main" val="2371534825"/>
                    </a:ext>
                  </a:extLst>
                </a:gridCol>
                <a:gridCol w="1260764">
                  <a:extLst>
                    <a:ext uri="{9D8B030D-6E8A-4147-A177-3AD203B41FA5}">
                      <a16:colId xmlns:a16="http://schemas.microsoft.com/office/drawing/2014/main" val="1431570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51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19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579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708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A1A811-CA70-4F54-9879-ED862C6EAF12}"/>
              </a:ext>
            </a:extLst>
          </p:cNvPr>
          <p:cNvSpPr txBox="1"/>
          <p:nvPr/>
        </p:nvSpPr>
        <p:spPr>
          <a:xfrm>
            <a:off x="6525488" y="3805766"/>
            <a:ext cx="950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Exercise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76592E-E7A0-475B-800F-D4787B1D75E5}"/>
              </a:ext>
            </a:extLst>
          </p:cNvPr>
          <p:cNvSpPr txBox="1"/>
          <p:nvPr/>
        </p:nvSpPr>
        <p:spPr>
          <a:xfrm>
            <a:off x="7810497" y="3368966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Diet</a:t>
            </a:r>
          </a:p>
        </p:txBody>
      </p:sp>
    </p:spTree>
    <p:extLst>
      <p:ext uri="{BB962C8B-B14F-4D97-AF65-F5344CB8AC3E}">
        <p14:creationId xmlns:p14="http://schemas.microsoft.com/office/powerpoint/2010/main" val="42748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Multiple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F7C-345C-448D-9FE0-145EAA03B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3 (exercise) x 2 (diet) ANOVA design means that we </a:t>
            </a:r>
            <a:r>
              <a:rPr lang="en-US" dirty="0" smtClean="0"/>
              <a:t>effectively </a:t>
            </a:r>
            <a:r>
              <a:rPr lang="en-US" dirty="0"/>
              <a:t>have six groups. </a:t>
            </a:r>
          </a:p>
          <a:p>
            <a:pPr lvl="1"/>
            <a:r>
              <a:rPr lang="en-US" dirty="0"/>
              <a:t>If we treated this as a one-way ANOVA, we would need 5 different codes: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116649"/>
              </p:ext>
            </p:extLst>
          </p:nvPr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06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Multiple 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this “works” because we have contrasts (the sum of each row is 0) and they are orthogonal (the sum all pairs of cross-products is zero):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b="0" i="1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−1(−1)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+0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+0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/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31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Multiple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F7C-345C-448D-9FE0-145EAA03B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a one-way ANOVA (treating all 6 groups as a single categorical factor) ignores families of related effects.</a:t>
            </a:r>
          </a:p>
          <a:p>
            <a:pPr lvl="1"/>
            <a:r>
              <a:rPr lang="en-US" dirty="0"/>
              <a:t>Is there an effect of diet, on average?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/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72333D-5F97-4D8D-958A-E3BF64ED30B3}"/>
              </a:ext>
            </a:extLst>
          </p:cNvPr>
          <p:cNvSpPr/>
          <p:nvPr/>
        </p:nvSpPr>
        <p:spPr>
          <a:xfrm>
            <a:off x="2431473" y="4086860"/>
            <a:ext cx="4488872" cy="2225040"/>
          </a:xfrm>
          <a:prstGeom prst="roundRect">
            <a:avLst>
              <a:gd name="adj" fmla="val 6860"/>
            </a:avLst>
          </a:prstGeom>
          <a:solidFill>
            <a:srgbClr val="FFFF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E609B2-C6D0-49D2-AB41-EA02E3426594}"/>
              </a:ext>
            </a:extLst>
          </p:cNvPr>
          <p:cNvSpPr/>
          <p:nvPr/>
        </p:nvSpPr>
        <p:spPr>
          <a:xfrm>
            <a:off x="6941133" y="4080511"/>
            <a:ext cx="4488872" cy="2225040"/>
          </a:xfrm>
          <a:prstGeom prst="roundRect">
            <a:avLst>
              <a:gd name="adj" fmla="val 6860"/>
            </a:avLst>
          </a:prstGeom>
          <a:solidFill>
            <a:srgbClr val="7030A0">
              <a:alpha val="40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3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Multiple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F7C-345C-448D-9FE0-145EAA03B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a one-way ANOVA (treating all 6 groups as a single categorical factor) ignores families of related effects.</a:t>
            </a:r>
          </a:p>
          <a:p>
            <a:pPr lvl="1"/>
            <a:r>
              <a:rPr lang="en-US" dirty="0"/>
              <a:t>Is there an effect of diet, on average?</a:t>
            </a:r>
          </a:p>
          <a:p>
            <a:pPr lvl="1"/>
            <a:r>
              <a:rPr lang="en-US" dirty="0"/>
              <a:t>Is there an effect of exercise, on average?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/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72333D-5F97-4D8D-958A-E3BF64ED30B3}"/>
              </a:ext>
            </a:extLst>
          </p:cNvPr>
          <p:cNvSpPr/>
          <p:nvPr/>
        </p:nvSpPr>
        <p:spPr>
          <a:xfrm>
            <a:off x="2431473" y="4086860"/>
            <a:ext cx="1485900" cy="2225040"/>
          </a:xfrm>
          <a:prstGeom prst="roundRect">
            <a:avLst>
              <a:gd name="adj" fmla="val 6860"/>
            </a:avLst>
          </a:prstGeom>
          <a:solidFill>
            <a:srgbClr val="FFFF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E609B2-C6D0-49D2-AB41-EA02E3426594}"/>
              </a:ext>
            </a:extLst>
          </p:cNvPr>
          <p:cNvSpPr/>
          <p:nvPr/>
        </p:nvSpPr>
        <p:spPr>
          <a:xfrm>
            <a:off x="3945084" y="4086860"/>
            <a:ext cx="1472043" cy="2225040"/>
          </a:xfrm>
          <a:prstGeom prst="roundRect">
            <a:avLst>
              <a:gd name="adj" fmla="val 6860"/>
            </a:avLst>
          </a:prstGeom>
          <a:solidFill>
            <a:srgbClr val="7030A0">
              <a:alpha val="40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B93F09-C185-49DD-9153-8D5C76EFA183}"/>
              </a:ext>
            </a:extLst>
          </p:cNvPr>
          <p:cNvSpPr/>
          <p:nvPr/>
        </p:nvSpPr>
        <p:spPr>
          <a:xfrm>
            <a:off x="5444838" y="4086860"/>
            <a:ext cx="1472043" cy="2225040"/>
          </a:xfrm>
          <a:prstGeom prst="roundRect">
            <a:avLst>
              <a:gd name="adj" fmla="val 6860"/>
            </a:avLst>
          </a:prstGeom>
          <a:solidFill>
            <a:schemeClr val="accent6"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1FF117-6C80-4EC5-A565-3643F79E903E}"/>
              </a:ext>
            </a:extLst>
          </p:cNvPr>
          <p:cNvSpPr/>
          <p:nvPr/>
        </p:nvSpPr>
        <p:spPr>
          <a:xfrm>
            <a:off x="6939397" y="4086860"/>
            <a:ext cx="1485900" cy="2225040"/>
          </a:xfrm>
          <a:prstGeom prst="roundRect">
            <a:avLst>
              <a:gd name="adj" fmla="val 6860"/>
            </a:avLst>
          </a:prstGeom>
          <a:solidFill>
            <a:srgbClr val="FFFF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7440F4-374C-48D2-B064-88663F04D89A}"/>
              </a:ext>
            </a:extLst>
          </p:cNvPr>
          <p:cNvSpPr/>
          <p:nvPr/>
        </p:nvSpPr>
        <p:spPr>
          <a:xfrm>
            <a:off x="8453008" y="4086860"/>
            <a:ext cx="1472043" cy="2225040"/>
          </a:xfrm>
          <a:prstGeom prst="roundRect">
            <a:avLst>
              <a:gd name="adj" fmla="val 6860"/>
            </a:avLst>
          </a:prstGeom>
          <a:solidFill>
            <a:srgbClr val="7030A0">
              <a:alpha val="40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3FF741-4FA3-4EB5-9F8B-A34F5615FBC1}"/>
              </a:ext>
            </a:extLst>
          </p:cNvPr>
          <p:cNvSpPr/>
          <p:nvPr/>
        </p:nvSpPr>
        <p:spPr>
          <a:xfrm>
            <a:off x="9952762" y="4086860"/>
            <a:ext cx="1472043" cy="2225040"/>
          </a:xfrm>
          <a:prstGeom prst="roundRect">
            <a:avLst>
              <a:gd name="adj" fmla="val 6860"/>
            </a:avLst>
          </a:prstGeom>
          <a:solidFill>
            <a:schemeClr val="accent6"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Multiple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F7C-345C-448D-9FE0-145EAA03B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However, a one-way ANOVA (treating all 6 groups as a single categorical factor) ignores </a:t>
            </a:r>
            <a:r>
              <a:rPr lang="en-US" b="1" u="sng" dirty="0"/>
              <a:t>families</a:t>
            </a:r>
            <a:r>
              <a:rPr lang="en-US" dirty="0"/>
              <a:t> of related effects.</a:t>
            </a:r>
          </a:p>
          <a:p>
            <a:pPr lvl="1"/>
            <a:r>
              <a:rPr lang="en-US" dirty="0"/>
              <a:t>Is there an effect of diet, on average?</a:t>
            </a:r>
          </a:p>
          <a:p>
            <a:pPr lvl="1"/>
            <a:r>
              <a:rPr lang="en-US" dirty="0"/>
              <a:t>Is there an effect of exercise, on average?</a:t>
            </a:r>
          </a:p>
          <a:p>
            <a:pPr lvl="1"/>
            <a:r>
              <a:rPr lang="en-US" dirty="0"/>
              <a:t>Does the effect of diet depend on exercise?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/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72333D-5F97-4D8D-958A-E3BF64ED30B3}"/>
              </a:ext>
            </a:extLst>
          </p:cNvPr>
          <p:cNvSpPr/>
          <p:nvPr/>
        </p:nvSpPr>
        <p:spPr>
          <a:xfrm>
            <a:off x="2431473" y="4086860"/>
            <a:ext cx="1485900" cy="2225040"/>
          </a:xfrm>
          <a:prstGeom prst="roundRect">
            <a:avLst>
              <a:gd name="adj" fmla="val 6860"/>
            </a:avLst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E609B2-C6D0-49D2-AB41-EA02E3426594}"/>
              </a:ext>
            </a:extLst>
          </p:cNvPr>
          <p:cNvSpPr/>
          <p:nvPr/>
        </p:nvSpPr>
        <p:spPr>
          <a:xfrm>
            <a:off x="3945084" y="4086860"/>
            <a:ext cx="1472043" cy="2225040"/>
          </a:xfrm>
          <a:prstGeom prst="roundRect">
            <a:avLst>
              <a:gd name="adj" fmla="val 6860"/>
            </a:avLst>
          </a:prstGeom>
          <a:solidFill>
            <a:schemeClr val="accent2">
              <a:lumMod val="60000"/>
              <a:lumOff val="40000"/>
              <a:alpha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B93F09-C185-49DD-9153-8D5C76EFA183}"/>
              </a:ext>
            </a:extLst>
          </p:cNvPr>
          <p:cNvSpPr/>
          <p:nvPr/>
        </p:nvSpPr>
        <p:spPr>
          <a:xfrm>
            <a:off x="5444838" y="4086860"/>
            <a:ext cx="1472043" cy="2225040"/>
          </a:xfrm>
          <a:prstGeom prst="roundRect">
            <a:avLst>
              <a:gd name="adj" fmla="val 6860"/>
            </a:avLst>
          </a:prstGeom>
          <a:solidFill>
            <a:schemeClr val="accent2">
              <a:lumMod val="75000"/>
              <a:alpha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1FF117-6C80-4EC5-A565-3643F79E903E}"/>
              </a:ext>
            </a:extLst>
          </p:cNvPr>
          <p:cNvSpPr/>
          <p:nvPr/>
        </p:nvSpPr>
        <p:spPr>
          <a:xfrm>
            <a:off x="6939397" y="4086860"/>
            <a:ext cx="1485900" cy="2225040"/>
          </a:xfrm>
          <a:prstGeom prst="roundRect">
            <a:avLst>
              <a:gd name="adj" fmla="val 6860"/>
            </a:avLst>
          </a:prstGeom>
          <a:solidFill>
            <a:schemeClr val="accent6">
              <a:lumMod val="20000"/>
              <a:lumOff val="8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7440F4-374C-48D2-B064-88663F04D89A}"/>
              </a:ext>
            </a:extLst>
          </p:cNvPr>
          <p:cNvSpPr/>
          <p:nvPr/>
        </p:nvSpPr>
        <p:spPr>
          <a:xfrm>
            <a:off x="8453008" y="4086860"/>
            <a:ext cx="1472043" cy="2225040"/>
          </a:xfrm>
          <a:prstGeom prst="roundRect">
            <a:avLst>
              <a:gd name="adj" fmla="val 6860"/>
            </a:avLst>
          </a:prstGeom>
          <a:solidFill>
            <a:schemeClr val="accent6">
              <a:lumMod val="60000"/>
              <a:lumOff val="40000"/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3FF741-4FA3-4EB5-9F8B-A34F5615FBC1}"/>
              </a:ext>
            </a:extLst>
          </p:cNvPr>
          <p:cNvSpPr/>
          <p:nvPr/>
        </p:nvSpPr>
        <p:spPr>
          <a:xfrm>
            <a:off x="9952762" y="4086860"/>
            <a:ext cx="1472043" cy="2225040"/>
          </a:xfrm>
          <a:prstGeom prst="roundRect">
            <a:avLst>
              <a:gd name="adj" fmla="val 6860"/>
            </a:avLst>
          </a:prstGeom>
          <a:solidFill>
            <a:schemeClr val="accent6">
              <a:alpha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6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Multiple 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theory, we could answer all of these questions through specific paired comparisons following the Omnibus F-test.</a:t>
                </a:r>
              </a:p>
              <a:p>
                <a:pPr lvl="1"/>
                <a:r>
                  <a:rPr lang="en-US" dirty="0"/>
                  <a:t>However, exhaustively comparing all of these groups would require </a:t>
                </a:r>
                <a:r>
                  <a:rPr lang="en-US" b="1" u="sng" dirty="0"/>
                  <a:t>21</a:t>
                </a:r>
                <a:r>
                  <a:rPr lang="en-US" dirty="0"/>
                  <a:t> different comparisons!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=0.05∗21=1.05</m:t>
                    </m:r>
                  </m:oMath>
                </a14:m>
                <a:r>
                  <a:rPr lang="en-US" dirty="0"/>
                  <a:t>, a false positive is not just likely, its expected!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/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88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Set of Contrasts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F7C-345C-448D-9FE0-145EAA03B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Instead, we can use our contrasts more intelligently to create families of related tests.</a:t>
            </a:r>
          </a:p>
          <a:p>
            <a:pPr lvl="1"/>
            <a:r>
              <a:rPr lang="en-US" dirty="0"/>
              <a:t>Individual contrasts will answer our hypotheses more directly and the false positive rate for a given family of tests will be lower!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893720"/>
              </p:ext>
            </p:extLst>
          </p:nvPr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66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Set of Contrasts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The Main-Effect of Diet: </a:t>
                </a:r>
              </a:p>
              <a:p>
                <a:pPr lvl="1"/>
                <a:r>
                  <a:rPr lang="en-US" dirty="0"/>
                  <a:t>With only two levels, the </a:t>
                </a:r>
                <a:r>
                  <a:rPr lang="en-US" b="1" u="sng" dirty="0"/>
                  <a:t>main-effect</a:t>
                </a:r>
                <a:r>
                  <a:rPr lang="en-US" dirty="0"/>
                  <a:t> of diet is the easiest to establish. </a:t>
                </a:r>
              </a:p>
              <a:p>
                <a:pPr lvl="1"/>
                <a:r>
                  <a:rPr lang="en-US" dirty="0"/>
                  <a:t>Codes needed: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−1=2−1=1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=(−1,1)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079613"/>
              </p:ext>
            </p:extLst>
          </p:nvPr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099B35-CE93-42E3-A80A-C4B7B36A6FE2}"/>
              </a:ext>
            </a:extLst>
          </p:cNvPr>
          <p:cNvSpPr/>
          <p:nvPr/>
        </p:nvSpPr>
        <p:spPr>
          <a:xfrm>
            <a:off x="2431473" y="4416136"/>
            <a:ext cx="9015846" cy="405246"/>
          </a:xfrm>
          <a:prstGeom prst="roundRect">
            <a:avLst>
              <a:gd name="adj" fmla="val 6860"/>
            </a:avLst>
          </a:prstGeom>
          <a:solidFill>
            <a:srgbClr val="FFFF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1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Set of Contrasts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The Main-Effect of Exercise: </a:t>
                </a:r>
              </a:p>
              <a:p>
                <a:pPr lvl="1"/>
                <a:r>
                  <a:rPr lang="en-US" dirty="0"/>
                  <a:t>With three levels, the </a:t>
                </a:r>
                <a:r>
                  <a:rPr lang="en-US" b="1" u="sng" dirty="0"/>
                  <a:t>main-effect</a:t>
                </a:r>
                <a:r>
                  <a:rPr lang="en-US" dirty="0"/>
                  <a:t> of exercise is trickier, but contrasts can be constructed identically to the one-way ANOVA contrast we have used before.  </a:t>
                </a:r>
              </a:p>
              <a:p>
                <a:pPr lvl="1"/>
                <a:r>
                  <a:rPr lang="en-US" dirty="0"/>
                  <a:t>Codes needed: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−1=3−1=2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=(−1,0,1)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=(−1,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465723"/>
              </p:ext>
            </p:extLst>
          </p:nvPr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099B35-CE93-42E3-A80A-C4B7B36A6FE2}"/>
              </a:ext>
            </a:extLst>
          </p:cNvPr>
          <p:cNvSpPr/>
          <p:nvPr/>
        </p:nvSpPr>
        <p:spPr>
          <a:xfrm>
            <a:off x="2431473" y="4794133"/>
            <a:ext cx="9015846" cy="775393"/>
          </a:xfrm>
          <a:prstGeom prst="roundRect">
            <a:avLst>
              <a:gd name="adj" fmla="val 6860"/>
            </a:avLst>
          </a:prstGeom>
          <a:solidFill>
            <a:srgbClr val="FFFF00">
              <a:alpha val="4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40E68-DA5F-4DB8-AEDC-17BE5447A7F0}"/>
              </a:ext>
            </a:extLst>
          </p:cNvPr>
          <p:cNvSpPr txBox="1"/>
          <p:nvPr/>
        </p:nvSpPr>
        <p:spPr>
          <a:xfrm rot="16200000">
            <a:off x="-580185" y="5051483"/>
            <a:ext cx="2373920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Together = Main Effect!</a:t>
            </a:r>
          </a:p>
        </p:txBody>
      </p:sp>
    </p:spTree>
    <p:extLst>
      <p:ext uri="{BB962C8B-B14F-4D97-AF65-F5344CB8AC3E}">
        <p14:creationId xmlns:p14="http://schemas.microsoft.com/office/powerpoint/2010/main" val="141263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Set of Contrasts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The Interaction of Diet and Exercise: </a:t>
                </a:r>
              </a:p>
              <a:p>
                <a:pPr lvl="1"/>
                <a:r>
                  <a:rPr lang="en-US" dirty="0"/>
                  <a:t>To test the </a:t>
                </a:r>
                <a:r>
                  <a:rPr lang="en-US" b="1" u="sng" dirty="0"/>
                  <a:t>interaction</a:t>
                </a:r>
                <a:r>
                  <a:rPr lang="en-US" dirty="0"/>
                  <a:t> we would multiply the interacting variables together the same way we did in continuous regression. </a:t>
                </a:r>
              </a:p>
              <a:p>
                <a:pPr lvl="1"/>
                <a:r>
                  <a:rPr lang="en-US" dirty="0"/>
                  <a:t>Codes needed: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−1=3−1=2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λ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069527"/>
              </p:ext>
            </p:extLst>
          </p:nvPr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099B35-CE93-42E3-A80A-C4B7B36A6FE2}"/>
              </a:ext>
            </a:extLst>
          </p:cNvPr>
          <p:cNvSpPr/>
          <p:nvPr/>
        </p:nvSpPr>
        <p:spPr>
          <a:xfrm>
            <a:off x="2384715" y="5558732"/>
            <a:ext cx="4552948" cy="395259"/>
          </a:xfrm>
          <a:prstGeom prst="roundRect">
            <a:avLst>
              <a:gd name="adj" fmla="val 6860"/>
            </a:avLst>
          </a:prstGeom>
          <a:solidFill>
            <a:schemeClr val="accent2">
              <a:alpha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40E68-DA5F-4DB8-AEDC-17BE5447A7F0}"/>
              </a:ext>
            </a:extLst>
          </p:cNvPr>
          <p:cNvSpPr txBox="1"/>
          <p:nvPr/>
        </p:nvSpPr>
        <p:spPr>
          <a:xfrm rot="16200000">
            <a:off x="-560691" y="5051483"/>
            <a:ext cx="2334935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Together = Interaction!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36C6A2-6E7B-4ACB-8BA4-6DD856E750ED}"/>
              </a:ext>
            </a:extLst>
          </p:cNvPr>
          <p:cNvSpPr/>
          <p:nvPr/>
        </p:nvSpPr>
        <p:spPr>
          <a:xfrm>
            <a:off x="6937666" y="5558732"/>
            <a:ext cx="4509653" cy="395259"/>
          </a:xfrm>
          <a:prstGeom prst="roundRect">
            <a:avLst>
              <a:gd name="adj" fmla="val 6860"/>
            </a:avLst>
          </a:prstGeom>
          <a:solidFill>
            <a:srgbClr val="FF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D150F69-EED0-4F68-A633-3464E007BA16}"/>
              </a:ext>
            </a:extLst>
          </p:cNvPr>
          <p:cNvSpPr/>
          <p:nvPr/>
        </p:nvSpPr>
        <p:spPr>
          <a:xfrm>
            <a:off x="2384715" y="5935316"/>
            <a:ext cx="4552948" cy="395259"/>
          </a:xfrm>
          <a:prstGeom prst="roundRect">
            <a:avLst>
              <a:gd name="adj" fmla="val 6860"/>
            </a:avLst>
          </a:prstGeom>
          <a:solidFill>
            <a:schemeClr val="accent2">
              <a:alpha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F95E5A-FA34-40E6-8099-FDD05F71F887}"/>
              </a:ext>
            </a:extLst>
          </p:cNvPr>
          <p:cNvSpPr/>
          <p:nvPr/>
        </p:nvSpPr>
        <p:spPr>
          <a:xfrm>
            <a:off x="6937666" y="5935316"/>
            <a:ext cx="4509653" cy="395259"/>
          </a:xfrm>
          <a:prstGeom prst="roundRect">
            <a:avLst>
              <a:gd name="adj" fmla="val 6860"/>
            </a:avLst>
          </a:prstGeom>
          <a:solidFill>
            <a:srgbClr val="FF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4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Set of Contrasts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u="sng" dirty="0"/>
                  <a:t>Orthogonal Contrast Codes for a fully Factorial Design: </a:t>
                </a:r>
              </a:p>
              <a:p>
                <a:pPr lvl="1"/>
                <a:r>
                  <a:rPr lang="en-US" dirty="0"/>
                  <a:t>Note that these codes are contrasts (because each row sums to zero) and they are orthogonal (i.e., uncorrelated) because the sum of the cross-products is zero.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+0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+1(−1)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+0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+1(−1)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+0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+0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+1(−1)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86F7C-345C-448D-9FE0-145EAA03BC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145923-C076-4F60-AC0C-64E43BF64AC4}"/>
              </a:ext>
            </a:extLst>
          </p:cNvPr>
          <p:cNvGraphicFramePr>
            <a:graphicFrameLocks noGrp="1"/>
          </p:cNvGraphicFramePr>
          <p:nvPr/>
        </p:nvGraphicFramePr>
        <p:xfrm>
          <a:off x="931719" y="4086860"/>
          <a:ext cx="1051560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5828247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0299613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4547436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143039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941698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9288207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870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High_Cont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Low_Carb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Med_Carb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High_Carb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15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38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01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68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/>
                        <a:t>λ</a:t>
                      </a: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6910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Omnibus Tests versus Specific Contrasts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F7C-345C-448D-9FE0-145EAA03B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9920"/>
          </a:xfrm>
        </p:spPr>
        <p:txBody>
          <a:bodyPr/>
          <a:lstStyle/>
          <a:p>
            <a:r>
              <a:rPr lang="en-US" b="1" u="sng" dirty="0"/>
              <a:t>Omnibus F for the full model: </a:t>
            </a:r>
            <a:r>
              <a:rPr lang="en-US" dirty="0"/>
              <a:t>How much variance in the dependent variable was explained by all of our predictors as a set.</a:t>
            </a:r>
            <a:endParaRPr lang="en-US" b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85EC10-5B68-4E69-B215-07BA8BD11105}"/>
                  </a:ext>
                </a:extLst>
              </p:cNvPr>
              <p:cNvSpPr txBox="1"/>
              <p:nvPr/>
            </p:nvSpPr>
            <p:spPr>
              <a:xfrm>
                <a:off x="838200" y="3096758"/>
                <a:ext cx="9806211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85EC10-5B68-4E69-B215-07BA8BD11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96758"/>
                <a:ext cx="9806211" cy="369332"/>
              </a:xfrm>
              <a:prstGeom prst="rect">
                <a:avLst/>
              </a:prstGeom>
              <a:blipFill>
                <a:blip r:embed="rId2"/>
                <a:stretch>
                  <a:fillRect b="-3015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1E6F2-6731-4E45-8830-114B78B7B43D}"/>
                  </a:ext>
                </a:extLst>
              </p:cNvPr>
              <p:cNvSpPr txBox="1"/>
              <p:nvPr/>
            </p:nvSpPr>
            <p:spPr>
              <a:xfrm>
                <a:off x="838199" y="3881343"/>
                <a:ext cx="8998745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1E6F2-6731-4E45-8830-114B78B7B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881343"/>
                <a:ext cx="8998745" cy="369332"/>
              </a:xfrm>
              <a:prstGeom prst="rect">
                <a:avLst/>
              </a:prstGeom>
              <a:blipFill>
                <a:blip r:embed="rId3"/>
                <a:stretch>
                  <a:fillRect l="-203" b="-322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78BDFA-EB0F-4C40-AD9C-C3D55A613ACF}"/>
                  </a:ext>
                </a:extLst>
              </p:cNvPr>
              <p:cNvSpPr txBox="1"/>
              <p:nvPr/>
            </p:nvSpPr>
            <p:spPr>
              <a:xfrm>
                <a:off x="1752599" y="4470078"/>
                <a:ext cx="2975173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078BDFA-EB0F-4C40-AD9C-C3D55A613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599" y="4470078"/>
                <a:ext cx="2975173" cy="369332"/>
              </a:xfrm>
              <a:prstGeom prst="rect">
                <a:avLst/>
              </a:prstGeom>
              <a:blipFill>
                <a:blip r:embed="rId4"/>
                <a:stretch>
                  <a:fillRect l="-1629" b="-317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2E43FCA-7D84-4131-9974-407403520FC6}"/>
              </a:ext>
            </a:extLst>
          </p:cNvPr>
          <p:cNvSpPr txBox="1"/>
          <p:nvPr/>
        </p:nvSpPr>
        <p:spPr>
          <a:xfrm>
            <a:off x="838199" y="4459687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Or…</a:t>
            </a:r>
          </a:p>
        </p:txBody>
      </p:sp>
    </p:spTree>
    <p:extLst>
      <p:ext uri="{BB962C8B-B14F-4D97-AF65-F5344CB8AC3E}">
        <p14:creationId xmlns:p14="http://schemas.microsoft.com/office/powerpoint/2010/main" val="1713919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Omnibus Tests versus Specific Contrasts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F7C-345C-448D-9FE0-145EAA03B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40466"/>
          </a:xfrm>
        </p:spPr>
        <p:txBody>
          <a:bodyPr>
            <a:normAutofit/>
          </a:bodyPr>
          <a:lstStyle/>
          <a:p>
            <a:r>
              <a:rPr lang="en-US" b="1" u="sng" dirty="0"/>
              <a:t>Omnibus F for the Main-Effect of Diet:</a:t>
            </a:r>
            <a:r>
              <a:rPr lang="en-US" b="1" dirty="0"/>
              <a:t> </a:t>
            </a:r>
            <a:r>
              <a:rPr lang="en-US" dirty="0"/>
              <a:t>On average, was there an effect of diet?</a:t>
            </a:r>
          </a:p>
          <a:p>
            <a:pPr lvl="1"/>
            <a:r>
              <a:rPr lang="en-US" dirty="0"/>
              <a:t>Note that because Diet only had two levels (i.e., one contrast) the Omnibus F for this test is equivalent to testing the individual contrast.</a:t>
            </a:r>
          </a:p>
          <a:p>
            <a:pPr lvl="1"/>
            <a:endParaRPr lang="en-US" b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85EC10-5B68-4E69-B215-07BA8BD11105}"/>
                  </a:ext>
                </a:extLst>
              </p:cNvPr>
              <p:cNvSpPr txBox="1"/>
              <p:nvPr/>
            </p:nvSpPr>
            <p:spPr>
              <a:xfrm>
                <a:off x="1192894" y="3601026"/>
                <a:ext cx="9806211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85EC10-5B68-4E69-B215-07BA8BD11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94" y="3601026"/>
                <a:ext cx="9806211" cy="369332"/>
              </a:xfrm>
              <a:prstGeom prst="rect">
                <a:avLst/>
              </a:prstGeom>
              <a:blipFill>
                <a:blip r:embed="rId2"/>
                <a:stretch>
                  <a:fillRect b="-322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1E6F2-6731-4E45-8830-114B78B7B43D}"/>
                  </a:ext>
                </a:extLst>
              </p:cNvPr>
              <p:cNvSpPr txBox="1"/>
              <p:nvPr/>
            </p:nvSpPr>
            <p:spPr>
              <a:xfrm>
                <a:off x="1192893" y="4385611"/>
                <a:ext cx="9806210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1E6F2-6731-4E45-8830-114B78B7B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93" y="4385611"/>
                <a:ext cx="9806210" cy="369332"/>
              </a:xfrm>
              <a:prstGeom prst="rect">
                <a:avLst/>
              </a:prstGeom>
              <a:blipFill>
                <a:blip r:embed="rId3"/>
                <a:stretch>
                  <a:fillRect b="-317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982639-91FC-4E12-A810-EE1CDB95724B}"/>
                  </a:ext>
                </a:extLst>
              </p:cNvPr>
              <p:cNvSpPr txBox="1"/>
              <p:nvPr/>
            </p:nvSpPr>
            <p:spPr>
              <a:xfrm>
                <a:off x="1192892" y="4848075"/>
                <a:ext cx="9806211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982639-91FC-4E12-A810-EE1CDB957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92" y="4848075"/>
                <a:ext cx="9806211" cy="369332"/>
              </a:xfrm>
              <a:prstGeom prst="rect">
                <a:avLst/>
              </a:prstGeom>
              <a:blipFill>
                <a:blip r:embed="rId4"/>
                <a:stretch>
                  <a:fillRect b="-317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E372CC9-AFCF-4447-8249-F000576EAAD6}"/>
              </a:ext>
            </a:extLst>
          </p:cNvPr>
          <p:cNvSpPr/>
          <p:nvPr/>
        </p:nvSpPr>
        <p:spPr>
          <a:xfrm>
            <a:off x="3678382" y="4895143"/>
            <a:ext cx="1248311" cy="3222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8617DF-076D-4D29-B6A1-7254B243499B}"/>
              </a:ext>
            </a:extLst>
          </p:cNvPr>
          <p:cNvSpPr txBox="1"/>
          <p:nvPr/>
        </p:nvSpPr>
        <p:spPr>
          <a:xfrm>
            <a:off x="483776" y="483666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Or…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A34E35-FA0A-4422-820C-9BAF20634210}"/>
              </a:ext>
            </a:extLst>
          </p:cNvPr>
          <p:cNvSpPr txBox="1">
            <a:spLocks/>
          </p:cNvSpPr>
          <p:nvPr/>
        </p:nvSpPr>
        <p:spPr>
          <a:xfrm>
            <a:off x="838197" y="5632660"/>
            <a:ext cx="10515600" cy="6330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Thus, the numerator degrees of freedom (df1) for this test would be </a:t>
            </a:r>
            <a:r>
              <a:rPr lang="en-US" b="1" u="sng" dirty="0" smtClean="0"/>
              <a:t>1</a:t>
            </a:r>
            <a:r>
              <a:rPr lang="en-US" dirty="0" smtClean="0"/>
              <a:t>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29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Omnibus Tests versus Specific Contrasts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F7C-345C-448D-9FE0-145EAA03B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40466"/>
          </a:xfrm>
        </p:spPr>
        <p:txBody>
          <a:bodyPr>
            <a:normAutofit/>
          </a:bodyPr>
          <a:lstStyle/>
          <a:p>
            <a:r>
              <a:rPr lang="en-US" b="1" u="sng" dirty="0"/>
              <a:t>Omnibus F for the Main-Effect of Exercise:</a:t>
            </a:r>
            <a:r>
              <a:rPr lang="en-US" b="1" dirty="0"/>
              <a:t> </a:t>
            </a:r>
            <a:r>
              <a:rPr lang="en-US" dirty="0"/>
              <a:t>On average, was there an effect of exercise?</a:t>
            </a:r>
          </a:p>
          <a:p>
            <a:pPr lvl="1"/>
            <a:r>
              <a:rPr lang="en-US" dirty="0"/>
              <a:t>Note that because exercise had three levels the Omnibus F for this test requires removing two contrasts. </a:t>
            </a:r>
            <a:endParaRPr lang="en-US" b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85EC10-5B68-4E69-B215-07BA8BD11105}"/>
                  </a:ext>
                </a:extLst>
              </p:cNvPr>
              <p:cNvSpPr txBox="1"/>
              <p:nvPr/>
            </p:nvSpPr>
            <p:spPr>
              <a:xfrm>
                <a:off x="1192894" y="3601026"/>
                <a:ext cx="9806211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85EC10-5B68-4E69-B215-07BA8BD11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94" y="3601026"/>
                <a:ext cx="9806211" cy="369332"/>
              </a:xfrm>
              <a:prstGeom prst="rect">
                <a:avLst/>
              </a:prstGeom>
              <a:blipFill>
                <a:blip r:embed="rId2"/>
                <a:stretch>
                  <a:fillRect b="-322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1E6F2-6731-4E45-8830-114B78B7B43D}"/>
                  </a:ext>
                </a:extLst>
              </p:cNvPr>
              <p:cNvSpPr txBox="1"/>
              <p:nvPr/>
            </p:nvSpPr>
            <p:spPr>
              <a:xfrm>
                <a:off x="1192893" y="4385611"/>
                <a:ext cx="9806210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1E6F2-6731-4E45-8830-114B78B7B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93" y="4385611"/>
                <a:ext cx="9806210" cy="369332"/>
              </a:xfrm>
              <a:prstGeom prst="rect">
                <a:avLst/>
              </a:prstGeom>
              <a:blipFill>
                <a:blip r:embed="rId3"/>
                <a:stretch>
                  <a:fillRect b="-317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982639-91FC-4E12-A810-EE1CDB95724B}"/>
                  </a:ext>
                </a:extLst>
              </p:cNvPr>
              <p:cNvSpPr txBox="1"/>
              <p:nvPr/>
            </p:nvSpPr>
            <p:spPr>
              <a:xfrm>
                <a:off x="1192892" y="4848075"/>
                <a:ext cx="9806211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982639-91FC-4E12-A810-EE1CDB957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92" y="4848075"/>
                <a:ext cx="9806211" cy="369332"/>
              </a:xfrm>
              <a:prstGeom prst="rect">
                <a:avLst/>
              </a:prstGeom>
              <a:blipFill>
                <a:blip r:embed="rId4"/>
                <a:stretch>
                  <a:fillRect b="-317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E372CC9-AFCF-4447-8249-F000576EAAD6}"/>
              </a:ext>
            </a:extLst>
          </p:cNvPr>
          <p:cNvSpPr/>
          <p:nvPr/>
        </p:nvSpPr>
        <p:spPr>
          <a:xfrm>
            <a:off x="5018810" y="4887608"/>
            <a:ext cx="2587335" cy="3222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8617DF-076D-4D29-B6A1-7254B243499B}"/>
              </a:ext>
            </a:extLst>
          </p:cNvPr>
          <p:cNvSpPr txBox="1"/>
          <p:nvPr/>
        </p:nvSpPr>
        <p:spPr>
          <a:xfrm>
            <a:off x="483776" y="483666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Or…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A34E35-FA0A-4422-820C-9BAF20634210}"/>
              </a:ext>
            </a:extLst>
          </p:cNvPr>
          <p:cNvSpPr txBox="1">
            <a:spLocks/>
          </p:cNvSpPr>
          <p:nvPr/>
        </p:nvSpPr>
        <p:spPr>
          <a:xfrm>
            <a:off x="838197" y="5632660"/>
            <a:ext cx="10515600" cy="6330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Thus, the numerator degrees of freedom (df1) for this test would be </a:t>
            </a:r>
            <a:r>
              <a:rPr lang="en-US" b="1" u="sng" dirty="0"/>
              <a:t>2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412678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4445-53D6-4C46-BAD2-EA06FC1A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Omnibus Tests versus Specific Contrasts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F7C-345C-448D-9FE0-145EAA03B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40466"/>
          </a:xfrm>
        </p:spPr>
        <p:txBody>
          <a:bodyPr>
            <a:normAutofit/>
          </a:bodyPr>
          <a:lstStyle/>
          <a:p>
            <a:r>
              <a:rPr lang="en-US" b="1" u="sng" dirty="0"/>
              <a:t>Omnibus F for the Interaction of Diet and Exercise:</a:t>
            </a:r>
            <a:r>
              <a:rPr lang="en-US" b="1" dirty="0"/>
              <a:t> </a:t>
            </a:r>
            <a:r>
              <a:rPr lang="en-US" dirty="0"/>
              <a:t>Did the effect of diet depend on exercise (or vice versa)?</a:t>
            </a:r>
          </a:p>
          <a:p>
            <a:pPr lvl="1"/>
            <a:r>
              <a:rPr lang="en-US" dirty="0" smtClean="0"/>
              <a:t>Not that the interaction requires multiplying the interacting factors by each other. In this case, that takes 2 * 1 = 2 contrasts. </a:t>
            </a:r>
            <a:endParaRPr lang="en-US" b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F7D04-AD6E-454B-B424-ED3D00651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3/8/2019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F7635-33CE-494B-8D86-144E30EE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85EC10-5B68-4E69-B215-07BA8BD11105}"/>
                  </a:ext>
                </a:extLst>
              </p:cNvPr>
              <p:cNvSpPr txBox="1"/>
              <p:nvPr/>
            </p:nvSpPr>
            <p:spPr>
              <a:xfrm>
                <a:off x="1192894" y="3601026"/>
                <a:ext cx="9806211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85EC10-5B68-4E69-B215-07BA8BD11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94" y="3601026"/>
                <a:ext cx="9806211" cy="369332"/>
              </a:xfrm>
              <a:prstGeom prst="rect">
                <a:avLst/>
              </a:prstGeom>
              <a:blipFill>
                <a:blip r:embed="rId2"/>
                <a:stretch>
                  <a:fillRect b="-322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1E6F2-6731-4E45-8830-114B78B7B43D}"/>
                  </a:ext>
                </a:extLst>
              </p:cNvPr>
              <p:cNvSpPr txBox="1"/>
              <p:nvPr/>
            </p:nvSpPr>
            <p:spPr>
              <a:xfrm>
                <a:off x="1192893" y="4385611"/>
                <a:ext cx="9806210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1E6F2-6731-4E45-8830-114B78B7B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93" y="4385611"/>
                <a:ext cx="9806210" cy="369332"/>
              </a:xfrm>
              <a:prstGeom prst="rect">
                <a:avLst/>
              </a:prstGeom>
              <a:blipFill>
                <a:blip r:embed="rId3"/>
                <a:stretch>
                  <a:fillRect b="-317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982639-91FC-4E12-A810-EE1CDB95724B}"/>
                  </a:ext>
                </a:extLst>
              </p:cNvPr>
              <p:cNvSpPr txBox="1"/>
              <p:nvPr/>
            </p:nvSpPr>
            <p:spPr>
              <a:xfrm>
                <a:off x="1192892" y="4848075"/>
                <a:ext cx="9806211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𝑀𝑜𝑑𝑒𝑙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982639-91FC-4E12-A810-EE1CDB957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92" y="4848075"/>
                <a:ext cx="9806211" cy="369332"/>
              </a:xfrm>
              <a:prstGeom prst="rect">
                <a:avLst/>
              </a:prstGeom>
              <a:blipFill>
                <a:blip r:embed="rId4"/>
                <a:stretch>
                  <a:fillRect b="-317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DE372CC9-AFCF-4447-8249-F000576EAAD6}"/>
              </a:ext>
            </a:extLst>
          </p:cNvPr>
          <p:cNvSpPr/>
          <p:nvPr/>
        </p:nvSpPr>
        <p:spPr>
          <a:xfrm>
            <a:off x="7637319" y="4895143"/>
            <a:ext cx="2660072" cy="3222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8617DF-076D-4D29-B6A1-7254B243499B}"/>
              </a:ext>
            </a:extLst>
          </p:cNvPr>
          <p:cNvSpPr txBox="1"/>
          <p:nvPr/>
        </p:nvSpPr>
        <p:spPr>
          <a:xfrm>
            <a:off x="483776" y="483666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Or…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A34E35-FA0A-4422-820C-9BAF20634210}"/>
              </a:ext>
            </a:extLst>
          </p:cNvPr>
          <p:cNvSpPr txBox="1">
            <a:spLocks/>
          </p:cNvSpPr>
          <p:nvPr/>
        </p:nvSpPr>
        <p:spPr>
          <a:xfrm>
            <a:off x="838197" y="5632660"/>
            <a:ext cx="10515600" cy="6330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Thus, the numerator degrees of freedom (df1) for this test would be </a:t>
            </a:r>
            <a:r>
              <a:rPr lang="en-US" b="1" u="sng" dirty="0"/>
              <a:t>2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55079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1464</Words>
  <Application>Microsoft Office PowerPoint</Application>
  <PresentationFormat>Widescreen</PresentationFormat>
  <Paragraphs>548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Models with Multiple Categorical Predictors (Factorial ANOVA).</vt:lpstr>
      <vt:lpstr>“Factorial” Designs</vt:lpstr>
      <vt:lpstr>“Factorial” Designs</vt:lpstr>
      <vt:lpstr>Dealing with Multiple Factors</vt:lpstr>
      <vt:lpstr>Dealing with Multiple Factors</vt:lpstr>
      <vt:lpstr>Dealing with Multiple Factors</vt:lpstr>
      <vt:lpstr>Dealing with Multiple Factors</vt:lpstr>
      <vt:lpstr>Dealing with Multiple Factors</vt:lpstr>
      <vt:lpstr>Dealing with Multiple Factors</vt:lpstr>
      <vt:lpstr>A Better Set of Contrasts</vt:lpstr>
      <vt:lpstr>A Better Set of Contrasts</vt:lpstr>
      <vt:lpstr>A Better Set of Contrasts</vt:lpstr>
      <vt:lpstr>A Better Set of Contrasts</vt:lpstr>
      <vt:lpstr>A Better Set of Contrasts</vt:lpstr>
      <vt:lpstr>Omnibus Tests versus Specific Contrasts</vt:lpstr>
      <vt:lpstr>Omnibus Tests versus Specific Contrasts</vt:lpstr>
      <vt:lpstr>Omnibus Tests versus Specific Contrasts</vt:lpstr>
      <vt:lpstr>Omnibus Tests versus Specific Contrasts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46</cp:revision>
  <dcterms:created xsi:type="dcterms:W3CDTF">2019-02-09T14:44:07Z</dcterms:created>
  <dcterms:modified xsi:type="dcterms:W3CDTF">2019-03-08T16:17:28Z</dcterms:modified>
</cp:coreProperties>
</file>
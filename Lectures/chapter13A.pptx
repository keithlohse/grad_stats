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82" r:id="rId2"/>
    <p:sldId id="383" r:id="rId3"/>
    <p:sldId id="384" r:id="rId4"/>
    <p:sldId id="386" r:id="rId5"/>
    <p:sldId id="38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59" d="100"/>
          <a:sy n="59" d="100"/>
        </p:scale>
        <p:origin x="9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5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66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4/10/2020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Models with Ill-Mannered Error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</a:t>
            </a:r>
            <a:r>
              <a:rPr lang="en-US" b="1" dirty="0" smtClean="0"/>
              <a:t>PhD, </a:t>
            </a:r>
            <a:r>
              <a:rPr lang="en-US" b="1" dirty="0" err="1" smtClean="0"/>
              <a:t>PStat</a:t>
            </a:r>
            <a:endParaRPr lang="en-US" b="1" dirty="0"/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 so far…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09025"/>
            <a:ext cx="10515600" cy="296793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these models, we have made important assumptions about the residuals (</a:t>
            </a:r>
            <a:r>
              <a:rPr lang="el-GR" dirty="0" smtClean="0"/>
              <a:t>ε</a:t>
            </a:r>
            <a:r>
              <a:rPr lang="en-US" dirty="0" smtClean="0"/>
              <a:t>’s).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They are independent of each other. </a:t>
            </a:r>
            <a:r>
              <a:rPr lang="en-US" b="1" i="1" dirty="0"/>
              <a:t>(independence assumption)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are normally distributed. </a:t>
            </a:r>
            <a:r>
              <a:rPr lang="en-US" b="1" i="1" dirty="0" smtClean="0"/>
              <a:t>(normality assumption)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have a constant variance. </a:t>
            </a:r>
            <a:r>
              <a:rPr lang="en-US" b="1" i="1" dirty="0" smtClean="0"/>
              <a:t>(homoscedasticity/homogeneity of variance assumption)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690688"/>
                <a:ext cx="23904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390463" cy="276999"/>
              </a:xfrm>
              <a:prstGeom prst="rect">
                <a:avLst/>
              </a:prstGeom>
              <a:blipFill>
                <a:blip r:embed="rId3"/>
                <a:stretch>
                  <a:fillRect l="-2041" r="-178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2172857"/>
                <a:ext cx="3853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72857"/>
                <a:ext cx="3853747" cy="276999"/>
              </a:xfrm>
              <a:prstGeom prst="rect">
                <a:avLst/>
              </a:prstGeom>
              <a:blipFill>
                <a:blip r:embed="rId4"/>
                <a:stretch>
                  <a:fillRect l="-1108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21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 so far…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09025"/>
            <a:ext cx="10515600" cy="296793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these models, we have made important assumptions about the residuals (</a:t>
            </a:r>
            <a:r>
              <a:rPr lang="el-GR" dirty="0" smtClean="0"/>
              <a:t>ε</a:t>
            </a:r>
            <a:r>
              <a:rPr lang="en-US" dirty="0" smtClean="0"/>
              <a:t>’s).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trike="sngStrike" dirty="0"/>
              <a:t>They are independent of each other. </a:t>
            </a:r>
            <a:r>
              <a:rPr lang="en-US" b="1" i="1" strike="sngStrike" dirty="0"/>
              <a:t>(independence assumption)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are normally distributed. </a:t>
            </a:r>
            <a:r>
              <a:rPr lang="en-US" b="1" i="1" dirty="0" smtClean="0"/>
              <a:t>(normality assumption)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have a constant variance. </a:t>
            </a:r>
            <a:r>
              <a:rPr lang="en-US" b="1" i="1" dirty="0" smtClean="0"/>
              <a:t>(homoscedasticity/homogeneity of variance assumption)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690688"/>
                <a:ext cx="23904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390463" cy="276999"/>
              </a:xfrm>
              <a:prstGeom prst="rect">
                <a:avLst/>
              </a:prstGeom>
              <a:blipFill>
                <a:blip r:embed="rId3"/>
                <a:stretch>
                  <a:fillRect l="-2041" r="-178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2172857"/>
                <a:ext cx="3853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72857"/>
                <a:ext cx="3853747" cy="276999"/>
              </a:xfrm>
              <a:prstGeom prst="rect">
                <a:avLst/>
              </a:prstGeom>
              <a:blipFill>
                <a:blip r:embed="rId4"/>
                <a:stretch>
                  <a:fillRect l="-1108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rot="20129064">
            <a:off x="10113807" y="3842656"/>
            <a:ext cx="121828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Chapter 11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70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4/10/2020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686" y="517072"/>
            <a:ext cx="5715000" cy="571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0093" y="1175656"/>
            <a:ext cx="4593707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All of these datasets have exactly the same slopes and intercepts:</a:t>
            </a:r>
          </a:p>
          <a:p>
            <a:r>
              <a:rPr lang="en-US" dirty="0" smtClean="0"/>
              <a:t>b0 = 3.0, p = 0.026</a:t>
            </a:r>
          </a:p>
          <a:p>
            <a:r>
              <a:rPr lang="en-US" dirty="0" smtClean="0"/>
              <a:t>b1 = 0.5, p = 0.002</a:t>
            </a:r>
          </a:p>
          <a:p>
            <a:endParaRPr lang="en-US" dirty="0"/>
          </a:p>
          <a:p>
            <a:r>
              <a:rPr lang="en-US" dirty="0" smtClean="0"/>
              <a:t>However, only example Number 1 represents what we would really think of as a “fair” linear relationship between X and Y. </a:t>
            </a:r>
          </a:p>
          <a:p>
            <a:endParaRPr lang="en-US" dirty="0"/>
          </a:p>
          <a:p>
            <a:r>
              <a:rPr lang="en-US" dirty="0" smtClean="0"/>
              <a:t>These four examples are known as </a:t>
            </a:r>
            <a:r>
              <a:rPr lang="en-US" dirty="0" err="1" smtClean="0"/>
              <a:t>Anscombe’s</a:t>
            </a:r>
            <a:r>
              <a:rPr lang="en-US" dirty="0" smtClean="0"/>
              <a:t> Quartet (</a:t>
            </a:r>
            <a:r>
              <a:rPr lang="en-US" dirty="0" err="1" smtClean="0"/>
              <a:t>Anscombe</a:t>
            </a:r>
            <a:r>
              <a:rPr lang="en-US" dirty="0" smtClean="0"/>
              <a:t>, 1973). </a:t>
            </a:r>
          </a:p>
          <a:p>
            <a:endParaRPr lang="en-US" dirty="0"/>
          </a:p>
          <a:p>
            <a:r>
              <a:rPr lang="en-US" dirty="0" smtClean="0"/>
              <a:t>These figures highlight the importance of graphing our data </a:t>
            </a:r>
            <a:r>
              <a:rPr lang="en-US" b="1" i="1" dirty="0" smtClean="0"/>
              <a:t>before</a:t>
            </a:r>
            <a:r>
              <a:rPr lang="en-US" dirty="0" smtClean="0"/>
              <a:t> we analyze </a:t>
            </a:r>
            <a:r>
              <a:rPr lang="en-US" dirty="0" smtClean="0"/>
              <a:t>it, checking our regression </a:t>
            </a:r>
            <a:r>
              <a:rPr lang="en-US" b="1" i="1" dirty="0" smtClean="0"/>
              <a:t>diagnostics</a:t>
            </a:r>
            <a:r>
              <a:rPr lang="en-US" dirty="0" smtClean="0"/>
              <a:t>, and checking our regression </a:t>
            </a:r>
            <a:r>
              <a:rPr lang="en-US" b="1" i="1" dirty="0" smtClean="0"/>
              <a:t>assumptions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26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Regression Diagnostics and Statistical Assumptions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Diagnostics (checking for “</a:t>
            </a:r>
            <a:r>
              <a:rPr lang="en-US" b="1" i="1" u="sng" dirty="0" smtClean="0"/>
              <a:t>Idiosyncratic</a:t>
            </a:r>
            <a:r>
              <a:rPr lang="en-US" b="1" u="sng" dirty="0" smtClean="0"/>
              <a:t>” Errors):</a:t>
            </a:r>
          </a:p>
          <a:p>
            <a:pPr lvl="1"/>
            <a:r>
              <a:rPr lang="en-US" dirty="0" smtClean="0"/>
              <a:t>Leverage (extreme values in X)</a:t>
            </a:r>
          </a:p>
          <a:p>
            <a:pPr lvl="1"/>
            <a:r>
              <a:rPr lang="en-US" dirty="0"/>
              <a:t>Outliers (extreme values in Y)</a:t>
            </a:r>
          </a:p>
          <a:p>
            <a:pPr lvl="1"/>
            <a:r>
              <a:rPr lang="en-US" dirty="0" smtClean="0"/>
              <a:t>Influence (data-points that </a:t>
            </a:r>
            <a:r>
              <a:rPr lang="en-US" smtClean="0"/>
              <a:t>substantially affect the </a:t>
            </a:r>
            <a:r>
              <a:rPr lang="en-US" dirty="0" smtClean="0"/>
              <a:t>model)</a:t>
            </a:r>
          </a:p>
          <a:p>
            <a:pPr lvl="1"/>
            <a:endParaRPr lang="en-US" dirty="0"/>
          </a:p>
          <a:p>
            <a:r>
              <a:rPr lang="en-US" b="1" u="sng" dirty="0" smtClean="0"/>
              <a:t>Assumptions (checking for “</a:t>
            </a:r>
            <a:r>
              <a:rPr lang="en-US" b="1" i="1" u="sng" dirty="0" smtClean="0"/>
              <a:t>Systematic</a:t>
            </a:r>
            <a:r>
              <a:rPr lang="en-US" b="1" u="sng" dirty="0" smtClean="0"/>
              <a:t>” Errors):</a:t>
            </a:r>
          </a:p>
          <a:p>
            <a:pPr lvl="1"/>
            <a:r>
              <a:rPr lang="en-US" dirty="0" smtClean="0"/>
              <a:t>Normality</a:t>
            </a:r>
          </a:p>
          <a:p>
            <a:pPr lvl="1"/>
            <a:r>
              <a:rPr lang="en-US" dirty="0" err="1" smtClean="0"/>
              <a:t>Homosckedasticity</a:t>
            </a:r>
            <a:r>
              <a:rPr lang="en-US" dirty="0" smtClean="0"/>
              <a:t>/Homogeneity of Variance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0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400</Words>
  <Application>Microsoft Office PowerPoint</Application>
  <PresentationFormat>Widescreen</PresentationFormat>
  <Paragraphs>53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Models with Ill-Mannered Error</vt:lpstr>
      <vt:lpstr>Assumptions so far…</vt:lpstr>
      <vt:lpstr>Assumptions so far…</vt:lpstr>
      <vt:lpstr>PowerPoint Presentation</vt:lpstr>
      <vt:lpstr>Regression Diagnostics and Statistical Assumptions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43</cp:revision>
  <dcterms:created xsi:type="dcterms:W3CDTF">2019-02-09T14:44:07Z</dcterms:created>
  <dcterms:modified xsi:type="dcterms:W3CDTF">2020-04-10T19:11:31Z</dcterms:modified>
</cp:coreProperties>
</file>
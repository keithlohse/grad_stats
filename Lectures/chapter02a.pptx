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18"/>
  </p:notesMasterIdLst>
  <p:sldIdLst>
    <p:sldId id="382" r:id="rId2"/>
    <p:sldId id="383" r:id="rId3"/>
    <p:sldId id="384" r:id="rId4"/>
    <p:sldId id="386" r:id="rId5"/>
    <p:sldId id="387" r:id="rId6"/>
    <p:sldId id="388" r:id="rId7"/>
    <p:sldId id="389" r:id="rId8"/>
    <p:sldId id="390" r:id="rId9"/>
    <p:sldId id="391" r:id="rId10"/>
    <p:sldId id="392" r:id="rId11"/>
    <p:sldId id="393" r:id="rId12"/>
    <p:sldId id="394" r:id="rId13"/>
    <p:sldId id="395" r:id="rId14"/>
    <p:sldId id="396" r:id="rId15"/>
    <p:sldId id="397" r:id="rId16"/>
    <p:sldId id="39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9797"/>
    <a:srgbClr val="A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84424" autoAdjust="0"/>
  </p:normalViewPr>
  <p:slideViewPr>
    <p:cSldViewPr snapToGrid="0">
      <p:cViewPr varScale="1">
        <p:scale>
          <a:sx n="58" d="100"/>
          <a:sy n="58" d="100"/>
        </p:scale>
        <p:origin x="9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25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3</c:v>
                </c:pt>
                <c:pt idx="3">
                  <c:v>5</c:v>
                </c:pt>
                <c:pt idx="4">
                  <c:v>7</c:v>
                </c:pt>
                <c:pt idx="5">
                  <c:v>9</c:v>
                </c:pt>
                <c:pt idx="6">
                  <c:v>10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32</c:v>
                </c:pt>
                <c:pt idx="1">
                  <c:v>26</c:v>
                </c:pt>
                <c:pt idx="2">
                  <c:v>22</c:v>
                </c:pt>
                <c:pt idx="3">
                  <c:v>19</c:v>
                </c:pt>
                <c:pt idx="4">
                  <c:v>21</c:v>
                </c:pt>
                <c:pt idx="5">
                  <c:v>23</c:v>
                </c:pt>
                <c:pt idx="6">
                  <c:v>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66B-4A25-B54B-12E35B21D7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71336208"/>
        <c:axId val="371341128"/>
      </c:lineChart>
      <c:catAx>
        <c:axId val="37133620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Estimate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1341128"/>
        <c:crosses val="autoZero"/>
        <c:auto val="1"/>
        <c:lblAlgn val="ctr"/>
        <c:lblOffset val="100"/>
        <c:noMultiLvlLbl val="0"/>
      </c:catAx>
      <c:valAx>
        <c:axId val="371341128"/>
        <c:scaling>
          <c:orientation val="minMax"/>
          <c:min val="1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SAE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13362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8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3</c:v>
                </c:pt>
                <c:pt idx="3">
                  <c:v>5</c:v>
                </c:pt>
                <c:pt idx="4">
                  <c:v>7</c:v>
                </c:pt>
                <c:pt idx="5">
                  <c:v>9</c:v>
                </c:pt>
                <c:pt idx="6">
                  <c:v>10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157</c:v>
                </c:pt>
                <c:pt idx="1">
                  <c:v>150.5</c:v>
                </c:pt>
                <c:pt idx="2">
                  <c:v>146</c:v>
                </c:pt>
                <c:pt idx="3">
                  <c:v>145</c:v>
                </c:pt>
                <c:pt idx="4">
                  <c:v>146.5</c:v>
                </c:pt>
                <c:pt idx="5">
                  <c:v>148</c:v>
                </c:pt>
                <c:pt idx="6">
                  <c:v>152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66B-4A25-B54B-12E35B21D7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71336208"/>
        <c:axId val="371341128"/>
      </c:lineChart>
      <c:catAx>
        <c:axId val="37133620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Estimate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1341128"/>
        <c:crosses val="autoZero"/>
        <c:auto val="1"/>
        <c:lblAlgn val="ctr"/>
        <c:lblOffset val="100"/>
        <c:noMultiLvlLbl val="0"/>
      </c:catAx>
      <c:valAx>
        <c:axId val="371341128"/>
        <c:scaling>
          <c:orientation val="minMax"/>
          <c:max val="160"/>
          <c:min val="14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SAE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13362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8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312</c:v>
                </c:pt>
                <c:pt idx="1">
                  <c:v>253</c:v>
                </c:pt>
                <c:pt idx="2">
                  <c:v>204</c:v>
                </c:pt>
                <c:pt idx="3">
                  <c:v>165</c:v>
                </c:pt>
                <c:pt idx="4">
                  <c:v>136</c:v>
                </c:pt>
                <c:pt idx="5">
                  <c:v>117</c:v>
                </c:pt>
                <c:pt idx="6">
                  <c:v>108</c:v>
                </c:pt>
                <c:pt idx="7">
                  <c:v>109</c:v>
                </c:pt>
                <c:pt idx="8">
                  <c:v>120</c:v>
                </c:pt>
                <c:pt idx="9">
                  <c:v>141</c:v>
                </c:pt>
                <c:pt idx="10">
                  <c:v>172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66B-4A25-B54B-12E35B21D7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71336208"/>
        <c:axId val="371341128"/>
      </c:lineChart>
      <c:catAx>
        <c:axId val="37133620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Estimate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1341128"/>
        <c:crosses val="autoZero"/>
        <c:auto val="1"/>
        <c:lblAlgn val="ctr"/>
        <c:lblOffset val="100"/>
        <c:noMultiLvlLbl val="0"/>
      </c:catAx>
      <c:valAx>
        <c:axId val="371341128"/>
        <c:scaling>
          <c:orientation val="minMax"/>
          <c:min val="1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SSE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13362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8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</c:numCache>
            </c:num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19716</c:v>
                </c:pt>
                <c:pt idx="1">
                  <c:v>18261</c:v>
                </c:pt>
                <c:pt idx="2">
                  <c:v>17056</c:v>
                </c:pt>
                <c:pt idx="3">
                  <c:v>16101</c:v>
                </c:pt>
                <c:pt idx="4">
                  <c:v>15396</c:v>
                </c:pt>
                <c:pt idx="5">
                  <c:v>14941</c:v>
                </c:pt>
                <c:pt idx="6">
                  <c:v>14736</c:v>
                </c:pt>
                <c:pt idx="7">
                  <c:v>14781</c:v>
                </c:pt>
                <c:pt idx="8">
                  <c:v>15076</c:v>
                </c:pt>
                <c:pt idx="9">
                  <c:v>15621</c:v>
                </c:pt>
                <c:pt idx="10">
                  <c:v>16416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66B-4A25-B54B-12E35B21D7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71336208"/>
        <c:axId val="371341128"/>
      </c:lineChart>
      <c:catAx>
        <c:axId val="37133620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Estimate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1341128"/>
        <c:crosses val="autoZero"/>
        <c:auto val="1"/>
        <c:lblAlgn val="ctr"/>
        <c:lblOffset val="100"/>
        <c:noMultiLvlLbl val="0"/>
      </c:catAx>
      <c:valAx>
        <c:axId val="371341128"/>
        <c:scaling>
          <c:orientation val="minMax"/>
          <c:max val="20000"/>
          <c:min val="14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mtClean="0"/>
                  <a:t>SSE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13362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8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76DDE-75BB-4B04-A0BD-5C17E33DC40E}" type="datetimeFigureOut">
              <a:rPr lang="en-US" smtClean="0"/>
              <a:t>12/29/2018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7B62B-0753-4BDE-90F4-CDED710DE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86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73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B63A-1390-4120-94EB-00092381E02F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65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30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FB65-6EAB-49E5-A1DB-3E80C39C53B8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2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224-D20E-45FC-AB47-7036B7429E06}" type="datetime1">
              <a:rPr lang="en-US" smtClean="0"/>
              <a:t>12/29/2018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3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B67A-60ED-4797-943A-55D5CD883011}" type="datetime1">
              <a:rPr lang="en-US" smtClean="0"/>
              <a:t>12/29/2018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2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12/29/2018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C5B5-E9BF-4312-938F-57F5458B9411}" type="datetime1">
              <a:rPr lang="en-US" smtClean="0"/>
              <a:t>12/29/2018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04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1C03-418D-427D-912F-3A80D46B024B}" type="datetime1">
              <a:rPr lang="en-US" smtClean="0"/>
              <a:t>12/29/2018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93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2541-89D1-43A5-9247-9C9B7AE89E66}" type="datetime1">
              <a:rPr lang="en-US" smtClean="0"/>
              <a:t>12/29/2018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52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A8DF6-2286-4D85-88A8-00AC199A2C34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0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0AFB-8BB9-4422-BB79-0EF175454CED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7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17F07-1C55-41A1-B81A-75CAA13E3CFD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271849" cy="685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2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22" y="-12033"/>
            <a:ext cx="11916578" cy="47834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5421" y="4120308"/>
            <a:ext cx="11914632" cy="27376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316" y="1027966"/>
            <a:ext cx="11421410" cy="1771839"/>
          </a:xfrm>
          <a:solidFill>
            <a:srgbClr val="FFFFFF">
              <a:alpha val="50196"/>
            </a:srgbClr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r>
              <a:rPr lang="en-US" sz="5400" dirty="0" smtClean="0"/>
              <a:t>Definitions of Error and </a:t>
            </a:r>
            <a:r>
              <a:rPr lang="en-US" sz="5400" smtClean="0"/>
              <a:t>Parameter Estimates.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7316" y="4313760"/>
            <a:ext cx="9144000" cy="230220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Keith Lohse, PhD</a:t>
            </a:r>
          </a:p>
          <a:p>
            <a:pPr algn="l"/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Assistant Professor</a:t>
            </a:r>
          </a:p>
          <a:p>
            <a:pPr algn="l"/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Department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of Health, Kinesiology, and Recreation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Physical Therapy and Athletic Training</a:t>
            </a:r>
          </a:p>
          <a:p>
            <a:pPr algn="l"/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University of Utah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</a:t>
            </a:fld>
            <a:endParaRPr lang="en-US"/>
          </a:p>
        </p:txBody>
      </p:sp>
      <p:sp>
        <p:nvSpPr>
          <p:cNvPr id="7" name="AutoShape 2" descr="Image result for utah college of health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7336B5-4F30-4282-9AE3-C49F61A3C5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484" y="5747288"/>
            <a:ext cx="2626242" cy="868680"/>
          </a:xfrm>
          <a:prstGeom prst="rect">
            <a:avLst/>
          </a:prstGeom>
        </p:spPr>
      </p:pic>
      <p:pic>
        <p:nvPicPr>
          <p:cNvPr id="12" name="Picture 2" descr="Image result for email logo png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314251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9091581" y="4358185"/>
            <a:ext cx="2960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keith.lohse@health.utah.edu</a:t>
            </a:r>
            <a:endParaRPr lang="en-US" dirty="0"/>
          </a:p>
        </p:txBody>
      </p:sp>
      <p:pic>
        <p:nvPicPr>
          <p:cNvPr id="14" name="Picture 4" descr="Image result for twitter logo png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81538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9091581" y="4859319"/>
            <a:ext cx="1525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@</a:t>
            </a:r>
            <a:r>
              <a:rPr lang="en-US" dirty="0" err="1" smtClean="0"/>
              <a:t>keith_lohse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73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 of Errors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Recall that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DATA</a:t>
                </a:r>
                <a:r>
                  <a:rPr lang="en-US" dirty="0" smtClean="0"/>
                  <a:t> = </a:t>
                </a:r>
                <a:r>
                  <a:rPr lang="en-US" dirty="0" smtClean="0">
                    <a:solidFill>
                      <a:schemeClr val="accent1"/>
                    </a:solidFill>
                  </a:rPr>
                  <a:t>MODEL</a:t>
                </a:r>
                <a:r>
                  <a:rPr lang="en-US" dirty="0" smtClean="0"/>
                  <a:t> + </a:t>
                </a:r>
                <a:r>
                  <a:rPr lang="en-US" dirty="0" smtClean="0">
                    <a:solidFill>
                      <a:schemeClr val="accent6"/>
                    </a:solidFill>
                  </a:rPr>
                  <a:t>ERROR</a:t>
                </a:r>
                <a:r>
                  <a:rPr lang="en-US" dirty="0" smtClean="0"/>
                  <a:t>… </a:t>
                </a:r>
              </a:p>
              <a:p>
                <a:r>
                  <a:rPr lang="en-US" dirty="0" smtClean="0"/>
                  <a:t>Or, for </a:t>
                </a:r>
                <a:r>
                  <a:rPr lang="en-US" dirty="0" smtClean="0"/>
                  <a:t>a simple</a:t>
                </a:r>
                <a:r>
                  <a:rPr lang="en-US" dirty="0" smtClean="0"/>
                  <a:t>, unconditional model: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lvl="1"/>
                <a:endParaRPr lang="en-US" dirty="0" smtClean="0">
                  <a:solidFill>
                    <a:schemeClr val="accent1"/>
                  </a:solidFill>
                </a:endParaRPr>
              </a:p>
              <a:p>
                <a:pPr lvl="1"/>
                <a:r>
                  <a:rPr lang="en-US" dirty="0" smtClean="0"/>
                  <a:t>Thus, an error is the difference between our prediction and the observed value,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. </a:t>
                </a:r>
              </a:p>
              <a:p>
                <a:pPr lvl="1"/>
                <a:endParaRPr lang="en-US" dirty="0">
                  <a:solidFill>
                    <a:schemeClr val="accent1"/>
                  </a:solidFill>
                </a:endParaRPr>
              </a:p>
              <a:p>
                <a:pPr lvl="1"/>
                <a:r>
                  <a:rPr lang="en-US" dirty="0" smtClean="0"/>
                  <a:t>Written this way, we can see that the error is value “left-over” or that “remains to be explained.” As such, errors of this type are also referred to as </a:t>
                </a:r>
                <a:r>
                  <a:rPr lang="en-US" b="1" i="1" u="sng" dirty="0" smtClean="0"/>
                  <a:t>residuals</a:t>
                </a:r>
                <a:r>
                  <a:rPr lang="en-US" dirty="0" smtClean="0"/>
                  <a:t>.</a:t>
                </a:r>
                <a:endParaRPr lang="en-US" dirty="0"/>
              </a:p>
              <a:p>
                <a:pPr marL="457200" lvl="1" indent="0">
                  <a:buNone/>
                </a:pPr>
                <a:endParaRPr lang="en-US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644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 of Errors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But first we have to fit our model parameters. </a:t>
                </a:r>
              </a:p>
              <a:p>
                <a:pPr lvl="1"/>
                <a:r>
                  <a:rPr lang="en-US" dirty="0" smtClean="0"/>
                  <a:t>I.e., translate: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into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lvl="1"/>
                <a:endParaRPr lang="en-US" dirty="0" smtClean="0">
                  <a:solidFill>
                    <a:schemeClr val="accent1"/>
                  </a:solidFill>
                </a:endParaRPr>
              </a:p>
              <a:p>
                <a:r>
                  <a:rPr lang="en-US" dirty="0" smtClean="0"/>
                  <a:t>But what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/>
                  <a:t> do we want? How do we choose?</a:t>
                </a:r>
              </a:p>
              <a:p>
                <a:pPr lvl="1"/>
                <a:endParaRPr lang="en-US" dirty="0">
                  <a:solidFill>
                    <a:schemeClr val="accent1"/>
                  </a:solidFill>
                </a:endParaRPr>
              </a:p>
              <a:p>
                <a:pPr lvl="1"/>
                <a:r>
                  <a:rPr lang="en-US" dirty="0" smtClean="0"/>
                  <a:t>Recall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/>
                  <a:t> is an estimate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/>
                  <a:t>. Intuitively,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/>
                  <a:t> first needs to be a good explanation of our data. If we pick a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/>
                  <a:t> that leads to large errors, then it certainly isn’t a good explanation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.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 smtClean="0"/>
                  <a:t>More work will need to be done to understand the relationship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/>
                  <a:t>… but first we want our parameter estimate to be a good description of our data.</a:t>
                </a:r>
                <a:endParaRPr lang="en-US" dirty="0"/>
              </a:p>
              <a:p>
                <a:pPr marL="457200" lvl="1" indent="0">
                  <a:buNone/>
                </a:pPr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12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184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Different Methods of Calculating Errors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5257800" cy="4351338"/>
              </a:xfrm>
            </p:spPr>
            <p:txBody>
              <a:bodyPr/>
              <a:lstStyle/>
              <a:p>
                <a:r>
                  <a:rPr lang="en-US" dirty="0" smtClean="0"/>
                  <a:t>Estimating the number of books read over the summer by students.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5257800" cy="4351338"/>
              </a:xfrm>
              <a:blipFill>
                <a:blip r:embed="rId2"/>
                <a:stretch>
                  <a:fillRect l="-2088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7231231"/>
              </p:ext>
            </p:extLst>
          </p:nvPr>
        </p:nvGraphicFramePr>
        <p:xfrm>
          <a:off x="7003026" y="1690688"/>
          <a:ext cx="961104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1104">
                  <a:extLst>
                    <a:ext uri="{9D8B030D-6E8A-4147-A177-3AD203B41FA5}">
                      <a16:colId xmlns:a16="http://schemas.microsoft.com/office/drawing/2014/main" val="250236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#</a:t>
                      </a:r>
                      <a:r>
                        <a:rPr lang="en-US" baseline="0" dirty="0" smtClean="0"/>
                        <a:t> Books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5622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175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6588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264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173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757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571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 of Absolute Errors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5257800" cy="4351338"/>
              </a:xfrm>
            </p:spPr>
            <p:txBody>
              <a:bodyPr/>
              <a:lstStyle/>
              <a:p>
                <a:r>
                  <a:rPr lang="en-US" dirty="0" smtClean="0"/>
                  <a:t>Estimating the number of books read over the summer by students.</a:t>
                </a:r>
              </a:p>
              <a:p>
                <a:endParaRPr lang="en-US" dirty="0"/>
              </a:p>
              <a:p>
                <a:r>
                  <a:rPr lang="en-US" dirty="0" smtClean="0"/>
                  <a:t>Pessimistic Estimate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5257800" cy="4351338"/>
              </a:xfrm>
              <a:blipFill>
                <a:blip r:embed="rId2"/>
                <a:stretch>
                  <a:fillRect l="-2088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8436908"/>
                  </p:ext>
                </p:extLst>
              </p:nvPr>
            </p:nvGraphicFramePr>
            <p:xfrm>
              <a:off x="7003026" y="1690688"/>
              <a:ext cx="2760406" cy="259588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88922">
                      <a:extLst>
                        <a:ext uri="{9D8B030D-6E8A-4147-A177-3AD203B41FA5}">
                          <a16:colId xmlns:a16="http://schemas.microsoft.com/office/drawing/2014/main" val="25023609"/>
                        </a:ext>
                      </a:extLst>
                    </a:gridCol>
                    <a:gridCol w="750532">
                      <a:extLst>
                        <a:ext uri="{9D8B030D-6E8A-4147-A177-3AD203B41FA5}">
                          <a16:colId xmlns:a16="http://schemas.microsoft.com/office/drawing/2014/main" val="3226397480"/>
                        </a:ext>
                      </a:extLst>
                    </a:gridCol>
                    <a:gridCol w="920952">
                      <a:extLst>
                        <a:ext uri="{9D8B030D-6E8A-4147-A177-3AD203B41FA5}">
                          <a16:colId xmlns:a16="http://schemas.microsoft.com/office/drawing/2014/main" val="8183989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#</a:t>
                          </a:r>
                          <a:r>
                            <a:rPr lang="en-US" baseline="0" dirty="0" smtClean="0"/>
                            <a:t> Books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56223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11752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65885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72646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9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51735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14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1757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b="1" i="1" u="sng" dirty="0" smtClean="0"/>
                            <a:t>32</a:t>
                          </a:r>
                          <a:endParaRPr lang="en-US" b="1" i="1" u="sn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083341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8436908"/>
                  </p:ext>
                </p:extLst>
              </p:nvPr>
            </p:nvGraphicFramePr>
            <p:xfrm>
              <a:off x="7003026" y="1690688"/>
              <a:ext cx="2760406" cy="259588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88922">
                      <a:extLst>
                        <a:ext uri="{9D8B030D-6E8A-4147-A177-3AD203B41FA5}">
                          <a16:colId xmlns:a16="http://schemas.microsoft.com/office/drawing/2014/main" val="25023609"/>
                        </a:ext>
                      </a:extLst>
                    </a:gridCol>
                    <a:gridCol w="750532">
                      <a:extLst>
                        <a:ext uri="{9D8B030D-6E8A-4147-A177-3AD203B41FA5}">
                          <a16:colId xmlns:a16="http://schemas.microsoft.com/office/drawing/2014/main" val="3226397480"/>
                        </a:ext>
                      </a:extLst>
                    </a:gridCol>
                    <a:gridCol w="920952">
                      <a:extLst>
                        <a:ext uri="{9D8B030D-6E8A-4147-A177-3AD203B41FA5}">
                          <a16:colId xmlns:a16="http://schemas.microsoft.com/office/drawing/2014/main" val="8183989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#</a:t>
                          </a:r>
                          <a:r>
                            <a:rPr lang="en-US" baseline="0" dirty="0" smtClean="0"/>
                            <a:t> Books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5161" t="-8197" r="-12500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325" t="-8197" r="-2649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56223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11752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65885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72646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9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51735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14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1757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b="1" i="1" u="sng" dirty="0" smtClean="0"/>
                            <a:t>32</a:t>
                          </a:r>
                          <a:endParaRPr lang="en-US" b="1" i="1" u="sn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083341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982200" y="3866357"/>
                <a:ext cx="534634" cy="5217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2200" y="3866357"/>
                <a:ext cx="534634" cy="521746"/>
              </a:xfrm>
              <a:prstGeom prst="rect">
                <a:avLst/>
              </a:prstGeom>
              <a:blipFill>
                <a:blip r:embed="rId4"/>
                <a:stretch>
                  <a:fillRect l="-122989" t="-144186" r="-132184" b="-20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2713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of Absolute Errors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5257800" cy="4351338"/>
              </a:xfrm>
            </p:spPr>
            <p:txBody>
              <a:bodyPr/>
              <a:lstStyle/>
              <a:p>
                <a:r>
                  <a:rPr lang="en-US" dirty="0" smtClean="0"/>
                  <a:t>Estimating the number of books read over the summer by students.</a:t>
                </a:r>
              </a:p>
              <a:p>
                <a:endParaRPr lang="en-US" dirty="0"/>
              </a:p>
              <a:p>
                <a:r>
                  <a:rPr lang="en-US" dirty="0" smtClean="0"/>
                  <a:t>Optimistic Estimate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=10+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5257800" cy="4351338"/>
              </a:xfrm>
              <a:blipFill>
                <a:blip r:embed="rId2"/>
                <a:stretch>
                  <a:fillRect l="-2088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99746134"/>
                  </p:ext>
                </p:extLst>
              </p:nvPr>
            </p:nvGraphicFramePr>
            <p:xfrm>
              <a:off x="7003026" y="1690688"/>
              <a:ext cx="2760406" cy="259588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88922">
                      <a:extLst>
                        <a:ext uri="{9D8B030D-6E8A-4147-A177-3AD203B41FA5}">
                          <a16:colId xmlns:a16="http://schemas.microsoft.com/office/drawing/2014/main" val="25023609"/>
                        </a:ext>
                      </a:extLst>
                    </a:gridCol>
                    <a:gridCol w="750532">
                      <a:extLst>
                        <a:ext uri="{9D8B030D-6E8A-4147-A177-3AD203B41FA5}">
                          <a16:colId xmlns:a16="http://schemas.microsoft.com/office/drawing/2014/main" val="3226397480"/>
                        </a:ext>
                      </a:extLst>
                    </a:gridCol>
                    <a:gridCol w="920952">
                      <a:extLst>
                        <a:ext uri="{9D8B030D-6E8A-4147-A177-3AD203B41FA5}">
                          <a16:colId xmlns:a16="http://schemas.microsoft.com/office/drawing/2014/main" val="8183989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#</a:t>
                          </a:r>
                          <a:r>
                            <a:rPr lang="en-US" baseline="0" dirty="0" smtClean="0"/>
                            <a:t> Books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56223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-9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11752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-7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65885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-5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72646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-1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51735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4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1757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b="1" i="1" u="sng" dirty="0" smtClean="0"/>
                            <a:t>26</a:t>
                          </a:r>
                          <a:endParaRPr lang="en-US" b="1" i="1" u="sn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083341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99746134"/>
                  </p:ext>
                </p:extLst>
              </p:nvPr>
            </p:nvGraphicFramePr>
            <p:xfrm>
              <a:off x="7003026" y="1690688"/>
              <a:ext cx="2760406" cy="259588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88922">
                      <a:extLst>
                        <a:ext uri="{9D8B030D-6E8A-4147-A177-3AD203B41FA5}">
                          <a16:colId xmlns:a16="http://schemas.microsoft.com/office/drawing/2014/main" val="25023609"/>
                        </a:ext>
                      </a:extLst>
                    </a:gridCol>
                    <a:gridCol w="750532">
                      <a:extLst>
                        <a:ext uri="{9D8B030D-6E8A-4147-A177-3AD203B41FA5}">
                          <a16:colId xmlns:a16="http://schemas.microsoft.com/office/drawing/2014/main" val="3226397480"/>
                        </a:ext>
                      </a:extLst>
                    </a:gridCol>
                    <a:gridCol w="920952">
                      <a:extLst>
                        <a:ext uri="{9D8B030D-6E8A-4147-A177-3AD203B41FA5}">
                          <a16:colId xmlns:a16="http://schemas.microsoft.com/office/drawing/2014/main" val="8183989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#</a:t>
                          </a:r>
                          <a:r>
                            <a:rPr lang="en-US" baseline="0" dirty="0" smtClean="0"/>
                            <a:t> Books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5161" t="-8197" r="-12500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325" t="-8197" r="-2649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56223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-9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11752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-7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65885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-5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72646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-1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51735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4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1757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b="1" i="1" u="sng" dirty="0" smtClean="0"/>
                            <a:t>26</a:t>
                          </a:r>
                          <a:endParaRPr lang="en-US" b="1" i="1" u="sn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083341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982200" y="3866357"/>
                <a:ext cx="534634" cy="5217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2200" y="3866357"/>
                <a:ext cx="534634" cy="521746"/>
              </a:xfrm>
              <a:prstGeom prst="rect">
                <a:avLst/>
              </a:prstGeom>
              <a:blipFill>
                <a:blip r:embed="rId4"/>
                <a:stretch>
                  <a:fillRect l="-122989" t="-144186" r="-132184" b="-20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8802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of Absolute Errors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5257800" cy="4351338"/>
              </a:xfrm>
            </p:spPr>
            <p:txBody>
              <a:bodyPr/>
              <a:lstStyle/>
              <a:p>
                <a:r>
                  <a:rPr lang="en-US" dirty="0" smtClean="0"/>
                  <a:t>Estimating the number of books read over the summer by students.</a:t>
                </a:r>
              </a:p>
              <a:p>
                <a:endParaRPr lang="en-US" dirty="0"/>
              </a:p>
              <a:p>
                <a:r>
                  <a:rPr lang="en-US" dirty="0" smtClean="0"/>
                  <a:t>Moderate Estimate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5257800" cy="4351338"/>
              </a:xfrm>
              <a:blipFill>
                <a:blip r:embed="rId2"/>
                <a:stretch>
                  <a:fillRect l="-2088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6172964"/>
                  </p:ext>
                </p:extLst>
              </p:nvPr>
            </p:nvGraphicFramePr>
            <p:xfrm>
              <a:off x="7003026" y="1690688"/>
              <a:ext cx="2760406" cy="259588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88922">
                      <a:extLst>
                        <a:ext uri="{9D8B030D-6E8A-4147-A177-3AD203B41FA5}">
                          <a16:colId xmlns:a16="http://schemas.microsoft.com/office/drawing/2014/main" val="25023609"/>
                        </a:ext>
                      </a:extLst>
                    </a:gridCol>
                    <a:gridCol w="750532">
                      <a:extLst>
                        <a:ext uri="{9D8B030D-6E8A-4147-A177-3AD203B41FA5}">
                          <a16:colId xmlns:a16="http://schemas.microsoft.com/office/drawing/2014/main" val="3226397480"/>
                        </a:ext>
                      </a:extLst>
                    </a:gridCol>
                    <a:gridCol w="920952">
                      <a:extLst>
                        <a:ext uri="{9D8B030D-6E8A-4147-A177-3AD203B41FA5}">
                          <a16:colId xmlns:a16="http://schemas.microsoft.com/office/drawing/2014/main" val="8183989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#</a:t>
                          </a:r>
                          <a:r>
                            <a:rPr lang="en-US" baseline="0" dirty="0" smtClean="0"/>
                            <a:t> Books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56223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-4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11752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-2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65885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72646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4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51735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9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1757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b="1" i="1" u="sng" dirty="0" smtClean="0"/>
                            <a:t>19</a:t>
                          </a:r>
                          <a:endParaRPr lang="en-US" b="1" i="1" u="sn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083341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6172964"/>
                  </p:ext>
                </p:extLst>
              </p:nvPr>
            </p:nvGraphicFramePr>
            <p:xfrm>
              <a:off x="7003026" y="1690688"/>
              <a:ext cx="2760406" cy="259588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88922">
                      <a:extLst>
                        <a:ext uri="{9D8B030D-6E8A-4147-A177-3AD203B41FA5}">
                          <a16:colId xmlns:a16="http://schemas.microsoft.com/office/drawing/2014/main" val="25023609"/>
                        </a:ext>
                      </a:extLst>
                    </a:gridCol>
                    <a:gridCol w="750532">
                      <a:extLst>
                        <a:ext uri="{9D8B030D-6E8A-4147-A177-3AD203B41FA5}">
                          <a16:colId xmlns:a16="http://schemas.microsoft.com/office/drawing/2014/main" val="3226397480"/>
                        </a:ext>
                      </a:extLst>
                    </a:gridCol>
                    <a:gridCol w="920952">
                      <a:extLst>
                        <a:ext uri="{9D8B030D-6E8A-4147-A177-3AD203B41FA5}">
                          <a16:colId xmlns:a16="http://schemas.microsoft.com/office/drawing/2014/main" val="8183989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#</a:t>
                          </a:r>
                          <a:r>
                            <a:rPr lang="en-US" baseline="0" dirty="0" smtClean="0"/>
                            <a:t> Books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5161" t="-8197" r="-12500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325" t="-8197" r="-2649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56223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-4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11752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-2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65885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72646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4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51735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9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1757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b="1" i="1" u="sng" dirty="0" smtClean="0"/>
                            <a:t>19</a:t>
                          </a:r>
                          <a:endParaRPr lang="en-US" b="1" i="1" u="sn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083341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982200" y="3866357"/>
                <a:ext cx="534634" cy="5217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2200" y="3866357"/>
                <a:ext cx="534634" cy="521746"/>
              </a:xfrm>
              <a:prstGeom prst="rect">
                <a:avLst/>
              </a:prstGeom>
              <a:blipFill>
                <a:blip r:embed="rId4"/>
                <a:stretch>
                  <a:fillRect l="-122989" t="-144186" r="-132184" b="-20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1926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of Absolute Errors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26422205"/>
                  </p:ext>
                </p:extLst>
              </p:nvPr>
            </p:nvGraphicFramePr>
            <p:xfrm>
              <a:off x="2286856" y="1957814"/>
              <a:ext cx="2760406" cy="259588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88922">
                      <a:extLst>
                        <a:ext uri="{9D8B030D-6E8A-4147-A177-3AD203B41FA5}">
                          <a16:colId xmlns:a16="http://schemas.microsoft.com/office/drawing/2014/main" val="25023609"/>
                        </a:ext>
                      </a:extLst>
                    </a:gridCol>
                    <a:gridCol w="750532">
                      <a:extLst>
                        <a:ext uri="{9D8B030D-6E8A-4147-A177-3AD203B41FA5}">
                          <a16:colId xmlns:a16="http://schemas.microsoft.com/office/drawing/2014/main" val="3226397480"/>
                        </a:ext>
                      </a:extLst>
                    </a:gridCol>
                    <a:gridCol w="920952">
                      <a:extLst>
                        <a:ext uri="{9D8B030D-6E8A-4147-A177-3AD203B41FA5}">
                          <a16:colId xmlns:a16="http://schemas.microsoft.com/office/drawing/2014/main" val="8183989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#</a:t>
                          </a:r>
                          <a:r>
                            <a:rPr lang="en-US" baseline="0" dirty="0" smtClean="0"/>
                            <a:t> Books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56223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-4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11752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-2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65885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72646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4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51735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9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1757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b="1" i="1" u="sng" dirty="0" smtClean="0"/>
                            <a:t>19</a:t>
                          </a:r>
                          <a:endParaRPr lang="en-US" b="1" i="1" u="sn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083341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26422205"/>
                  </p:ext>
                </p:extLst>
              </p:nvPr>
            </p:nvGraphicFramePr>
            <p:xfrm>
              <a:off x="2286856" y="1957814"/>
              <a:ext cx="2760406" cy="259588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88922">
                      <a:extLst>
                        <a:ext uri="{9D8B030D-6E8A-4147-A177-3AD203B41FA5}">
                          <a16:colId xmlns:a16="http://schemas.microsoft.com/office/drawing/2014/main" val="25023609"/>
                        </a:ext>
                      </a:extLst>
                    </a:gridCol>
                    <a:gridCol w="750532">
                      <a:extLst>
                        <a:ext uri="{9D8B030D-6E8A-4147-A177-3AD203B41FA5}">
                          <a16:colId xmlns:a16="http://schemas.microsoft.com/office/drawing/2014/main" val="3226397480"/>
                        </a:ext>
                      </a:extLst>
                    </a:gridCol>
                    <a:gridCol w="920952">
                      <a:extLst>
                        <a:ext uri="{9D8B030D-6E8A-4147-A177-3AD203B41FA5}">
                          <a16:colId xmlns:a16="http://schemas.microsoft.com/office/drawing/2014/main" val="8183989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#</a:t>
                          </a:r>
                          <a:r>
                            <a:rPr lang="en-US" baseline="0" dirty="0" smtClean="0"/>
                            <a:t> Books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6341" t="-8197" r="-126829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662" t="-8197" r="-3311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56223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-4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11752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-2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65885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72646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4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51735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9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1757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b="1" i="1" u="sng" dirty="0" smtClean="0"/>
                            <a:t>19</a:t>
                          </a:r>
                          <a:endParaRPr lang="en-US" b="1" i="1" u="sn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0833414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2877756272"/>
              </p:ext>
            </p:extLst>
          </p:nvPr>
        </p:nvGraphicFramePr>
        <p:xfrm>
          <a:off x="5609689" y="1957814"/>
          <a:ext cx="5029200" cy="32307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838199" y="5455578"/>
            <a:ext cx="10751050" cy="586448"/>
          </a:xfrm>
        </p:spPr>
        <p:txBody>
          <a:bodyPr>
            <a:normAutofit/>
          </a:bodyPr>
          <a:lstStyle/>
          <a:p>
            <a:r>
              <a:rPr lang="en-US" dirty="0" smtClean="0"/>
              <a:t>The median will always produce the smallest sum of absolute errors.</a:t>
            </a:r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8507002" y="2167847"/>
            <a:ext cx="0" cy="2126751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9598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of Absolute Errors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7904103"/>
                  </p:ext>
                </p:extLst>
              </p:nvPr>
            </p:nvGraphicFramePr>
            <p:xfrm>
              <a:off x="2286856" y="1957814"/>
              <a:ext cx="2760406" cy="259588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88922">
                      <a:extLst>
                        <a:ext uri="{9D8B030D-6E8A-4147-A177-3AD203B41FA5}">
                          <a16:colId xmlns:a16="http://schemas.microsoft.com/office/drawing/2014/main" val="25023609"/>
                        </a:ext>
                      </a:extLst>
                    </a:gridCol>
                    <a:gridCol w="750532">
                      <a:extLst>
                        <a:ext uri="{9D8B030D-6E8A-4147-A177-3AD203B41FA5}">
                          <a16:colId xmlns:a16="http://schemas.microsoft.com/office/drawing/2014/main" val="3226397480"/>
                        </a:ext>
                      </a:extLst>
                    </a:gridCol>
                    <a:gridCol w="920952">
                      <a:extLst>
                        <a:ext uri="{9D8B030D-6E8A-4147-A177-3AD203B41FA5}">
                          <a16:colId xmlns:a16="http://schemas.microsoft.com/office/drawing/2014/main" val="8183989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#</a:t>
                          </a:r>
                          <a:r>
                            <a:rPr lang="en-US" baseline="0" dirty="0" smtClean="0"/>
                            <a:t> Books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56223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-4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11752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-2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65885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72646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4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51735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b="1" dirty="0" smtClean="0"/>
                            <a:t>140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b="1" dirty="0" smtClean="0"/>
                            <a:t>5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b="1" dirty="0" smtClean="0"/>
                            <a:t>135</a:t>
                          </a:r>
                          <a:endParaRPr lang="en-US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1757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b="1" i="1" u="sng" dirty="0" smtClean="0"/>
                            <a:t>145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083341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7904103"/>
                  </p:ext>
                </p:extLst>
              </p:nvPr>
            </p:nvGraphicFramePr>
            <p:xfrm>
              <a:off x="2286856" y="1957814"/>
              <a:ext cx="2760406" cy="259588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88922">
                      <a:extLst>
                        <a:ext uri="{9D8B030D-6E8A-4147-A177-3AD203B41FA5}">
                          <a16:colId xmlns:a16="http://schemas.microsoft.com/office/drawing/2014/main" val="25023609"/>
                        </a:ext>
                      </a:extLst>
                    </a:gridCol>
                    <a:gridCol w="750532">
                      <a:extLst>
                        <a:ext uri="{9D8B030D-6E8A-4147-A177-3AD203B41FA5}">
                          <a16:colId xmlns:a16="http://schemas.microsoft.com/office/drawing/2014/main" val="3226397480"/>
                        </a:ext>
                      </a:extLst>
                    </a:gridCol>
                    <a:gridCol w="920952">
                      <a:extLst>
                        <a:ext uri="{9D8B030D-6E8A-4147-A177-3AD203B41FA5}">
                          <a16:colId xmlns:a16="http://schemas.microsoft.com/office/drawing/2014/main" val="8183989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#</a:t>
                          </a:r>
                          <a:r>
                            <a:rPr lang="en-US" baseline="0" dirty="0" smtClean="0"/>
                            <a:t> Books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6341" t="-8197" r="-126829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662" t="-8197" r="-3311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56223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-4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11752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-2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65885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72646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4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51735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b="1" dirty="0" smtClean="0"/>
                            <a:t>140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b="1" dirty="0" smtClean="0"/>
                            <a:t>5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b="1" dirty="0" smtClean="0"/>
                            <a:t>135</a:t>
                          </a:r>
                          <a:endParaRPr lang="en-US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1757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b="1" i="1" u="sng" dirty="0" smtClean="0"/>
                            <a:t>145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0833414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2732309331"/>
              </p:ext>
            </p:extLst>
          </p:nvPr>
        </p:nvGraphicFramePr>
        <p:xfrm>
          <a:off x="5609689" y="1957814"/>
          <a:ext cx="5029200" cy="32307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838199" y="5455578"/>
            <a:ext cx="10751050" cy="586448"/>
          </a:xfrm>
        </p:spPr>
        <p:txBody>
          <a:bodyPr>
            <a:normAutofit/>
          </a:bodyPr>
          <a:lstStyle/>
          <a:p>
            <a:r>
              <a:rPr lang="en-US" dirty="0" smtClean="0"/>
              <a:t>The median will </a:t>
            </a:r>
            <a:r>
              <a:rPr lang="en-US" b="1" i="1" u="sng" dirty="0" smtClean="0"/>
              <a:t>always</a:t>
            </a:r>
            <a:r>
              <a:rPr lang="en-US" dirty="0" smtClean="0"/>
              <a:t> produce the smallest sum of absolute errors.</a:t>
            </a:r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8507002" y="2167847"/>
            <a:ext cx="0" cy="2126751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6471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 of </a:t>
            </a:r>
            <a:r>
              <a:rPr lang="en-US" i="1" u="sng" dirty="0" smtClean="0"/>
              <a:t>Squared</a:t>
            </a:r>
            <a:r>
              <a:rPr lang="en-US" dirty="0" smtClean="0"/>
              <a:t> Errors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5257800" cy="4351338"/>
              </a:xfrm>
            </p:spPr>
            <p:txBody>
              <a:bodyPr/>
              <a:lstStyle/>
              <a:p>
                <a:r>
                  <a:rPr lang="en-US" dirty="0" smtClean="0"/>
                  <a:t>Estimating the number of books read over the summer by students.</a:t>
                </a:r>
              </a:p>
              <a:p>
                <a:endParaRPr lang="en-US" dirty="0"/>
              </a:p>
              <a:p>
                <a:r>
                  <a:rPr lang="en-US" dirty="0" smtClean="0"/>
                  <a:t>Pessimistic Estimate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5257800" cy="4351338"/>
              </a:xfrm>
              <a:blipFill>
                <a:blip r:embed="rId2"/>
                <a:stretch>
                  <a:fillRect l="-2088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8285781"/>
                  </p:ext>
                </p:extLst>
              </p:nvPr>
            </p:nvGraphicFramePr>
            <p:xfrm>
              <a:off x="7003024" y="1690688"/>
              <a:ext cx="3651276" cy="261054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80023">
                      <a:extLst>
                        <a:ext uri="{9D8B030D-6E8A-4147-A177-3AD203B41FA5}">
                          <a16:colId xmlns:a16="http://schemas.microsoft.com/office/drawing/2014/main" val="25023609"/>
                        </a:ext>
                      </a:extLst>
                    </a:gridCol>
                    <a:gridCol w="744399">
                      <a:extLst>
                        <a:ext uri="{9D8B030D-6E8A-4147-A177-3AD203B41FA5}">
                          <a16:colId xmlns:a16="http://schemas.microsoft.com/office/drawing/2014/main" val="3226397480"/>
                        </a:ext>
                      </a:extLst>
                    </a:gridCol>
                    <a:gridCol w="913427">
                      <a:extLst>
                        <a:ext uri="{9D8B030D-6E8A-4147-A177-3AD203B41FA5}">
                          <a16:colId xmlns:a16="http://schemas.microsoft.com/office/drawing/2014/main" val="818398925"/>
                        </a:ext>
                      </a:extLst>
                    </a:gridCol>
                    <a:gridCol w="913427">
                      <a:extLst>
                        <a:ext uri="{9D8B030D-6E8A-4147-A177-3AD203B41FA5}">
                          <a16:colId xmlns:a16="http://schemas.microsoft.com/office/drawing/2014/main" val="30050301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#</a:t>
                          </a:r>
                          <a:r>
                            <a:rPr lang="en-US" baseline="0" dirty="0" smtClean="0"/>
                            <a:t> Books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56223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11752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9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65885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25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72646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81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51735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196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1757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b="1" i="1" u="sn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b="1" i="1" u="sng" dirty="0" smtClean="0"/>
                            <a:t>312</a:t>
                          </a:r>
                          <a:endParaRPr lang="en-US" b="1" i="1" u="sn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083341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8285781"/>
                  </p:ext>
                </p:extLst>
              </p:nvPr>
            </p:nvGraphicFramePr>
            <p:xfrm>
              <a:off x="7003024" y="1690688"/>
              <a:ext cx="3651276" cy="261054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80023">
                      <a:extLst>
                        <a:ext uri="{9D8B030D-6E8A-4147-A177-3AD203B41FA5}">
                          <a16:colId xmlns:a16="http://schemas.microsoft.com/office/drawing/2014/main" val="25023609"/>
                        </a:ext>
                      </a:extLst>
                    </a:gridCol>
                    <a:gridCol w="744399">
                      <a:extLst>
                        <a:ext uri="{9D8B030D-6E8A-4147-A177-3AD203B41FA5}">
                          <a16:colId xmlns:a16="http://schemas.microsoft.com/office/drawing/2014/main" val="3226397480"/>
                        </a:ext>
                      </a:extLst>
                    </a:gridCol>
                    <a:gridCol w="913427">
                      <a:extLst>
                        <a:ext uri="{9D8B030D-6E8A-4147-A177-3AD203B41FA5}">
                          <a16:colId xmlns:a16="http://schemas.microsoft.com/office/drawing/2014/main" val="818398925"/>
                        </a:ext>
                      </a:extLst>
                    </a:gridCol>
                    <a:gridCol w="913427">
                      <a:extLst>
                        <a:ext uri="{9D8B030D-6E8A-4147-A177-3AD203B41FA5}">
                          <a16:colId xmlns:a16="http://schemas.microsoft.com/office/drawing/2014/main" val="3005030178"/>
                        </a:ext>
                      </a:extLst>
                    </a:gridCol>
                  </a:tblGrid>
                  <a:tr h="3855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#</a:t>
                          </a:r>
                          <a:r>
                            <a:rPr lang="en-US" baseline="0" dirty="0" smtClean="0"/>
                            <a:t> Books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4715" t="-7937" r="-247154" b="-6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667" t="-7937" r="-102667" b="-6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667" t="-7937" r="-2667" b="-6047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56223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11752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9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65885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25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72646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81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51735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196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1757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b="1" i="1" u="sn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b="1" i="1" u="sng" dirty="0" smtClean="0"/>
                            <a:t>312</a:t>
                          </a:r>
                          <a:endParaRPr lang="en-US" b="1" i="1" u="sn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083341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0837697" y="3866357"/>
                <a:ext cx="1032206" cy="5217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7697" y="3866357"/>
                <a:ext cx="1032206" cy="521746"/>
              </a:xfrm>
              <a:prstGeom prst="rect">
                <a:avLst/>
              </a:prstGeom>
              <a:blipFill>
                <a:blip r:embed="rId4"/>
                <a:stretch>
                  <a:fillRect l="-63314" t="-144186" r="-52663" b="-20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9055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 of </a:t>
            </a:r>
            <a:r>
              <a:rPr lang="en-US" i="1" u="sng" dirty="0" smtClean="0"/>
              <a:t>Squared</a:t>
            </a:r>
            <a:r>
              <a:rPr lang="en-US" dirty="0" smtClean="0"/>
              <a:t> Errors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5257800" cy="4351338"/>
              </a:xfrm>
            </p:spPr>
            <p:txBody>
              <a:bodyPr/>
              <a:lstStyle/>
              <a:p>
                <a:r>
                  <a:rPr lang="en-US" dirty="0" smtClean="0"/>
                  <a:t>Estimating the number of books read over the summer by students.</a:t>
                </a:r>
              </a:p>
              <a:p>
                <a:endParaRPr lang="en-US" dirty="0"/>
              </a:p>
              <a:p>
                <a:r>
                  <a:rPr lang="en-US" dirty="0" smtClean="0"/>
                  <a:t>Optimistic Estimate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=10+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5257800" cy="4351338"/>
              </a:xfrm>
              <a:blipFill>
                <a:blip r:embed="rId2"/>
                <a:stretch>
                  <a:fillRect l="-2088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7405788"/>
                  </p:ext>
                </p:extLst>
              </p:nvPr>
            </p:nvGraphicFramePr>
            <p:xfrm>
              <a:off x="7003024" y="1690688"/>
              <a:ext cx="3651276" cy="261054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80023">
                      <a:extLst>
                        <a:ext uri="{9D8B030D-6E8A-4147-A177-3AD203B41FA5}">
                          <a16:colId xmlns:a16="http://schemas.microsoft.com/office/drawing/2014/main" val="25023609"/>
                        </a:ext>
                      </a:extLst>
                    </a:gridCol>
                    <a:gridCol w="744399">
                      <a:extLst>
                        <a:ext uri="{9D8B030D-6E8A-4147-A177-3AD203B41FA5}">
                          <a16:colId xmlns:a16="http://schemas.microsoft.com/office/drawing/2014/main" val="3226397480"/>
                        </a:ext>
                      </a:extLst>
                    </a:gridCol>
                    <a:gridCol w="913427">
                      <a:extLst>
                        <a:ext uri="{9D8B030D-6E8A-4147-A177-3AD203B41FA5}">
                          <a16:colId xmlns:a16="http://schemas.microsoft.com/office/drawing/2014/main" val="818398925"/>
                        </a:ext>
                      </a:extLst>
                    </a:gridCol>
                    <a:gridCol w="913427">
                      <a:extLst>
                        <a:ext uri="{9D8B030D-6E8A-4147-A177-3AD203B41FA5}">
                          <a16:colId xmlns:a16="http://schemas.microsoft.com/office/drawing/2014/main" val="30050301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#</a:t>
                          </a:r>
                          <a:r>
                            <a:rPr lang="en-US" baseline="0" dirty="0" smtClean="0"/>
                            <a:t> Books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56223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-9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81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11752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-7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49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65885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-5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25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72646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-1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51735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16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1757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b="1" i="1" u="sn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b="1" i="1" u="sng" dirty="0" smtClean="0"/>
                            <a:t>172</a:t>
                          </a:r>
                          <a:endParaRPr lang="en-US" b="1" i="1" u="sn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083341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7405788"/>
                  </p:ext>
                </p:extLst>
              </p:nvPr>
            </p:nvGraphicFramePr>
            <p:xfrm>
              <a:off x="7003024" y="1690688"/>
              <a:ext cx="3651276" cy="261054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80023">
                      <a:extLst>
                        <a:ext uri="{9D8B030D-6E8A-4147-A177-3AD203B41FA5}">
                          <a16:colId xmlns:a16="http://schemas.microsoft.com/office/drawing/2014/main" val="25023609"/>
                        </a:ext>
                      </a:extLst>
                    </a:gridCol>
                    <a:gridCol w="744399">
                      <a:extLst>
                        <a:ext uri="{9D8B030D-6E8A-4147-A177-3AD203B41FA5}">
                          <a16:colId xmlns:a16="http://schemas.microsoft.com/office/drawing/2014/main" val="3226397480"/>
                        </a:ext>
                      </a:extLst>
                    </a:gridCol>
                    <a:gridCol w="913427">
                      <a:extLst>
                        <a:ext uri="{9D8B030D-6E8A-4147-A177-3AD203B41FA5}">
                          <a16:colId xmlns:a16="http://schemas.microsoft.com/office/drawing/2014/main" val="818398925"/>
                        </a:ext>
                      </a:extLst>
                    </a:gridCol>
                    <a:gridCol w="913427">
                      <a:extLst>
                        <a:ext uri="{9D8B030D-6E8A-4147-A177-3AD203B41FA5}">
                          <a16:colId xmlns:a16="http://schemas.microsoft.com/office/drawing/2014/main" val="3005030178"/>
                        </a:ext>
                      </a:extLst>
                    </a:gridCol>
                  </a:tblGrid>
                  <a:tr h="3855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#</a:t>
                          </a:r>
                          <a:r>
                            <a:rPr lang="en-US" baseline="0" dirty="0" smtClean="0"/>
                            <a:t> Books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4715" t="-7937" r="-247154" b="-6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667" t="-7937" r="-102667" b="-6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667" t="-7937" r="-2667" b="-6047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56223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-9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81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11752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-7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49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65885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-5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25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72646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-1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51735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16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1757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b="1" i="1" u="sn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b="1" i="1" u="sng" dirty="0" smtClean="0"/>
                            <a:t>172</a:t>
                          </a:r>
                          <a:endParaRPr lang="en-US" b="1" i="1" u="sn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083341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0837697" y="3866357"/>
                <a:ext cx="1032206" cy="5217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7697" y="3866357"/>
                <a:ext cx="1032206" cy="521746"/>
              </a:xfrm>
              <a:prstGeom prst="rect">
                <a:avLst/>
              </a:prstGeom>
              <a:blipFill>
                <a:blip r:embed="rId4"/>
                <a:stretch>
                  <a:fillRect l="-63314" t="-144186" r="-52663" b="-20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3853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 of </a:t>
            </a:r>
            <a:r>
              <a:rPr lang="en-US" i="1" u="sng" dirty="0" smtClean="0"/>
              <a:t>Squared</a:t>
            </a:r>
            <a:r>
              <a:rPr lang="en-US" dirty="0" smtClean="0"/>
              <a:t> Errors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5257800" cy="4351338"/>
              </a:xfrm>
            </p:spPr>
            <p:txBody>
              <a:bodyPr/>
              <a:lstStyle/>
              <a:p>
                <a:r>
                  <a:rPr lang="en-US" dirty="0" smtClean="0"/>
                  <a:t>Estimating the number of books read over the summer by students.</a:t>
                </a:r>
              </a:p>
              <a:p>
                <a:endParaRPr lang="en-US" dirty="0"/>
              </a:p>
              <a:p>
                <a:r>
                  <a:rPr lang="en-US" dirty="0" smtClean="0"/>
                  <a:t>Moderate Estimate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5257800" cy="4351338"/>
              </a:xfrm>
              <a:blipFill>
                <a:blip r:embed="rId2"/>
                <a:stretch>
                  <a:fillRect l="-2088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1825341"/>
                  </p:ext>
                </p:extLst>
              </p:nvPr>
            </p:nvGraphicFramePr>
            <p:xfrm>
              <a:off x="7003024" y="1690688"/>
              <a:ext cx="3651276" cy="261054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80023">
                      <a:extLst>
                        <a:ext uri="{9D8B030D-6E8A-4147-A177-3AD203B41FA5}">
                          <a16:colId xmlns:a16="http://schemas.microsoft.com/office/drawing/2014/main" val="25023609"/>
                        </a:ext>
                      </a:extLst>
                    </a:gridCol>
                    <a:gridCol w="744399">
                      <a:extLst>
                        <a:ext uri="{9D8B030D-6E8A-4147-A177-3AD203B41FA5}">
                          <a16:colId xmlns:a16="http://schemas.microsoft.com/office/drawing/2014/main" val="3226397480"/>
                        </a:ext>
                      </a:extLst>
                    </a:gridCol>
                    <a:gridCol w="913427">
                      <a:extLst>
                        <a:ext uri="{9D8B030D-6E8A-4147-A177-3AD203B41FA5}">
                          <a16:colId xmlns:a16="http://schemas.microsoft.com/office/drawing/2014/main" val="818398925"/>
                        </a:ext>
                      </a:extLst>
                    </a:gridCol>
                    <a:gridCol w="913427">
                      <a:extLst>
                        <a:ext uri="{9D8B030D-6E8A-4147-A177-3AD203B41FA5}">
                          <a16:colId xmlns:a16="http://schemas.microsoft.com/office/drawing/2014/main" val="30050301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#</a:t>
                          </a:r>
                          <a:r>
                            <a:rPr lang="en-US" baseline="0" dirty="0" smtClean="0"/>
                            <a:t> Books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56223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-4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16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11752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-2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4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65885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72646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16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51735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81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1757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b="1" i="1" u="sn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b="1" i="1" u="sng" dirty="0" smtClean="0"/>
                            <a:t>117</a:t>
                          </a:r>
                          <a:endParaRPr lang="en-US" b="1" i="1" u="sn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083341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1825341"/>
                  </p:ext>
                </p:extLst>
              </p:nvPr>
            </p:nvGraphicFramePr>
            <p:xfrm>
              <a:off x="7003024" y="1690688"/>
              <a:ext cx="3651276" cy="261054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80023">
                      <a:extLst>
                        <a:ext uri="{9D8B030D-6E8A-4147-A177-3AD203B41FA5}">
                          <a16:colId xmlns:a16="http://schemas.microsoft.com/office/drawing/2014/main" val="25023609"/>
                        </a:ext>
                      </a:extLst>
                    </a:gridCol>
                    <a:gridCol w="744399">
                      <a:extLst>
                        <a:ext uri="{9D8B030D-6E8A-4147-A177-3AD203B41FA5}">
                          <a16:colId xmlns:a16="http://schemas.microsoft.com/office/drawing/2014/main" val="3226397480"/>
                        </a:ext>
                      </a:extLst>
                    </a:gridCol>
                    <a:gridCol w="913427">
                      <a:extLst>
                        <a:ext uri="{9D8B030D-6E8A-4147-A177-3AD203B41FA5}">
                          <a16:colId xmlns:a16="http://schemas.microsoft.com/office/drawing/2014/main" val="818398925"/>
                        </a:ext>
                      </a:extLst>
                    </a:gridCol>
                    <a:gridCol w="913427">
                      <a:extLst>
                        <a:ext uri="{9D8B030D-6E8A-4147-A177-3AD203B41FA5}">
                          <a16:colId xmlns:a16="http://schemas.microsoft.com/office/drawing/2014/main" val="3005030178"/>
                        </a:ext>
                      </a:extLst>
                    </a:gridCol>
                  </a:tblGrid>
                  <a:tr h="3855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#</a:t>
                          </a:r>
                          <a:r>
                            <a:rPr lang="en-US" baseline="0" dirty="0" smtClean="0"/>
                            <a:t> Books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4715" t="-7937" r="-247154" b="-6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667" t="-7937" r="-102667" b="-6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667" t="-7937" r="-2667" b="-6047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56223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-4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16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11752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-2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4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65885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72646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16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51735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81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1757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b="1" i="1" u="sn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b="1" i="1" u="sng" dirty="0" smtClean="0"/>
                            <a:t>117</a:t>
                          </a:r>
                          <a:endParaRPr lang="en-US" b="1" i="1" u="sn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083341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0837697" y="3866357"/>
                <a:ext cx="1032206" cy="5217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7697" y="3866357"/>
                <a:ext cx="1032206" cy="521746"/>
              </a:xfrm>
              <a:prstGeom prst="rect">
                <a:avLst/>
              </a:prstGeom>
              <a:blipFill>
                <a:blip r:embed="rId4"/>
                <a:stretch>
                  <a:fillRect l="-63314" t="-144186" r="-52663" b="-20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0534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of </a:t>
            </a:r>
            <a:r>
              <a:rPr lang="en-US" i="1" u="sng" dirty="0" smtClean="0"/>
              <a:t>Square</a:t>
            </a:r>
            <a:r>
              <a:rPr lang="en-US" dirty="0" smtClean="0"/>
              <a:t> </a:t>
            </a:r>
            <a:r>
              <a:rPr lang="en-US" dirty="0"/>
              <a:t>Errors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1931806745"/>
              </p:ext>
            </p:extLst>
          </p:nvPr>
        </p:nvGraphicFramePr>
        <p:xfrm>
          <a:off x="5609689" y="1957814"/>
          <a:ext cx="5029200" cy="32307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838199" y="5455578"/>
            <a:ext cx="10751050" cy="586448"/>
          </a:xfrm>
        </p:spPr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b="1" i="1" u="sng" dirty="0" smtClean="0"/>
              <a:t>mean</a:t>
            </a:r>
            <a:r>
              <a:rPr lang="en-US" dirty="0" smtClean="0"/>
              <a:t> will always produce the smallest sum of </a:t>
            </a:r>
            <a:r>
              <a:rPr lang="en-US" b="1" i="1" u="sng" dirty="0" smtClean="0"/>
              <a:t>squared</a:t>
            </a:r>
            <a:r>
              <a:rPr lang="en-US" dirty="0" smtClean="0"/>
              <a:t> errors.</a:t>
            </a:r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9072072" y="2167847"/>
            <a:ext cx="0" cy="2126751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7467186"/>
                  </p:ext>
                </p:extLst>
              </p:nvPr>
            </p:nvGraphicFramePr>
            <p:xfrm>
              <a:off x="838199" y="2005012"/>
              <a:ext cx="3651276" cy="261054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80023">
                      <a:extLst>
                        <a:ext uri="{9D8B030D-6E8A-4147-A177-3AD203B41FA5}">
                          <a16:colId xmlns:a16="http://schemas.microsoft.com/office/drawing/2014/main" val="25023609"/>
                        </a:ext>
                      </a:extLst>
                    </a:gridCol>
                    <a:gridCol w="744399">
                      <a:extLst>
                        <a:ext uri="{9D8B030D-6E8A-4147-A177-3AD203B41FA5}">
                          <a16:colId xmlns:a16="http://schemas.microsoft.com/office/drawing/2014/main" val="3226397480"/>
                        </a:ext>
                      </a:extLst>
                    </a:gridCol>
                    <a:gridCol w="913427">
                      <a:extLst>
                        <a:ext uri="{9D8B030D-6E8A-4147-A177-3AD203B41FA5}">
                          <a16:colId xmlns:a16="http://schemas.microsoft.com/office/drawing/2014/main" val="818398925"/>
                        </a:ext>
                      </a:extLst>
                    </a:gridCol>
                    <a:gridCol w="913427">
                      <a:extLst>
                        <a:ext uri="{9D8B030D-6E8A-4147-A177-3AD203B41FA5}">
                          <a16:colId xmlns:a16="http://schemas.microsoft.com/office/drawing/2014/main" val="30050301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#</a:t>
                          </a:r>
                          <a:r>
                            <a:rPr lang="en-US" baseline="0" dirty="0" smtClean="0"/>
                            <a:t> Books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56223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6.4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-5.4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29.16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3211752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6.4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-3.4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11.56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6965885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6.4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-1.4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1.96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772646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6.4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6.76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6351735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6.4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57.76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961757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b="1" i="1" u="sn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b="1" i="1" u="sng" dirty="0" smtClean="0"/>
                            <a:t>107.2</a:t>
                          </a:r>
                          <a:endParaRPr lang="en-US" b="1" i="1" u="sn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083341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7467186"/>
                  </p:ext>
                </p:extLst>
              </p:nvPr>
            </p:nvGraphicFramePr>
            <p:xfrm>
              <a:off x="838199" y="2005012"/>
              <a:ext cx="3651276" cy="261054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80023">
                      <a:extLst>
                        <a:ext uri="{9D8B030D-6E8A-4147-A177-3AD203B41FA5}">
                          <a16:colId xmlns:a16="http://schemas.microsoft.com/office/drawing/2014/main" val="25023609"/>
                        </a:ext>
                      </a:extLst>
                    </a:gridCol>
                    <a:gridCol w="744399">
                      <a:extLst>
                        <a:ext uri="{9D8B030D-6E8A-4147-A177-3AD203B41FA5}">
                          <a16:colId xmlns:a16="http://schemas.microsoft.com/office/drawing/2014/main" val="3226397480"/>
                        </a:ext>
                      </a:extLst>
                    </a:gridCol>
                    <a:gridCol w="913427">
                      <a:extLst>
                        <a:ext uri="{9D8B030D-6E8A-4147-A177-3AD203B41FA5}">
                          <a16:colId xmlns:a16="http://schemas.microsoft.com/office/drawing/2014/main" val="818398925"/>
                        </a:ext>
                      </a:extLst>
                    </a:gridCol>
                    <a:gridCol w="913427">
                      <a:extLst>
                        <a:ext uri="{9D8B030D-6E8A-4147-A177-3AD203B41FA5}">
                          <a16:colId xmlns:a16="http://schemas.microsoft.com/office/drawing/2014/main" val="3005030178"/>
                        </a:ext>
                      </a:extLst>
                    </a:gridCol>
                  </a:tblGrid>
                  <a:tr h="3855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#</a:t>
                          </a:r>
                          <a:r>
                            <a:rPr lang="en-US" baseline="0" dirty="0" smtClean="0"/>
                            <a:t> Books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4715" t="-7937" r="-247154" b="-6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667" t="-7937" r="-102667" b="-6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667" t="-7937" r="-2667" b="-6047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56223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6.4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-5.4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29.16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3211752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6.4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-3.4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11.56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6965885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6.4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-1.4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1.96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772646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6.4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6.76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6351735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6.4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57.76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961757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b="1" i="1" u="sn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b="1" i="1" u="sng" dirty="0" smtClean="0"/>
                            <a:t>107.2</a:t>
                          </a:r>
                          <a:endParaRPr lang="en-US" b="1" i="1" u="sn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083341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/>
          <p:cNvSpPr txBox="1"/>
          <p:nvPr/>
        </p:nvSpPr>
        <p:spPr>
          <a:xfrm>
            <a:off x="8833866" y="1768337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6.4</a:t>
            </a:r>
          </a:p>
        </p:txBody>
      </p:sp>
    </p:spTree>
    <p:extLst>
      <p:ext uri="{BB962C8B-B14F-4D97-AF65-F5344CB8AC3E}">
        <p14:creationId xmlns:p14="http://schemas.microsoft.com/office/powerpoint/2010/main" val="3178397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of </a:t>
            </a:r>
            <a:r>
              <a:rPr lang="en-US" i="1" u="sng" dirty="0" smtClean="0"/>
              <a:t>Square</a:t>
            </a:r>
            <a:r>
              <a:rPr lang="en-US" dirty="0" smtClean="0"/>
              <a:t> </a:t>
            </a:r>
            <a:r>
              <a:rPr lang="en-US" dirty="0"/>
              <a:t>Errors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3357771816"/>
              </p:ext>
            </p:extLst>
          </p:nvPr>
        </p:nvGraphicFramePr>
        <p:xfrm>
          <a:off x="5609689" y="1957814"/>
          <a:ext cx="5029200" cy="32307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838199" y="5455578"/>
            <a:ext cx="10751050" cy="900772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The </a:t>
            </a:r>
            <a:r>
              <a:rPr lang="en-US" b="1" i="1" u="sng" dirty="0" smtClean="0"/>
              <a:t>mean</a:t>
            </a:r>
            <a:r>
              <a:rPr lang="en-US" dirty="0" smtClean="0"/>
              <a:t> will always produce the smallest sum of </a:t>
            </a:r>
            <a:r>
              <a:rPr lang="en-US" b="1" i="1" u="sng" dirty="0" smtClean="0"/>
              <a:t>squared</a:t>
            </a:r>
            <a:r>
              <a:rPr lang="en-US" dirty="0" smtClean="0"/>
              <a:t> errors.</a:t>
            </a:r>
          </a:p>
          <a:p>
            <a:r>
              <a:rPr lang="en-US" dirty="0" smtClean="0"/>
              <a:t>But also note that the mean is sensitive to outliers, whereas the median is not. </a:t>
            </a:r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9113168" y="2167847"/>
            <a:ext cx="0" cy="2126751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6734563"/>
                  </p:ext>
                </p:extLst>
              </p:nvPr>
            </p:nvGraphicFramePr>
            <p:xfrm>
              <a:off x="838199" y="2005012"/>
              <a:ext cx="3651276" cy="261054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959779">
                      <a:extLst>
                        <a:ext uri="{9D8B030D-6E8A-4147-A177-3AD203B41FA5}">
                          <a16:colId xmlns:a16="http://schemas.microsoft.com/office/drawing/2014/main" val="25023609"/>
                        </a:ext>
                      </a:extLst>
                    </a:gridCol>
                    <a:gridCol w="729465">
                      <a:extLst>
                        <a:ext uri="{9D8B030D-6E8A-4147-A177-3AD203B41FA5}">
                          <a16:colId xmlns:a16="http://schemas.microsoft.com/office/drawing/2014/main" val="3226397480"/>
                        </a:ext>
                      </a:extLst>
                    </a:gridCol>
                    <a:gridCol w="791110">
                      <a:extLst>
                        <a:ext uri="{9D8B030D-6E8A-4147-A177-3AD203B41FA5}">
                          <a16:colId xmlns:a16="http://schemas.microsoft.com/office/drawing/2014/main" val="818398925"/>
                        </a:ext>
                      </a:extLst>
                    </a:gridCol>
                    <a:gridCol w="1170922">
                      <a:extLst>
                        <a:ext uri="{9D8B030D-6E8A-4147-A177-3AD203B41FA5}">
                          <a16:colId xmlns:a16="http://schemas.microsoft.com/office/drawing/2014/main" val="30050301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#</a:t>
                          </a:r>
                          <a:r>
                            <a:rPr lang="en-US" baseline="0" dirty="0" smtClean="0"/>
                            <a:t> Books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56223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31.6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-30.6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936.36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3211752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31.6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-28.6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817.96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6965885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31.6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-26.6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707.56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772646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31.6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-22.6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510.76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6351735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31.6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108.4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11750.56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961757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b="1" i="1" u="sn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b="1" i="1" u="sng" dirty="0" smtClean="0"/>
                            <a:t>14723.2</a:t>
                          </a:r>
                          <a:endParaRPr lang="en-US" b="1" i="1" u="sn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083341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6734563"/>
                  </p:ext>
                </p:extLst>
              </p:nvPr>
            </p:nvGraphicFramePr>
            <p:xfrm>
              <a:off x="838199" y="2005012"/>
              <a:ext cx="3651276" cy="261054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959779">
                      <a:extLst>
                        <a:ext uri="{9D8B030D-6E8A-4147-A177-3AD203B41FA5}">
                          <a16:colId xmlns:a16="http://schemas.microsoft.com/office/drawing/2014/main" val="25023609"/>
                        </a:ext>
                      </a:extLst>
                    </a:gridCol>
                    <a:gridCol w="729465">
                      <a:extLst>
                        <a:ext uri="{9D8B030D-6E8A-4147-A177-3AD203B41FA5}">
                          <a16:colId xmlns:a16="http://schemas.microsoft.com/office/drawing/2014/main" val="3226397480"/>
                        </a:ext>
                      </a:extLst>
                    </a:gridCol>
                    <a:gridCol w="791110">
                      <a:extLst>
                        <a:ext uri="{9D8B030D-6E8A-4147-A177-3AD203B41FA5}">
                          <a16:colId xmlns:a16="http://schemas.microsoft.com/office/drawing/2014/main" val="818398925"/>
                        </a:ext>
                      </a:extLst>
                    </a:gridCol>
                    <a:gridCol w="1170922">
                      <a:extLst>
                        <a:ext uri="{9D8B030D-6E8A-4147-A177-3AD203B41FA5}">
                          <a16:colId xmlns:a16="http://schemas.microsoft.com/office/drawing/2014/main" val="3005030178"/>
                        </a:ext>
                      </a:extLst>
                    </a:gridCol>
                  </a:tblGrid>
                  <a:tr h="3855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#</a:t>
                          </a:r>
                          <a:r>
                            <a:rPr lang="en-US" baseline="0" dirty="0" smtClean="0"/>
                            <a:t> Books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32500" t="-7937" r="-271667" b="-6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14615" t="-7937" r="-150769" b="-6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13021" t="-7937" r="-2083" b="-6047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56223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31.6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-30.6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936.36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3211752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31.6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-28.6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817.96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6965885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31.6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-26.6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707.56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772646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31.6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-22.6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510.76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6351735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31.6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108.4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11750.56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961757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b="1" i="1" u="sn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b="1" i="1" u="sng" dirty="0" smtClean="0"/>
                            <a:t>14723.2</a:t>
                          </a:r>
                          <a:endParaRPr lang="en-US" b="1" i="1" u="sn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083341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/>
          <p:cNvSpPr txBox="1"/>
          <p:nvPr/>
        </p:nvSpPr>
        <p:spPr>
          <a:xfrm>
            <a:off x="8833866" y="1768337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31.6</a:t>
            </a:r>
          </a:p>
        </p:txBody>
      </p:sp>
    </p:spTree>
    <p:extLst>
      <p:ext uri="{BB962C8B-B14F-4D97-AF65-F5344CB8AC3E}">
        <p14:creationId xmlns:p14="http://schemas.microsoft.com/office/powerpoint/2010/main" val="1801677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Describing Error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describing errors in a sample, </a:t>
            </a:r>
            <a:r>
              <a:rPr lang="en-US" b="1" i="1" u="sng" dirty="0" smtClean="0"/>
              <a:t>total</a:t>
            </a:r>
            <a:r>
              <a:rPr lang="en-US" dirty="0" smtClean="0"/>
              <a:t> error is not especially useful, as larger samples will likely produce more error. </a:t>
            </a:r>
          </a:p>
          <a:p>
            <a:endParaRPr lang="en-US" dirty="0"/>
          </a:p>
          <a:p>
            <a:r>
              <a:rPr lang="en-US" dirty="0" smtClean="0"/>
              <a:t>We need to standardize </a:t>
            </a:r>
            <a:r>
              <a:rPr lang="en-US" dirty="0" smtClean="0"/>
              <a:t>our </a:t>
            </a:r>
            <a:r>
              <a:rPr lang="en-US" dirty="0" smtClean="0"/>
              <a:t>sums of errors </a:t>
            </a:r>
            <a:r>
              <a:rPr lang="en-US" dirty="0" smtClean="0"/>
              <a:t>with respect to the </a:t>
            </a:r>
            <a:r>
              <a:rPr lang="en-US" dirty="0" smtClean="0"/>
              <a:t>sample size.</a:t>
            </a:r>
          </a:p>
          <a:p>
            <a:pPr lvl="1"/>
            <a:r>
              <a:rPr lang="en-US" dirty="0" smtClean="0"/>
              <a:t>For SAE, we will take median absolute error. </a:t>
            </a:r>
          </a:p>
          <a:p>
            <a:pPr lvl="1"/>
            <a:endParaRPr lang="en-US" dirty="0"/>
          </a:p>
          <a:p>
            <a:pPr lvl="1"/>
            <a:r>
              <a:rPr lang="en-US" dirty="0" smtClean="0"/>
              <a:t>For SSE, we will take the mean </a:t>
            </a:r>
            <a:r>
              <a:rPr lang="en-US" dirty="0" smtClean="0"/>
              <a:t>squared-error </a:t>
            </a:r>
            <a:r>
              <a:rPr lang="en-US" dirty="0" smtClean="0"/>
              <a:t>(a </a:t>
            </a:r>
            <a:r>
              <a:rPr lang="en-US" i="1" dirty="0" smtClean="0"/>
              <a:t>variance</a:t>
            </a:r>
            <a:r>
              <a:rPr lang="en-US" dirty="0" smtClean="0"/>
              <a:t>) or the root mean </a:t>
            </a:r>
            <a:r>
              <a:rPr lang="en-US" dirty="0" smtClean="0"/>
              <a:t>squared-error </a:t>
            </a:r>
            <a:r>
              <a:rPr lang="en-US" dirty="0" smtClean="0"/>
              <a:t>(a </a:t>
            </a:r>
            <a:r>
              <a:rPr lang="en-US" i="1" dirty="0" smtClean="0"/>
              <a:t>standard deviation</a:t>
            </a:r>
            <a:r>
              <a:rPr lang="en-US" dirty="0" smtClean="0"/>
              <a:t>).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1506027" y="5640592"/>
                <a:ext cx="2804935" cy="6024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𝑆𝑆𝐸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6027" y="5640592"/>
                <a:ext cx="2804935" cy="60247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655905" y="5424699"/>
                <a:ext cx="3209020" cy="8183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𝑅𝑀𝑆𝐸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𝑀𝑆𝐸</m:t>
                          </m:r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5905" y="5424699"/>
                <a:ext cx="3209020" cy="818366"/>
              </a:xfrm>
              <a:prstGeom prst="rect">
                <a:avLst/>
              </a:prstGeom>
              <a:blipFill>
                <a:blip r:embed="rId3"/>
                <a:stretch>
                  <a:fillRect b="-7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116826" y="6352143"/>
            <a:ext cx="7535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[Where n = number of observations and p = number of </a:t>
            </a:r>
            <a:r>
              <a:rPr lang="en-US" b="1" i="1" u="sng" dirty="0" smtClean="0"/>
              <a:t>estimated</a:t>
            </a:r>
            <a:r>
              <a:rPr lang="en-US" dirty="0" smtClean="0"/>
              <a:t> parameters</a:t>
            </a:r>
            <a:r>
              <a:rPr lang="en-US" dirty="0" smtClean="0"/>
              <a:t>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955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Describing Error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Thus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we are </a:t>
                </a:r>
                <a:r>
                  <a:rPr lang="en-US" b="1" i="1" u="sng" dirty="0" smtClean="0"/>
                  <a:t>estimating</a:t>
                </a:r>
                <a:r>
                  <a:rPr lang="en-US" dirty="0" smtClean="0"/>
                  <a:t> one parameter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/>
                  <a:t>), so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 smtClean="0"/>
                  <a:t> is really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−1</m:t>
                    </m:r>
                  </m:oMath>
                </a14:m>
                <a:r>
                  <a:rPr lang="en-US" dirty="0" smtClean="0"/>
                  <a:t>.</a:t>
                </a:r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r>
                  <a:rPr lang="en-US" dirty="0" smtClean="0"/>
                  <a:t>Additionally, the besting fitting estimate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/>
                  <a:t>) will be the mean of all of the observations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 smtClean="0"/>
                  <a:t>). Thus, for each person we predict the mean and can write:   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5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491490" y="2871035"/>
                <a:ext cx="3209020" cy="8183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𝑅𝑀𝑆𝐸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𝑀𝑆𝐸</m:t>
                          </m:r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1490" y="2871035"/>
                <a:ext cx="3209020" cy="818366"/>
              </a:xfrm>
              <a:prstGeom prst="rect">
                <a:avLst/>
              </a:prstGeom>
              <a:blipFill>
                <a:blip r:embed="rId3"/>
                <a:stretch>
                  <a:fillRect b="-7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872040" y="5299816"/>
                <a:ext cx="3238900" cy="8183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𝑅𝑀𝑆𝐸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𝑀𝑆𝐸</m:t>
                          </m:r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2040" y="5299816"/>
                <a:ext cx="3238900" cy="818366"/>
              </a:xfrm>
              <a:prstGeom prst="rect">
                <a:avLst/>
              </a:prstGeom>
              <a:blipFill>
                <a:blip r:embed="rId4"/>
                <a:stretch>
                  <a:fillRect b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6983537" y="5257166"/>
            <a:ext cx="4589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[Which is the formula for the standard deviation in a sample you have probably encounter before.]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067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3561</TotalTime>
  <Words>677</Words>
  <Application>Microsoft Office PowerPoint</Application>
  <PresentationFormat>Widescreen</PresentationFormat>
  <Paragraphs>365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Office Theme</vt:lpstr>
      <vt:lpstr>Definitions of Error and Parameter Estimates.</vt:lpstr>
      <vt:lpstr>Definition of Errors</vt:lpstr>
      <vt:lpstr>Definition of Errors</vt:lpstr>
      <vt:lpstr>Different Methods of Calculating Errors</vt:lpstr>
      <vt:lpstr>Sum of Absolute Errors</vt:lpstr>
      <vt:lpstr>Sum of Absolute Errors</vt:lpstr>
      <vt:lpstr>Sum of Absolute Errors</vt:lpstr>
      <vt:lpstr>Sum of Absolute Errors</vt:lpstr>
      <vt:lpstr>Sum of Absolute Errors</vt:lpstr>
      <vt:lpstr>Sum of Squared Errors</vt:lpstr>
      <vt:lpstr>Sum of Squared Errors</vt:lpstr>
      <vt:lpstr>Sum of Squared Errors</vt:lpstr>
      <vt:lpstr>Sum of Square Errors</vt:lpstr>
      <vt:lpstr>Sum of Square Errors</vt:lpstr>
      <vt:lpstr>Describing Error</vt:lpstr>
      <vt:lpstr>Describing Error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Measurement in medic</dc:title>
  <dc:creator>Keith Lohse</dc:creator>
  <cp:lastModifiedBy>Keith Lohse</cp:lastModifiedBy>
  <cp:revision>356</cp:revision>
  <dcterms:created xsi:type="dcterms:W3CDTF">2017-01-28T12:59:49Z</dcterms:created>
  <dcterms:modified xsi:type="dcterms:W3CDTF">2018-12-29T19:10:51Z</dcterms:modified>
</cp:coreProperties>
</file>
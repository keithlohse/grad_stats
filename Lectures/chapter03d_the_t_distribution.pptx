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22"/>
  </p:notesMasterIdLst>
  <p:sldIdLst>
    <p:sldId id="382" r:id="rId2"/>
    <p:sldId id="383" r:id="rId3"/>
    <p:sldId id="384" r:id="rId4"/>
    <p:sldId id="385" r:id="rId5"/>
    <p:sldId id="386" r:id="rId6"/>
    <p:sldId id="387" r:id="rId7"/>
    <p:sldId id="388" r:id="rId8"/>
    <p:sldId id="389" r:id="rId9"/>
    <p:sldId id="390" r:id="rId10"/>
    <p:sldId id="391" r:id="rId11"/>
    <p:sldId id="392" r:id="rId12"/>
    <p:sldId id="393" r:id="rId13"/>
    <p:sldId id="394" r:id="rId14"/>
    <p:sldId id="395" r:id="rId15"/>
    <p:sldId id="396" r:id="rId16"/>
    <p:sldId id="397" r:id="rId17"/>
    <p:sldId id="399" r:id="rId18"/>
    <p:sldId id="401" r:id="rId19"/>
    <p:sldId id="402" r:id="rId20"/>
    <p:sldId id="40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9797"/>
    <a:srgbClr val="A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84424" autoAdjust="0"/>
  </p:normalViewPr>
  <p:slideViewPr>
    <p:cSldViewPr snapToGrid="0">
      <p:cViewPr varScale="1">
        <p:scale>
          <a:sx n="97" d="100"/>
          <a:sy n="97" d="100"/>
        </p:scale>
        <p:origin x="103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25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76DDE-75BB-4B04-A0BD-5C17E33DC40E}" type="datetimeFigureOut">
              <a:rPr lang="en-US" smtClean="0"/>
              <a:t>1/12/2020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B62B-0753-4BDE-90F4-CDED710DE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73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B63A-1390-4120-94EB-00092381E02F}" type="datetime1">
              <a:rPr lang="en-US" smtClean="0"/>
              <a:t>1/12/2020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6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3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FB65-6EAB-49E5-A1DB-3E80C39C53B8}" type="datetime1">
              <a:rPr lang="en-US" smtClean="0"/>
              <a:t>1/12/2020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2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1/12/2020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3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B67A-60ED-4797-943A-55D5CD883011}" type="datetime1">
              <a:rPr lang="en-US" smtClean="0"/>
              <a:t>1/12/2020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2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1/12/2020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1/12/2020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0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1C03-418D-427D-912F-3A80D46B024B}" type="datetime1">
              <a:rPr lang="en-US" smtClean="0"/>
              <a:t>1/12/2020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9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2541-89D1-43A5-9247-9C9B7AE89E66}" type="datetime1">
              <a:rPr lang="en-US" smtClean="0"/>
              <a:t>1/12/2020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52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8DF6-2286-4D85-88A8-00AC199A2C34}" type="datetime1">
              <a:rPr lang="en-US" smtClean="0"/>
              <a:t>1/12/2020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0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0AFB-8BB9-4422-BB79-0EF175454CED}" type="datetime1">
              <a:rPr lang="en-US" smtClean="0"/>
              <a:t>1/12/2020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7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17F07-1C55-41A1-B81A-75CAA13E3CFD}" type="datetime1">
              <a:rPr lang="en-US" smtClean="0"/>
              <a:t>1/12/2020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271849" cy="685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2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2" y="-12033"/>
            <a:ext cx="11916578" cy="47834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5421" y="4120308"/>
            <a:ext cx="11914632" cy="2737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316" y="1027966"/>
            <a:ext cx="11421410" cy="1771839"/>
          </a:xfrm>
          <a:solidFill>
            <a:srgbClr val="FFFFFF">
              <a:alpha val="50196"/>
            </a:srgbClr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r>
              <a:rPr lang="en-US" sz="5400" dirty="0"/>
              <a:t>The Normal versus the T-Distribution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316" y="4313760"/>
            <a:ext cx="9144000" cy="230220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Keith Lohse, PhD, </a:t>
            </a:r>
            <a:r>
              <a:rPr lang="en-US" b="1" dirty="0" err="1"/>
              <a:t>PStat</a:t>
            </a:r>
            <a:endParaRPr lang="en-US" b="1" dirty="0"/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Assistant Professor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Health, Kinesiology, and Recreation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Physical Therapy and Athletic Training</a:t>
            </a:r>
          </a:p>
          <a:p>
            <a:pPr algn="l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University of Utah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</a:t>
            </a:fld>
            <a:endParaRPr lang="en-US"/>
          </a:p>
        </p:txBody>
      </p:sp>
      <p:sp>
        <p:nvSpPr>
          <p:cNvPr id="7" name="AutoShape 2" descr="Image result for utah college of health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7336B5-4F30-4282-9AE3-C49F61A3C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84" y="5747288"/>
            <a:ext cx="2626242" cy="868680"/>
          </a:xfrm>
          <a:prstGeom prst="rect">
            <a:avLst/>
          </a:prstGeom>
        </p:spPr>
      </p:pic>
      <p:pic>
        <p:nvPicPr>
          <p:cNvPr id="12" name="Picture 2" descr="Image result for email logo 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31425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091581" y="4358185"/>
            <a:ext cx="2960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keith.lohse@health.utah.edu</a:t>
            </a:r>
          </a:p>
        </p:txBody>
      </p:sp>
      <p:pic>
        <p:nvPicPr>
          <p:cNvPr id="14" name="Picture 4" descr="Image result for twitter logo png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81538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9091581" y="4859319"/>
            <a:ext cx="152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@</a:t>
            </a:r>
            <a:r>
              <a:rPr lang="en-US" dirty="0" err="1"/>
              <a:t>keith_lohse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3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probability of </a:t>
            </a:r>
            <a:r>
              <a:rPr lang="en-US" u="sng" dirty="0"/>
              <a:t>an event</a:t>
            </a:r>
            <a:r>
              <a:rPr lang="en-US" dirty="0"/>
              <a:t> in the </a:t>
            </a:r>
            <a:r>
              <a:rPr lang="en-US" u="sng" dirty="0"/>
              <a:t>normal</a:t>
            </a:r>
            <a:r>
              <a:rPr lang="en-US" dirty="0"/>
              <a:t> distribution.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1/12/2020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58876"/>
            <a:ext cx="5029200" cy="419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79149" y="2477729"/>
            <a:ext cx="11128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400" dirty="0"/>
              <a:t>μ</a:t>
            </a:r>
            <a:r>
              <a:rPr lang="en-US" sz="2400" dirty="0"/>
              <a:t> = 100</a:t>
            </a:r>
          </a:p>
          <a:p>
            <a:r>
              <a:rPr lang="el-GR" sz="2400" dirty="0"/>
              <a:t>σ</a:t>
            </a:r>
            <a:r>
              <a:rPr lang="en-US" sz="2400" dirty="0"/>
              <a:t> = 15</a:t>
            </a:r>
          </a:p>
        </p:txBody>
      </p:sp>
    </p:spTree>
    <p:extLst>
      <p:ext uri="{BB962C8B-B14F-4D97-AF65-F5344CB8AC3E}">
        <p14:creationId xmlns:p14="http://schemas.microsoft.com/office/powerpoint/2010/main" val="993146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58876"/>
            <a:ext cx="5029200" cy="4191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probability of </a:t>
            </a:r>
            <a:r>
              <a:rPr lang="en-US" u="sng" dirty="0"/>
              <a:t>an event</a:t>
            </a:r>
            <a:r>
              <a:rPr lang="en-US" dirty="0"/>
              <a:t> in the </a:t>
            </a:r>
            <a:r>
              <a:rPr lang="en-US" u="sng" dirty="0"/>
              <a:t>normal</a:t>
            </a:r>
            <a:r>
              <a:rPr lang="en-US" dirty="0"/>
              <a:t> distribution.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1/12/2020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3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179142" y="2477729"/>
            <a:ext cx="11128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400" dirty="0"/>
              <a:t>μ</a:t>
            </a:r>
            <a:r>
              <a:rPr lang="en-US" sz="2400" dirty="0"/>
              <a:t> = 100</a:t>
            </a:r>
          </a:p>
          <a:p>
            <a:r>
              <a:rPr lang="el-GR" sz="2400" dirty="0"/>
              <a:t>σ</a:t>
            </a:r>
            <a:r>
              <a:rPr lang="en-US" sz="2400" dirty="0"/>
              <a:t> = 15</a:t>
            </a:r>
          </a:p>
          <a:p>
            <a:r>
              <a:rPr lang="en-US" sz="2400" dirty="0">
                <a:solidFill>
                  <a:srgbClr val="FF0000"/>
                </a:solidFill>
              </a:rPr>
              <a:t>x = 130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1718" y="1947238"/>
            <a:ext cx="26215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What is p(x ≥ 130)?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69394" y="2477729"/>
            <a:ext cx="42844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Empirical</a:t>
            </a:r>
            <a:r>
              <a:rPr lang="en-US" sz="2400" dirty="0"/>
              <a:t> (if we have data): count the number of observations ≥ 130, divide by total number.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69394" y="4234265"/>
            <a:ext cx="42844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Theoretical</a:t>
            </a:r>
            <a:r>
              <a:rPr lang="en-US" sz="2400" dirty="0"/>
              <a:t> (if we know the distribution): integrate to find the area under the curve ≥ 130, divide by total area.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297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58876"/>
            <a:ext cx="5029200" cy="4191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probability of </a:t>
            </a:r>
            <a:r>
              <a:rPr lang="en-US" u="sng" dirty="0"/>
              <a:t>an event</a:t>
            </a:r>
            <a:r>
              <a:rPr lang="en-US" dirty="0"/>
              <a:t> in the </a:t>
            </a:r>
            <a:r>
              <a:rPr lang="en-US" u="sng" dirty="0"/>
              <a:t>normal</a:t>
            </a:r>
            <a:r>
              <a:rPr lang="en-US" dirty="0"/>
              <a:t> distribution.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1/12/2020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4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179142" y="2477729"/>
            <a:ext cx="11128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400" dirty="0"/>
              <a:t>μ</a:t>
            </a:r>
            <a:r>
              <a:rPr lang="en-US" sz="2400" dirty="0"/>
              <a:t> = 100</a:t>
            </a:r>
          </a:p>
          <a:p>
            <a:r>
              <a:rPr lang="el-GR" sz="2400" dirty="0"/>
              <a:t>σ</a:t>
            </a:r>
            <a:r>
              <a:rPr lang="en-US" sz="2400" dirty="0"/>
              <a:t> = 15</a:t>
            </a:r>
          </a:p>
          <a:p>
            <a:r>
              <a:rPr lang="en-US" sz="2400" dirty="0">
                <a:solidFill>
                  <a:srgbClr val="FF0000"/>
                </a:solidFill>
              </a:rPr>
              <a:t>x = 130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1718" y="1947238"/>
            <a:ext cx="26215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What is p(x ≥ 130)?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69394" y="4234265"/>
            <a:ext cx="42844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Theoretical</a:t>
            </a:r>
            <a:r>
              <a:rPr lang="en-US" sz="2400" dirty="0"/>
              <a:t> (if we know the distribution): integrate to find the area under the curve ≥ 130, divide by total area.</a:t>
            </a:r>
            <a:endParaRPr lang="en-US" sz="2400" dirty="0">
              <a:solidFill>
                <a:srgbClr val="FF0000"/>
              </a:solidFill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7940031" y="4547871"/>
            <a:ext cx="2543132" cy="1256054"/>
            <a:chOff x="4463977" y="6004619"/>
            <a:chExt cx="2543132" cy="12560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/>
                <p:cNvSpPr txBox="1"/>
                <p:nvPr/>
              </p:nvSpPr>
              <p:spPr>
                <a:xfrm>
                  <a:off x="4904194" y="6004619"/>
                  <a:ext cx="1662699" cy="7034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den>
                        </m:f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" name="Text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4194" y="6004619"/>
                  <a:ext cx="1662699" cy="70346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/>
            <p:cNvSpPr txBox="1"/>
            <p:nvPr/>
          </p:nvSpPr>
          <p:spPr>
            <a:xfrm>
              <a:off x="4463977" y="6799008"/>
              <a:ext cx="25431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Solve for </a:t>
              </a:r>
              <a:r>
                <a:rPr lang="en-US" sz="2400" b="1" i="1" dirty="0" err="1"/>
                <a:t>pnorm</a:t>
              </a:r>
              <a:r>
                <a:rPr lang="en-US" sz="2400" b="1" i="1" dirty="0"/>
                <a:t>(z)</a:t>
              </a:r>
              <a:endParaRPr lang="en-US" sz="2400" b="1" i="1" dirty="0">
                <a:solidFill>
                  <a:srgbClr val="FF0000"/>
                </a:solidFill>
              </a:endParaRP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F69561E4-C195-420B-84BC-9C780F51A28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35000"/>
          </a:blip>
          <a:srcRect l="20255" t="11130" r="12184" b="20520"/>
          <a:stretch/>
        </p:blipFill>
        <p:spPr>
          <a:xfrm>
            <a:off x="1600199" y="2328920"/>
            <a:ext cx="3770665" cy="2864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381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2.96296E-6 L -0.00143 -0.2527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" y="-126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58876"/>
            <a:ext cx="5029200" cy="4191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probability of </a:t>
            </a:r>
            <a:r>
              <a:rPr lang="en-US" u="sng" dirty="0"/>
              <a:t>an event</a:t>
            </a:r>
            <a:r>
              <a:rPr lang="en-US" dirty="0"/>
              <a:t> in the </a:t>
            </a:r>
            <a:r>
              <a:rPr lang="en-US" u="sng" dirty="0"/>
              <a:t>normal</a:t>
            </a:r>
            <a:r>
              <a:rPr lang="en-US" dirty="0"/>
              <a:t> distribution.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1/12/2020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5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179142" y="2477729"/>
            <a:ext cx="111280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400" dirty="0"/>
              <a:t>μ</a:t>
            </a:r>
            <a:r>
              <a:rPr lang="en-US" sz="2400" dirty="0"/>
              <a:t> = 100</a:t>
            </a:r>
          </a:p>
          <a:p>
            <a:r>
              <a:rPr lang="el-GR" sz="2400" dirty="0"/>
              <a:t>σ</a:t>
            </a:r>
            <a:r>
              <a:rPr lang="en-US" sz="2400" dirty="0"/>
              <a:t> = 15</a:t>
            </a:r>
          </a:p>
          <a:p>
            <a:r>
              <a:rPr lang="en-US" sz="2400" dirty="0">
                <a:solidFill>
                  <a:srgbClr val="FF0000"/>
                </a:solidFill>
              </a:rPr>
              <a:t>x = 130</a:t>
            </a:r>
          </a:p>
          <a:p>
            <a:r>
              <a:rPr lang="en-US" sz="2400" dirty="0">
                <a:solidFill>
                  <a:srgbClr val="FF0000"/>
                </a:solidFill>
              </a:rPr>
              <a:t>z = 2.0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1718" y="1947238"/>
            <a:ext cx="26215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What is p(x ≥ 130)?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62746" y="2576965"/>
            <a:ext cx="42844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Theoretical</a:t>
            </a:r>
            <a:r>
              <a:rPr lang="en-US" sz="2400" dirty="0"/>
              <a:t> (if we know the distribution): integrate to find the area under the curve ≥ 130, divide by total area.</a:t>
            </a:r>
            <a:endParaRPr lang="en-US" sz="2400" dirty="0">
              <a:solidFill>
                <a:srgbClr val="FF0000"/>
              </a:solidFill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7062747" y="4404875"/>
            <a:ext cx="3878129" cy="1625386"/>
            <a:chOff x="4463977" y="6004619"/>
            <a:chExt cx="2298408" cy="16253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/>
                <p:cNvSpPr txBox="1"/>
                <p:nvPr/>
              </p:nvSpPr>
              <p:spPr>
                <a:xfrm>
                  <a:off x="4904194" y="6004619"/>
                  <a:ext cx="1858191" cy="7034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(130−100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=2.0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" name="Text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4194" y="6004619"/>
                  <a:ext cx="1858191" cy="70346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/>
            <p:cNvSpPr txBox="1"/>
            <p:nvPr/>
          </p:nvSpPr>
          <p:spPr>
            <a:xfrm>
              <a:off x="4463977" y="6799008"/>
              <a:ext cx="166016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Solve for </a:t>
              </a:r>
              <a:r>
                <a:rPr lang="en-US" sz="2400" b="1" i="1" dirty="0" err="1"/>
                <a:t>pnorm</a:t>
              </a:r>
              <a:r>
                <a:rPr lang="en-US" sz="2400" b="1" i="1" dirty="0"/>
                <a:t>(2.0)</a:t>
              </a:r>
            </a:p>
            <a:p>
              <a:r>
                <a:rPr lang="en-US" sz="2400" b="1" i="1" dirty="0"/>
                <a:t>p(z ≥ 2.0) = </a:t>
              </a:r>
              <a:r>
                <a:rPr lang="en-US" sz="2400" b="1" i="1" dirty="0">
                  <a:solidFill>
                    <a:srgbClr val="00B0F0"/>
                  </a:solidFill>
                </a:rPr>
                <a:t>0.023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32725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a sample mean?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from our previous video lectures that the distribution of sample means is </a:t>
            </a:r>
            <a:r>
              <a:rPr lang="en-US" b="1" u="sng" dirty="0"/>
              <a:t>approximately</a:t>
            </a:r>
            <a:r>
              <a:rPr lang="en-US" dirty="0"/>
              <a:t> normal.</a:t>
            </a:r>
          </a:p>
          <a:p>
            <a:pPr lvl="1"/>
            <a:r>
              <a:rPr lang="en-US" dirty="0"/>
              <a:t>This is true even if the parent distribution is not normally distributed.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And as we showed, this distribution becomes more normal the larger our sample size gets.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This allows us to calculate the probability of observing a sample mean in a very useful way!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1/12/2020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664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a sample mean?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1/12/2020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99519"/>
            <a:ext cx="3657600" cy="304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200" y="2130187"/>
            <a:ext cx="1907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Parent Population</a:t>
            </a:r>
          </a:p>
        </p:txBody>
      </p:sp>
    </p:spTree>
    <p:extLst>
      <p:ext uri="{BB962C8B-B14F-4D97-AF65-F5344CB8AC3E}">
        <p14:creationId xmlns:p14="http://schemas.microsoft.com/office/powerpoint/2010/main" val="3557356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a sample mean?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1/12/2020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99519"/>
            <a:ext cx="3657600" cy="304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200" y="2130187"/>
            <a:ext cx="1907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Parent Population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428" y="1453316"/>
            <a:ext cx="2857143" cy="285714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b="16729"/>
          <a:stretch/>
        </p:blipFill>
        <p:spPr>
          <a:xfrm>
            <a:off x="4667427" y="3864333"/>
            <a:ext cx="2857143" cy="2379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95800" y="1321356"/>
            <a:ext cx="3122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Distributions of Sample Means</a:t>
            </a:r>
          </a:p>
        </p:txBody>
      </p:sp>
      <p:cxnSp>
        <p:nvCxnSpPr>
          <p:cNvPr id="11" name="Straight Arrow Connector 10"/>
          <p:cNvCxnSpPr>
            <a:stCxn id="5" idx="3"/>
            <a:endCxn id="7" idx="1"/>
          </p:cNvCxnSpPr>
          <p:nvPr/>
        </p:nvCxnSpPr>
        <p:spPr>
          <a:xfrm flipV="1">
            <a:off x="4495800" y="2881888"/>
            <a:ext cx="171628" cy="11416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3"/>
            <a:endCxn id="8" idx="1"/>
          </p:cNvCxnSpPr>
          <p:nvPr/>
        </p:nvCxnSpPr>
        <p:spPr>
          <a:xfrm>
            <a:off x="4495800" y="4023519"/>
            <a:ext cx="171627" cy="10303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8709027" y="1278709"/>
                <a:ext cx="1903053" cy="7034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9027" y="1278709"/>
                <a:ext cx="1903053" cy="7034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7762707" y="2071228"/>
            <a:ext cx="379568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The problem is that </a:t>
            </a:r>
            <a:r>
              <a:rPr lang="el-GR" sz="2400" dirty="0"/>
              <a:t>σ</a:t>
            </a:r>
            <a:r>
              <a:rPr lang="en-US" sz="2400" dirty="0"/>
              <a:t> for the sampling distribution varies as a function sample size.</a:t>
            </a:r>
          </a:p>
          <a:p>
            <a:pPr algn="ctr"/>
            <a:endParaRPr lang="en-US" sz="2400" i="1" dirty="0">
              <a:solidFill>
                <a:srgbClr val="FF0000"/>
              </a:solidFill>
            </a:endParaRPr>
          </a:p>
          <a:p>
            <a:pPr algn="ctr"/>
            <a:r>
              <a:rPr lang="en-US" sz="2400" i="1" dirty="0">
                <a:solidFill>
                  <a:srgbClr val="FF0000"/>
                </a:solidFill>
              </a:rPr>
              <a:t>Specifically,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8218973" y="4019560"/>
                <a:ext cx="2883151" cy="69910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𝑆𝐸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sub>
                      </m:sSub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8973" y="4019560"/>
                <a:ext cx="2883151" cy="69910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7762705" y="4739836"/>
                <a:ext cx="3795689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This special case of the standard deviation is referred to as the standard error of the mean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𝑆𝐸</m:t>
                    </m:r>
                  </m:oMath>
                </a14:m>
                <a:r>
                  <a:rPr lang="en-US" sz="2400" dirty="0"/>
                  <a:t>).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2705" y="4739836"/>
                <a:ext cx="3795689" cy="1569660"/>
              </a:xfrm>
              <a:prstGeom prst="rect">
                <a:avLst/>
              </a:prstGeom>
              <a:blipFill>
                <a:blip r:embed="rId7"/>
                <a:stretch>
                  <a:fillRect t="-3113" r="-482" b="-8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1699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149475"/>
            <a:ext cx="4572000" cy="4572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a sample mean?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from our previous video lectures that the distribution of sample means is </a:t>
            </a:r>
            <a:r>
              <a:rPr lang="en-US" b="1" u="sng" dirty="0">
                <a:solidFill>
                  <a:srgbClr val="FF0000"/>
                </a:solidFill>
              </a:rPr>
              <a:t>approximately</a:t>
            </a:r>
            <a:r>
              <a:rPr lang="en-US" dirty="0"/>
              <a:t> normal.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1/12/2020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9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027174" y="3834581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3</a:t>
            </a:r>
          </a:p>
        </p:txBody>
      </p:sp>
    </p:spTree>
    <p:extLst>
      <p:ext uri="{BB962C8B-B14F-4D97-AF65-F5344CB8AC3E}">
        <p14:creationId xmlns:p14="http://schemas.microsoft.com/office/powerpoint/2010/main" val="202648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149475"/>
            <a:ext cx="4572000" cy="4572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a sample mean?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from our previous video lectures that the distribution of sample means is </a:t>
            </a:r>
            <a:r>
              <a:rPr lang="en-US" b="1" u="sng" dirty="0">
                <a:solidFill>
                  <a:srgbClr val="FF0000"/>
                </a:solidFill>
              </a:rPr>
              <a:t>approximately</a:t>
            </a:r>
            <a:r>
              <a:rPr lang="en-US" dirty="0"/>
              <a:t> normal.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1/12/2020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10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027174" y="3834581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27173" y="3514978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 = 10</a:t>
            </a:r>
          </a:p>
        </p:txBody>
      </p:sp>
    </p:spTree>
    <p:extLst>
      <p:ext uri="{BB962C8B-B14F-4D97-AF65-F5344CB8AC3E}">
        <p14:creationId xmlns:p14="http://schemas.microsoft.com/office/powerpoint/2010/main" val="2539758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149475"/>
            <a:ext cx="4572000" cy="4572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a sample mean?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from our previous video lectures that the distribution of sample means is </a:t>
            </a:r>
            <a:r>
              <a:rPr lang="en-US" b="1" u="sng" dirty="0">
                <a:solidFill>
                  <a:srgbClr val="FF0000"/>
                </a:solidFill>
              </a:rPr>
              <a:t>approximately</a:t>
            </a:r>
            <a:r>
              <a:rPr lang="en-US" dirty="0"/>
              <a:t> normal.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1/12/2020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11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027174" y="3834581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27173" y="3514978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 =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27172" y="3195375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N = 50</a:t>
            </a:r>
          </a:p>
        </p:txBody>
      </p:sp>
    </p:spTree>
    <p:extLst>
      <p:ext uri="{BB962C8B-B14F-4D97-AF65-F5344CB8AC3E}">
        <p14:creationId xmlns:p14="http://schemas.microsoft.com/office/powerpoint/2010/main" val="3712874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149475"/>
            <a:ext cx="4572000" cy="4572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a sample mean?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from our previous video lectures that the distribution of sample means is </a:t>
            </a:r>
            <a:r>
              <a:rPr lang="en-US" b="1" u="sng" dirty="0">
                <a:solidFill>
                  <a:srgbClr val="FF0000"/>
                </a:solidFill>
              </a:rPr>
              <a:t>approximately</a:t>
            </a:r>
            <a:r>
              <a:rPr lang="en-US" dirty="0"/>
              <a:t> normal.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1/12/2020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12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027174" y="3834581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27173" y="3514978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 =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27172" y="3195375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N = 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29588" y="2875772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 = ∞</a:t>
            </a:r>
          </a:p>
        </p:txBody>
      </p:sp>
    </p:spTree>
    <p:extLst>
      <p:ext uri="{BB962C8B-B14F-4D97-AF65-F5344CB8AC3E}">
        <p14:creationId xmlns:p14="http://schemas.microsoft.com/office/powerpoint/2010/main" val="2994521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149475"/>
            <a:ext cx="4572000" cy="4572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a sample mean?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from our previous video lectures that the distribution of sample means is </a:t>
            </a:r>
            <a:r>
              <a:rPr lang="en-US" b="1" u="sng" dirty="0">
                <a:solidFill>
                  <a:srgbClr val="FF0000"/>
                </a:solidFill>
              </a:rPr>
              <a:t>approximately</a:t>
            </a:r>
            <a:r>
              <a:rPr lang="en-US" dirty="0"/>
              <a:t> normal.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1/12/2020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13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027174" y="3834581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27173" y="3514978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 =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27172" y="3195375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N = 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29588" y="2875772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 = 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75871" y="2875772"/>
            <a:ext cx="407792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new distribution is the </a:t>
            </a:r>
            <a:r>
              <a:rPr lang="en-US" b="1" u="sng" dirty="0"/>
              <a:t>t-distribution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It’s shape is similar to the normal distribution, but varies based on number of observations. </a:t>
            </a:r>
          </a:p>
          <a:p>
            <a:endParaRPr lang="en-US" dirty="0"/>
          </a:p>
          <a:p>
            <a:r>
              <a:rPr lang="en-US" dirty="0"/>
              <a:t>As we calculated z-values, we can also calculate </a:t>
            </a:r>
            <a:r>
              <a:rPr lang="en-US" b="1" u="sng" dirty="0"/>
              <a:t>t-values</a:t>
            </a:r>
            <a:r>
              <a:rPr lang="en-US" dirty="0"/>
              <a:t>, that tell us how far the sample mean is from the true mean in units of </a:t>
            </a:r>
            <a:r>
              <a:rPr lang="en-US" b="1" u="sng" dirty="0"/>
              <a:t>standard error</a:t>
            </a:r>
            <a:r>
              <a:rPr lang="en-US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3491689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t-values.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1/12/2020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14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38200" y="1690688"/>
            <a:ext cx="40779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we calculated z-values, we can also calculate </a:t>
            </a:r>
            <a:r>
              <a:rPr lang="en-US" b="1" u="sng" dirty="0"/>
              <a:t>t-values</a:t>
            </a:r>
            <a:r>
              <a:rPr lang="en-US" dirty="0"/>
              <a:t>, that tell us how far the sample mean is from the true mean in units of </a:t>
            </a:r>
            <a:r>
              <a:rPr lang="en-US" b="1" u="sng" dirty="0"/>
              <a:t>standard error</a:t>
            </a:r>
            <a:r>
              <a:rPr lang="en-US" dirty="0"/>
              <a:t>.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838200" y="3821117"/>
                <a:ext cx="1903053" cy="8288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821117"/>
                <a:ext cx="1903053" cy="8288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838200" y="3298000"/>
            <a:ext cx="1434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If </a:t>
            </a:r>
            <a:r>
              <a:rPr lang="el-GR" u="sng" dirty="0">
                <a:solidFill>
                  <a:schemeClr val="accent1"/>
                </a:solidFill>
              </a:rPr>
              <a:t>σ</a:t>
            </a:r>
            <a:r>
              <a:rPr lang="en-US" u="sng" dirty="0"/>
              <a:t> is known:</a:t>
            </a:r>
          </a:p>
        </p:txBody>
      </p:sp>
    </p:spTree>
    <p:extLst>
      <p:ext uri="{BB962C8B-B14F-4D97-AF65-F5344CB8AC3E}">
        <p14:creationId xmlns:p14="http://schemas.microsoft.com/office/powerpoint/2010/main" val="3867291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t-values.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1/12/2020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38200" y="1690688"/>
            <a:ext cx="40779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we calculated z-values, we can also calculate </a:t>
            </a:r>
            <a:r>
              <a:rPr lang="en-US" b="1" u="sng" dirty="0"/>
              <a:t>t-values</a:t>
            </a:r>
            <a:r>
              <a:rPr lang="en-US" dirty="0"/>
              <a:t>, that tell us how far the sample mean is from the true mean in units of </a:t>
            </a:r>
            <a:r>
              <a:rPr lang="en-US" b="1" u="sng" dirty="0"/>
              <a:t>standard error</a:t>
            </a:r>
            <a:r>
              <a:rPr lang="en-US" dirty="0"/>
              <a:t>.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838200" y="3821117"/>
                <a:ext cx="1903053" cy="8288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821117"/>
                <a:ext cx="1903053" cy="8288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838200" y="3298000"/>
            <a:ext cx="1434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If </a:t>
            </a:r>
            <a:r>
              <a:rPr lang="el-GR" u="sng" dirty="0">
                <a:solidFill>
                  <a:schemeClr val="accent1"/>
                </a:solidFill>
              </a:rPr>
              <a:t>σ</a:t>
            </a:r>
            <a:r>
              <a:rPr lang="en-US" u="sng" dirty="0">
                <a:solidFill>
                  <a:schemeClr val="accent1"/>
                </a:solidFill>
              </a:rPr>
              <a:t> </a:t>
            </a:r>
            <a:r>
              <a:rPr lang="en-US" u="sng" dirty="0"/>
              <a:t>is known: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1635" y="1690688"/>
            <a:ext cx="407792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major issue we will face, however, is that the population standard deviation (</a:t>
            </a:r>
            <a:r>
              <a:rPr lang="el-GR" dirty="0">
                <a:solidFill>
                  <a:schemeClr val="accent1"/>
                </a:solidFill>
              </a:rPr>
              <a:t>σ</a:t>
            </a:r>
            <a:r>
              <a:rPr lang="en-US" dirty="0"/>
              <a:t>) is often unknown.</a:t>
            </a:r>
          </a:p>
          <a:p>
            <a:endParaRPr lang="en-US" dirty="0"/>
          </a:p>
          <a:p>
            <a:r>
              <a:rPr lang="en-US" dirty="0"/>
              <a:t>In those cases, we need to estimate </a:t>
            </a:r>
            <a:r>
              <a:rPr lang="el-GR" dirty="0">
                <a:solidFill>
                  <a:schemeClr val="accent1"/>
                </a:solidFill>
              </a:rPr>
              <a:t>σ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using the standard deviation we observe in the sample (</a:t>
            </a:r>
            <a:r>
              <a:rPr lang="en-US" dirty="0">
                <a:solidFill>
                  <a:srgbClr val="FF0000"/>
                </a:solidFill>
              </a:rPr>
              <a:t>s</a:t>
            </a:r>
            <a:r>
              <a:rPr lang="en-US" dirty="0"/>
              <a:t>).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571635" y="4312729"/>
                <a:ext cx="1903053" cy="8288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1635" y="4312729"/>
                <a:ext cx="1903053" cy="8288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6571635" y="3789612"/>
            <a:ext cx="1677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If </a:t>
            </a:r>
            <a:r>
              <a:rPr lang="el-GR" u="sng" dirty="0">
                <a:solidFill>
                  <a:schemeClr val="accent1"/>
                </a:solidFill>
              </a:rPr>
              <a:t>σ</a:t>
            </a:r>
            <a:r>
              <a:rPr lang="en-US" u="sng" dirty="0"/>
              <a:t> is unknown:</a:t>
            </a:r>
          </a:p>
        </p:txBody>
      </p:sp>
    </p:spTree>
    <p:extLst>
      <p:ext uri="{BB962C8B-B14F-4D97-AF65-F5344CB8AC3E}">
        <p14:creationId xmlns:p14="http://schemas.microsoft.com/office/powerpoint/2010/main" val="4046410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t-values.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1/12/2020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38200" y="1690688"/>
            <a:ext cx="40779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we calculated z-values, we can also calculate </a:t>
            </a:r>
            <a:r>
              <a:rPr lang="en-US" b="1" u="sng" dirty="0"/>
              <a:t>t-values</a:t>
            </a:r>
            <a:r>
              <a:rPr lang="en-US" dirty="0"/>
              <a:t>, that tell us how far the sample mean is from the true mean in units of </a:t>
            </a:r>
            <a:r>
              <a:rPr lang="en-US" b="1" u="sng" dirty="0"/>
              <a:t>standard error</a:t>
            </a:r>
            <a:r>
              <a:rPr lang="en-US" dirty="0"/>
              <a:t>.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838200" y="3821117"/>
                <a:ext cx="1903053" cy="8288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821117"/>
                <a:ext cx="1903053" cy="8288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838200" y="3298000"/>
            <a:ext cx="1434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If </a:t>
            </a:r>
            <a:r>
              <a:rPr lang="el-GR" u="sng" dirty="0">
                <a:solidFill>
                  <a:schemeClr val="accent1"/>
                </a:solidFill>
              </a:rPr>
              <a:t>σ</a:t>
            </a:r>
            <a:r>
              <a:rPr lang="en-US" u="sng" dirty="0">
                <a:solidFill>
                  <a:schemeClr val="accent1"/>
                </a:solidFill>
              </a:rPr>
              <a:t> </a:t>
            </a:r>
            <a:r>
              <a:rPr lang="en-US" u="sng" dirty="0"/>
              <a:t>is known: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1635" y="1690688"/>
            <a:ext cx="407792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major issue we will face, however, is that the population standard deviation (</a:t>
            </a:r>
            <a:r>
              <a:rPr lang="el-GR" dirty="0">
                <a:solidFill>
                  <a:schemeClr val="accent1"/>
                </a:solidFill>
              </a:rPr>
              <a:t>σ</a:t>
            </a:r>
            <a:r>
              <a:rPr lang="en-US" dirty="0"/>
              <a:t>) is often unknown.</a:t>
            </a:r>
          </a:p>
          <a:p>
            <a:endParaRPr lang="en-US" dirty="0"/>
          </a:p>
          <a:p>
            <a:r>
              <a:rPr lang="en-US" dirty="0"/>
              <a:t>In those cases, we need to estimate </a:t>
            </a:r>
            <a:r>
              <a:rPr lang="el-GR" dirty="0">
                <a:solidFill>
                  <a:schemeClr val="accent1"/>
                </a:solidFill>
              </a:rPr>
              <a:t>σ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using the standard deviation we observe in the sample (</a:t>
            </a:r>
            <a:r>
              <a:rPr lang="en-US" dirty="0">
                <a:solidFill>
                  <a:srgbClr val="FF0000"/>
                </a:solidFill>
              </a:rPr>
              <a:t>s</a:t>
            </a:r>
            <a:r>
              <a:rPr lang="en-US" dirty="0"/>
              <a:t>).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571635" y="4312729"/>
                <a:ext cx="1903053" cy="8288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1635" y="4312729"/>
                <a:ext cx="1903053" cy="8288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6571635" y="3789612"/>
            <a:ext cx="1677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If </a:t>
            </a:r>
            <a:r>
              <a:rPr lang="el-GR" u="sng" dirty="0">
                <a:solidFill>
                  <a:schemeClr val="accent1"/>
                </a:solidFill>
              </a:rPr>
              <a:t>σ</a:t>
            </a:r>
            <a:r>
              <a:rPr lang="en-US" u="sng" dirty="0"/>
              <a:t> is unknown: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1400" y="5892581"/>
            <a:ext cx="7888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lab, we will show that </a:t>
            </a:r>
            <a:r>
              <a:rPr lang="en-US" dirty="0">
                <a:solidFill>
                  <a:srgbClr val="FF0000"/>
                </a:solidFill>
              </a:rPr>
              <a:t>s</a:t>
            </a:r>
            <a:r>
              <a:rPr lang="en-US" dirty="0"/>
              <a:t> is an unbiased estimate of </a:t>
            </a:r>
            <a:r>
              <a:rPr lang="el-GR" dirty="0">
                <a:solidFill>
                  <a:schemeClr val="accent1"/>
                </a:solidFill>
              </a:rPr>
              <a:t>σ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if we divide by the appropriate degrees of freedom. For now, let’s just use this formula. </a:t>
            </a:r>
          </a:p>
        </p:txBody>
      </p:sp>
      <p:cxnSp>
        <p:nvCxnSpPr>
          <p:cNvPr id="7" name="Straight Arrow Connector 6"/>
          <p:cNvCxnSpPr>
            <a:cxnSpLocks/>
            <a:stCxn id="11" idx="0"/>
            <a:endCxn id="9" idx="2"/>
          </p:cNvCxnSpPr>
          <p:nvPr/>
        </p:nvCxnSpPr>
        <p:spPr>
          <a:xfrm flipH="1" flipV="1">
            <a:off x="7523162" y="5141546"/>
            <a:ext cx="2458" cy="7510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0891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probability of observing a sample mean in a </a:t>
            </a:r>
            <a:r>
              <a:rPr lang="en-US" u="sng" dirty="0"/>
              <a:t>t-distribution</a:t>
            </a:r>
            <a:r>
              <a:rPr lang="en-US" dirty="0"/>
              <a:t>, N = 10.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1/12/2020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38200" y="1946787"/>
                <a:ext cx="2705997" cy="27375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l-GR" sz="2400" dirty="0"/>
                  <a:t>μ</a:t>
                </a:r>
                <a:r>
                  <a:rPr lang="en-US" sz="2400" dirty="0"/>
                  <a:t> = 100</a:t>
                </a:r>
              </a:p>
              <a:p>
                <a:r>
                  <a:rPr lang="el-GR" sz="2400" dirty="0"/>
                  <a:t>σ</a:t>
                </a:r>
                <a:r>
                  <a:rPr lang="en-US" sz="2400" dirty="0"/>
                  <a:t> = ???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= 115</a:t>
                </a:r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s = 30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𝑆𝐸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30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</m:den>
                      </m:f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=9.487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(9)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=1.581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46787"/>
                <a:ext cx="2705997" cy="2737544"/>
              </a:xfrm>
              <a:prstGeom prst="rect">
                <a:avLst/>
              </a:prstGeom>
              <a:blipFill>
                <a:blip r:embed="rId2"/>
                <a:stretch>
                  <a:fillRect l="-3612" t="-1782" b="-11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1946787"/>
            <a:ext cx="4572000" cy="3810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8096946" y="2378950"/>
            <a:ext cx="3583777" cy="3883910"/>
            <a:chOff x="8096946" y="2378950"/>
            <a:chExt cx="3583777" cy="3883910"/>
          </a:xfrm>
        </p:grpSpPr>
        <p:sp>
          <p:nvSpPr>
            <p:cNvPr id="8" name="TextBox 7"/>
            <p:cNvSpPr txBox="1"/>
            <p:nvPr/>
          </p:nvSpPr>
          <p:spPr>
            <a:xfrm>
              <a:off x="8096946" y="2378950"/>
              <a:ext cx="325685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Solve for </a:t>
              </a:r>
              <a:r>
                <a:rPr lang="en-US" sz="2400" b="1" i="1" dirty="0" err="1"/>
                <a:t>pt</a:t>
              </a:r>
              <a:r>
                <a:rPr lang="en-US" sz="2400" b="1" i="1" dirty="0"/>
                <a:t>(1.581, </a:t>
              </a:r>
              <a:r>
                <a:rPr lang="en-US" sz="2400" b="1" i="1" dirty="0" err="1"/>
                <a:t>df</a:t>
              </a:r>
              <a:r>
                <a:rPr lang="en-US" sz="2400" b="1" i="1" dirty="0"/>
                <a:t>=9)</a:t>
              </a:r>
            </a:p>
            <a:p>
              <a:r>
                <a:rPr lang="en-US" sz="2400" b="1" i="1" dirty="0"/>
                <a:t>p = </a:t>
              </a:r>
              <a:r>
                <a:rPr lang="en-US" sz="2400" b="1" i="1" dirty="0">
                  <a:solidFill>
                    <a:srgbClr val="00B0F0"/>
                  </a:solidFill>
                </a:rPr>
                <a:t>0.074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096947" y="3585204"/>
              <a:ext cx="3583776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We would expect to </a:t>
              </a:r>
              <a:r>
                <a:rPr lang="en-US" sz="2400" dirty="0" smtClean="0"/>
                <a:t>observe </a:t>
              </a:r>
              <a:r>
                <a:rPr lang="en-US" sz="2400" dirty="0"/>
                <a:t>a t-value of this size or greater about 7.4% of the time due to sampling variability alone, when the sample size is N=10.</a:t>
              </a:r>
              <a:endParaRPr lang="en-US" sz="2400" i="1" dirty="0">
                <a:solidFill>
                  <a:srgbClr val="00B0F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8918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probability of observing a sample mean in a </a:t>
            </a:r>
            <a:r>
              <a:rPr lang="en-US" u="sng" dirty="0"/>
              <a:t>t-distribution</a:t>
            </a:r>
            <a:r>
              <a:rPr lang="en-US" dirty="0"/>
              <a:t>, N = </a:t>
            </a:r>
            <a:r>
              <a:rPr lang="en-US" u="sng" dirty="0">
                <a:solidFill>
                  <a:schemeClr val="tx1"/>
                </a:solidFill>
              </a:rPr>
              <a:t>50.</a:t>
            </a:r>
            <a:r>
              <a:rPr lang="en-US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1/12/2020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38200" y="1946787"/>
                <a:ext cx="2704395" cy="27375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l-GR" sz="2400" dirty="0"/>
                  <a:t>μ</a:t>
                </a:r>
                <a:r>
                  <a:rPr lang="en-US" sz="2400" dirty="0"/>
                  <a:t> = 100</a:t>
                </a:r>
              </a:p>
              <a:p>
                <a:r>
                  <a:rPr lang="el-GR" sz="2400" dirty="0"/>
                  <a:t>σ</a:t>
                </a:r>
                <a:r>
                  <a:rPr lang="en-US" sz="2400" dirty="0"/>
                  <a:t> = ???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= 115</a:t>
                </a:r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s = 30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𝑆𝐸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30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e>
                          </m:rad>
                        </m:den>
                      </m:f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=4.243</m:t>
                      </m:r>
                    </m:oMath>
                  </m:oMathPara>
                </a14:m>
                <a:endParaRPr lang="en-US" sz="2400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(49)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=3.53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6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46787"/>
                <a:ext cx="2704395" cy="2737544"/>
              </a:xfrm>
              <a:prstGeom prst="rect">
                <a:avLst/>
              </a:prstGeom>
              <a:blipFill>
                <a:blip r:embed="rId2"/>
                <a:stretch>
                  <a:fillRect l="-3612" t="-1782" b="-2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8096946" y="2378950"/>
            <a:ext cx="3583777" cy="3514578"/>
            <a:chOff x="8096946" y="2378950"/>
            <a:chExt cx="3583777" cy="3514578"/>
          </a:xfrm>
        </p:grpSpPr>
        <p:sp>
          <p:nvSpPr>
            <p:cNvPr id="8" name="TextBox 7"/>
            <p:cNvSpPr txBox="1"/>
            <p:nvPr/>
          </p:nvSpPr>
          <p:spPr>
            <a:xfrm>
              <a:off x="8096946" y="2378950"/>
              <a:ext cx="341234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Solve for </a:t>
              </a:r>
              <a:r>
                <a:rPr lang="en-US" sz="2400" b="1" i="1" dirty="0" err="1"/>
                <a:t>pt</a:t>
              </a:r>
              <a:r>
                <a:rPr lang="en-US" sz="2400" b="1" i="1" dirty="0"/>
                <a:t>(3.536, </a:t>
              </a:r>
              <a:r>
                <a:rPr lang="en-US" sz="2400" b="1" i="1" dirty="0" err="1"/>
                <a:t>df</a:t>
              </a:r>
              <a:r>
                <a:rPr lang="en-US" sz="2400" b="1" i="1" dirty="0"/>
                <a:t>=49)</a:t>
              </a:r>
            </a:p>
            <a:p>
              <a:r>
                <a:rPr lang="en-US" sz="2400" b="1" i="1" dirty="0"/>
                <a:t>p = </a:t>
              </a:r>
              <a:r>
                <a:rPr lang="en-US" sz="2400" b="1" i="1" dirty="0">
                  <a:solidFill>
                    <a:srgbClr val="00B0F0"/>
                  </a:solidFill>
                </a:rPr>
                <a:t>0.00045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096947" y="3585204"/>
              <a:ext cx="3583776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We would expect to </a:t>
              </a:r>
              <a:r>
                <a:rPr lang="en-US" sz="2400" dirty="0" smtClean="0"/>
                <a:t>observe </a:t>
              </a:r>
              <a:r>
                <a:rPr lang="en-US" sz="2400" dirty="0"/>
                <a:t>a t-value of this size or greater &lt; 0.1% of the time due to sampling variability alone, when the sample size is N=50.</a:t>
              </a:r>
              <a:endParaRPr lang="en-US" sz="2400" i="1" dirty="0">
                <a:solidFill>
                  <a:srgbClr val="00B0F0"/>
                </a:solidFill>
              </a:endParaRP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4737" y="1946787"/>
            <a:ext cx="4572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567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generalized form of the t-statistic.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1/12/2020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38200" y="1902038"/>
                <a:ext cx="2289464" cy="8695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𝑜𝑏𝑠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2038"/>
                <a:ext cx="2289464" cy="8695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D535A57-75A2-4D77-B0E7-3668A2B3ADCD}"/>
              </a:ext>
            </a:extLst>
          </p:cNvPr>
          <p:cNvSpPr txBox="1"/>
          <p:nvPr/>
        </p:nvSpPr>
        <p:spPr>
          <a:xfrm>
            <a:off x="4304112" y="1902038"/>
            <a:ext cx="70496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t-value we </a:t>
            </a:r>
            <a:r>
              <a:rPr lang="en-US" sz="2400" u="sng" dirty="0"/>
              <a:t>observe</a:t>
            </a:r>
            <a:r>
              <a:rPr lang="en-US" sz="2400" dirty="0"/>
              <a:t> in our sample (because it would different in a different sample), tells us how far our </a:t>
            </a:r>
            <a:r>
              <a:rPr lang="en-US" sz="2400" dirty="0">
                <a:solidFill>
                  <a:schemeClr val="accent1"/>
                </a:solidFill>
              </a:rPr>
              <a:t>estimated value </a:t>
            </a:r>
            <a:r>
              <a:rPr lang="en-US" sz="2400" dirty="0"/>
              <a:t>is away from a </a:t>
            </a:r>
            <a:r>
              <a:rPr lang="en-US" sz="2400" dirty="0">
                <a:solidFill>
                  <a:schemeClr val="accent6"/>
                </a:solidFill>
              </a:rPr>
              <a:t>hypothetical value</a:t>
            </a:r>
            <a:r>
              <a:rPr lang="en-US" sz="2400" dirty="0"/>
              <a:t>, in units of </a:t>
            </a:r>
            <a:r>
              <a:rPr lang="en-US" sz="2400" dirty="0">
                <a:solidFill>
                  <a:srgbClr val="FF0000"/>
                </a:solidFill>
              </a:rPr>
              <a:t>standard error</a:t>
            </a:r>
            <a:r>
              <a:rPr lang="en-US" sz="2400" dirty="0"/>
              <a:t>. </a:t>
            </a:r>
            <a:endParaRPr lang="en-US" sz="2400" i="1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4782BC-8C0D-4423-957F-C9F71AE2E597}"/>
              </a:ext>
            </a:extLst>
          </p:cNvPr>
          <p:cNvSpPr txBox="1"/>
          <p:nvPr/>
        </p:nvSpPr>
        <p:spPr>
          <a:xfrm>
            <a:off x="838199" y="3590033"/>
            <a:ext cx="105155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instance, we might </a:t>
            </a:r>
            <a:r>
              <a:rPr lang="en-US" sz="2400" dirty="0">
                <a:solidFill>
                  <a:srgbClr val="00B050"/>
                </a:solidFill>
              </a:rPr>
              <a:t>assume</a:t>
            </a:r>
            <a:r>
              <a:rPr lang="en-US" sz="2400" dirty="0"/>
              <a:t> that the mean resting heart rate is </a:t>
            </a:r>
            <a:r>
              <a:rPr lang="en-US" sz="2400" dirty="0">
                <a:solidFill>
                  <a:srgbClr val="00B050"/>
                </a:solidFill>
              </a:rPr>
              <a:t>68 bpm</a:t>
            </a:r>
            <a:r>
              <a:rPr lang="en-US" sz="2400" dirty="0"/>
              <a:t> for healthy young adults.</a:t>
            </a:r>
          </a:p>
          <a:p>
            <a:endParaRPr lang="en-US" sz="2400" dirty="0"/>
          </a:p>
          <a:p>
            <a:r>
              <a:rPr lang="en-US" sz="2400" dirty="0"/>
              <a:t>If we </a:t>
            </a:r>
            <a:r>
              <a:rPr lang="en-US" sz="2400" dirty="0">
                <a:solidFill>
                  <a:schemeClr val="accent1"/>
                </a:solidFill>
              </a:rPr>
              <a:t>observe</a:t>
            </a:r>
            <a:r>
              <a:rPr lang="en-US" sz="2400" dirty="0"/>
              <a:t> a mean heart rate of </a:t>
            </a:r>
            <a:r>
              <a:rPr lang="en-US" sz="2400" dirty="0">
                <a:solidFill>
                  <a:schemeClr val="accent1"/>
                </a:solidFill>
              </a:rPr>
              <a:t>60 bpm </a:t>
            </a:r>
            <a:r>
              <a:rPr lang="en-US" sz="2400" dirty="0"/>
              <a:t>in a random sample of young adults, how likely is it that result occurred due to sampling variability alone? </a:t>
            </a:r>
            <a:endParaRPr lang="en-US" sz="2400" i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686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generalized form of the t-statistic.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1/12/2020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20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38200" y="1902038"/>
                <a:ext cx="2289464" cy="8288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𝑜𝑏𝑠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60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68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2038"/>
                <a:ext cx="2289464" cy="8288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D535A57-75A2-4D77-B0E7-3668A2B3ADCD}"/>
              </a:ext>
            </a:extLst>
          </p:cNvPr>
          <p:cNvSpPr txBox="1"/>
          <p:nvPr/>
        </p:nvSpPr>
        <p:spPr>
          <a:xfrm>
            <a:off x="4304112" y="1902038"/>
            <a:ext cx="70496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It depends! </a:t>
            </a:r>
            <a:r>
              <a:rPr lang="en-US" altLang="ja-JP" sz="2400" dirty="0"/>
              <a:t>¯\_(</a:t>
            </a:r>
            <a:r>
              <a:rPr lang="ja-JP" altLang="en-US" sz="2400" dirty="0"/>
              <a:t>ツ</a:t>
            </a:r>
            <a:r>
              <a:rPr lang="en-US" altLang="ja-JP" sz="2400" dirty="0"/>
              <a:t>)_/¯</a:t>
            </a:r>
            <a:endParaRPr lang="en-US" sz="2400" b="1" dirty="0"/>
          </a:p>
          <a:p>
            <a:endParaRPr lang="en-US" sz="2400" i="1" dirty="0">
              <a:solidFill>
                <a:srgbClr val="00B0F0"/>
              </a:solidFill>
            </a:endParaRPr>
          </a:p>
          <a:p>
            <a:r>
              <a:rPr lang="en-US" sz="2400" dirty="0">
                <a:solidFill>
                  <a:srgbClr val="FF0000"/>
                </a:solidFill>
              </a:rPr>
              <a:t>How large is our sample? How variable is our sample?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64782BC-8C0D-4423-957F-C9F71AE2E597}"/>
                  </a:ext>
                </a:extLst>
              </p:cNvPr>
              <p:cNvSpPr txBox="1"/>
              <p:nvPr/>
            </p:nvSpPr>
            <p:spPr>
              <a:xfrm>
                <a:off x="848957" y="3310329"/>
                <a:ext cx="10515599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 same difference could lead us to very different conclusions.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For instance, if we assume </a:t>
                </a:r>
                <a:r>
                  <a:rPr lang="en-US" sz="2400" dirty="0">
                    <a:solidFill>
                      <a:srgbClr val="FF0000"/>
                    </a:solidFill>
                  </a:rPr>
                  <a:t>s = 12 </a:t>
                </a:r>
                <a:r>
                  <a:rPr lang="en-US" sz="2400" dirty="0"/>
                  <a:t>and </a:t>
                </a:r>
                <a:r>
                  <a:rPr lang="en-US" sz="2400" dirty="0">
                    <a:solidFill>
                      <a:srgbClr val="FF0000"/>
                    </a:solidFill>
                  </a:rPr>
                  <a:t>n = 5</a:t>
                </a:r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𝑜𝑏𝑠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−1.49</m:t>
                    </m:r>
                  </m:oMath>
                </a14:m>
                <a:r>
                  <a:rPr lang="en-US" sz="2400" i="1" dirty="0"/>
                  <a:t>.</a:t>
                </a:r>
              </a:p>
              <a:p>
                <a:endParaRPr lang="en-US" sz="2400" i="1" dirty="0"/>
              </a:p>
              <a:p>
                <a:r>
                  <a:rPr lang="en-US" sz="2400" dirty="0"/>
                  <a:t>But if we assume </a:t>
                </a:r>
                <a:r>
                  <a:rPr lang="en-US" sz="2400" dirty="0">
                    <a:solidFill>
                      <a:srgbClr val="FF0000"/>
                    </a:solidFill>
                  </a:rPr>
                  <a:t>s = 12 </a:t>
                </a:r>
                <a:r>
                  <a:rPr lang="en-US" sz="2400" dirty="0"/>
                  <a:t>and </a:t>
                </a:r>
                <a:r>
                  <a:rPr lang="en-US" sz="2400" dirty="0">
                    <a:solidFill>
                      <a:srgbClr val="FF0000"/>
                    </a:solidFill>
                  </a:rPr>
                  <a:t>n = 20</a:t>
                </a:r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𝑜𝑏𝑠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2.98</m:t>
                    </m:r>
                  </m:oMath>
                </a14:m>
                <a:r>
                  <a:rPr lang="en-US" sz="2400" i="1" dirty="0"/>
                  <a:t>.</a:t>
                </a:r>
              </a:p>
              <a:p>
                <a:endParaRPr lang="en-US" sz="2400" i="1" dirty="0"/>
              </a:p>
              <a:p>
                <a:r>
                  <a:rPr lang="en-US" sz="2400" i="1" dirty="0"/>
                  <a:t>Thus, the “surprise-value” of an effect depends on the size of the effect, the variability of the data, and the size of our sample.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64782BC-8C0D-4423-957F-C9F71AE2E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57" y="3310329"/>
                <a:ext cx="10515599" cy="3046988"/>
              </a:xfrm>
              <a:prstGeom prst="rect">
                <a:avLst/>
              </a:prstGeom>
              <a:blipFill>
                <a:blip r:embed="rId3"/>
                <a:stretch>
                  <a:fillRect l="-870" t="-16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8746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3923</TotalTime>
  <Words>1149</Words>
  <Application>Microsoft Office PowerPoint</Application>
  <PresentationFormat>Widescreen</PresentationFormat>
  <Paragraphs>188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游ゴシック</vt:lpstr>
      <vt:lpstr>Arial</vt:lpstr>
      <vt:lpstr>Calibri</vt:lpstr>
      <vt:lpstr>Calibri Light</vt:lpstr>
      <vt:lpstr>Cambria Math</vt:lpstr>
      <vt:lpstr>Office Theme</vt:lpstr>
      <vt:lpstr>The Normal versus the T-Distribution</vt:lpstr>
      <vt:lpstr>Finding the probability of an event in the normal distribution. </vt:lpstr>
      <vt:lpstr>Finding the probability of an event in the normal distribution. </vt:lpstr>
      <vt:lpstr>Finding the probability of an event in the normal distribution. </vt:lpstr>
      <vt:lpstr>Finding the probability of an event in the normal distribution. </vt:lpstr>
      <vt:lpstr>What about a sample mean?</vt:lpstr>
      <vt:lpstr>What about a sample mean?</vt:lpstr>
      <vt:lpstr>What about a sample mean?</vt:lpstr>
      <vt:lpstr>What about a sample mean?</vt:lpstr>
      <vt:lpstr>What about a sample mean?</vt:lpstr>
      <vt:lpstr>What about a sample mean?</vt:lpstr>
      <vt:lpstr>What about a sample mean?</vt:lpstr>
      <vt:lpstr>What about a sample mean?</vt:lpstr>
      <vt:lpstr>Calculating t-values.</vt:lpstr>
      <vt:lpstr>Calculating t-values.</vt:lpstr>
      <vt:lpstr>Calculating t-values.</vt:lpstr>
      <vt:lpstr>What is probability of observing a sample mean in a t-distribution, N = 10. </vt:lpstr>
      <vt:lpstr>What is probability of observing a sample mean in a t-distribution, N = 50. </vt:lpstr>
      <vt:lpstr>A generalized form of the t-statistic.</vt:lpstr>
      <vt:lpstr>A generalized form of the t-statistic.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 in medic</dc:title>
  <dc:creator>Keith Lohse</dc:creator>
  <cp:lastModifiedBy>Keith Lohse</cp:lastModifiedBy>
  <cp:revision>416</cp:revision>
  <dcterms:created xsi:type="dcterms:W3CDTF">2017-01-28T12:59:49Z</dcterms:created>
  <dcterms:modified xsi:type="dcterms:W3CDTF">2020-01-12T20:09:32Z</dcterms:modified>
</cp:coreProperties>
</file>
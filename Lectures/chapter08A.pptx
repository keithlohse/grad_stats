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382" r:id="rId2"/>
    <p:sldId id="383" r:id="rId3"/>
    <p:sldId id="384" r:id="rId4"/>
    <p:sldId id="385" r:id="rId5"/>
    <p:sldId id="386" r:id="rId6"/>
    <p:sldId id="387" r:id="rId7"/>
    <p:sldId id="388" r:id="rId8"/>
    <p:sldId id="390" r:id="rId9"/>
    <p:sldId id="391" r:id="rId10"/>
    <p:sldId id="392" r:id="rId11"/>
    <p:sldId id="393" r:id="rId12"/>
    <p:sldId id="394" r:id="rId13"/>
    <p:sldId id="395" r:id="rId14"/>
    <p:sldId id="396" r:id="rId15"/>
    <p:sldId id="397" r:id="rId16"/>
    <p:sldId id="39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FFC000"/>
    <a:srgbClr val="FFFFFF"/>
    <a:srgbClr val="4472C4"/>
    <a:srgbClr val="FF9797"/>
    <a:srgbClr val="A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84424" autoAdjust="0"/>
  </p:normalViewPr>
  <p:slideViewPr>
    <p:cSldViewPr snapToGrid="0">
      <p:cViewPr varScale="1">
        <p:scale>
          <a:sx n="97" d="100"/>
          <a:sy n="97" d="100"/>
        </p:scale>
        <p:origin x="10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25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676DDE-75BB-4B04-A0BD-5C17E33DC40E}" type="datetimeFigureOut">
              <a:rPr lang="en-US" smtClean="0"/>
              <a:t>2/24/2019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A7B62B-0753-4BDE-90F4-CDED710DE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86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4731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3314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2981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4942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280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044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7296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3793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2483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1030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177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0295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1864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8472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0149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2167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5B63A-1390-4120-94EB-00092381E02F}" type="datetime1">
              <a:rPr lang="en-US" smtClean="0"/>
              <a:t>2/24/2019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4654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2/24/2019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7303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6FB65-6EAB-49E5-A1DB-3E80C39C53B8}" type="datetime1">
              <a:rPr lang="en-US" smtClean="0"/>
              <a:t>2/24/2019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0235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99224-D20E-45FC-AB47-7036B7429E06}" type="datetime1">
              <a:rPr lang="en-US" smtClean="0"/>
              <a:t>2/24/2019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4358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4B67A-60ED-4797-943A-55D5CD883011}" type="datetime1">
              <a:rPr lang="en-US" smtClean="0"/>
              <a:t>2/24/2019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2288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2/24/2019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258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DC5B5-E9BF-4312-938F-57F5458B9411}" type="datetime1">
              <a:rPr lang="en-US" smtClean="0"/>
              <a:t>2/24/2019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9043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61C03-418D-427D-912F-3A80D46B024B}" type="datetime1">
              <a:rPr lang="en-US" smtClean="0"/>
              <a:t>2/24/2019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4933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C2541-89D1-43A5-9247-9C9B7AE89E66}" type="datetime1">
              <a:rPr lang="en-US" smtClean="0"/>
              <a:t>2/24/2019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4528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A8DF6-2286-4D85-88A8-00AC199A2C34}" type="datetime1">
              <a:rPr lang="en-US" smtClean="0"/>
              <a:t>2/24/2019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9047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E0AFB-8BB9-4422-BB79-0EF175454CED}" type="datetime1">
              <a:rPr lang="en-US" smtClean="0"/>
              <a:t>2/24/2019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7784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17F07-1C55-41A1-B81A-75CAA13E3CFD}" type="datetime1">
              <a:rPr lang="en-US" smtClean="0"/>
              <a:t>2/24/2019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271849" cy="685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323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22" y="-12033"/>
            <a:ext cx="11916578" cy="478348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5421" y="4120308"/>
            <a:ext cx="11914632" cy="27376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7316" y="1027966"/>
            <a:ext cx="11421410" cy="1771839"/>
          </a:xfrm>
          <a:solidFill>
            <a:srgbClr val="FFFFFF">
              <a:alpha val="50196"/>
            </a:srgbClr>
          </a:solidFill>
          <a:ln>
            <a:solidFill>
              <a:schemeClr val="tx1"/>
            </a:solidFill>
          </a:ln>
        </p:spPr>
        <p:txBody>
          <a:bodyPr anchor="ctr">
            <a:normAutofit/>
          </a:bodyPr>
          <a:lstStyle/>
          <a:p>
            <a:r>
              <a:rPr lang="en-US" sz="5400" dirty="0"/>
              <a:t>Models with a Single Categorical Predictor (Independent t-test).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7316" y="4313760"/>
            <a:ext cx="9144000" cy="2302208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Keith Lohse, PhD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Assistant Professor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Department of Health, Kinesiology, and Recreation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Department of Physical Therapy and Athletic Training</a:t>
            </a:r>
          </a:p>
          <a:p>
            <a:pPr algn="l"/>
            <a:r>
              <a:rPr lang="en-US" sz="2000" b="1" dirty="0">
                <a:solidFill>
                  <a:schemeClr val="bg1">
                    <a:lumMod val="50000"/>
                  </a:schemeClr>
                </a:solidFill>
              </a:rPr>
              <a:t>University of Utah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</a:t>
            </a:fld>
            <a:endParaRPr lang="en-US"/>
          </a:p>
        </p:txBody>
      </p:sp>
      <p:sp>
        <p:nvSpPr>
          <p:cNvPr id="7" name="AutoShape 2" descr="Image result for utah college of health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7336B5-4F30-4282-9AE3-C49F61A3C5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2484" y="5747288"/>
            <a:ext cx="2626242" cy="868680"/>
          </a:xfrm>
          <a:prstGeom prst="rect">
            <a:avLst/>
          </a:prstGeom>
        </p:spPr>
      </p:pic>
      <p:pic>
        <p:nvPicPr>
          <p:cNvPr id="12" name="Picture 2" descr="Image result for email logo png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81" y="4314251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9091581" y="4358185"/>
            <a:ext cx="2960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keith.lohse@health.utah.edu</a:t>
            </a:r>
          </a:p>
        </p:txBody>
      </p:sp>
      <p:pic>
        <p:nvPicPr>
          <p:cNvPr id="14" name="Picture 4" descr="Image result for twitter logo png"/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81" y="4815385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9091581" y="4859319"/>
            <a:ext cx="1525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@</a:t>
            </a:r>
            <a:r>
              <a:rPr lang="en-US" dirty="0" err="1"/>
              <a:t>keith_lohse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7380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Categorical Predictors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Thus far, we have looked at the relationships between </a:t>
            </a:r>
            <a:r>
              <a:rPr lang="en-US" b="1" u="sng" dirty="0"/>
              <a:t>continuous</a:t>
            </a:r>
            <a:r>
              <a:rPr lang="en-US" dirty="0"/>
              <a:t> predictor variables (X’s) and </a:t>
            </a:r>
            <a:r>
              <a:rPr lang="en-US" b="1" u="sng" dirty="0"/>
              <a:t>continuous</a:t>
            </a:r>
            <a:r>
              <a:rPr lang="en-US" dirty="0"/>
              <a:t> outcome variables (Y’s).</a:t>
            </a:r>
          </a:p>
          <a:p>
            <a:endParaRPr lang="en-US" dirty="0"/>
          </a:p>
          <a:p>
            <a:r>
              <a:rPr lang="en-US" dirty="0"/>
              <a:t>Now, we will shift our focus to </a:t>
            </a:r>
            <a:r>
              <a:rPr lang="en-US" b="1" u="sng" dirty="0"/>
              <a:t>categorical</a:t>
            </a:r>
            <a:r>
              <a:rPr lang="en-US" dirty="0"/>
              <a:t> predictors (X’s) and </a:t>
            </a:r>
            <a:r>
              <a:rPr lang="en-US" b="1" u="sng" dirty="0"/>
              <a:t>continuous</a:t>
            </a:r>
            <a:r>
              <a:rPr lang="en-US" dirty="0"/>
              <a:t> outcome variables (Y’s).</a:t>
            </a:r>
          </a:p>
          <a:p>
            <a:pPr lvl="1"/>
            <a:r>
              <a:rPr lang="en-US" dirty="0"/>
              <a:t>Categorical predictors can be “natural” groupings (e.g., a cohort study) or could be experimental groupings (e.g., a randomized controlled trial).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Categorical variables can also be “made” by breaking continuous variables into groups. </a:t>
            </a:r>
            <a:r>
              <a:rPr lang="en-US" b="1" u="sng" dirty="0"/>
              <a:t>However</a:t>
            </a:r>
            <a:r>
              <a:rPr lang="en-US" dirty="0"/>
              <a:t>, breaking a continuous variable into a categorical variable is generally a bad practice and has a negative effect on statistical power.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2/24/2019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9801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represent a categorical variable?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b="1" u="sng" dirty="0"/>
                  <a:t>Contrast codes</a:t>
                </a:r>
                <a:r>
                  <a:rPr lang="en-US" dirty="0"/>
                  <a:t>:</a:t>
                </a:r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i="1" smtClean="0"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nary>
                  </m:oMath>
                </a14:m>
                <a:endParaRPr lang="en-US" dirty="0"/>
              </a:p>
              <a:p>
                <a:endParaRPr lang="en-US" dirty="0"/>
              </a:p>
              <a:p>
                <a:pPr lvl="1"/>
                <a:r>
                  <a:rPr lang="en-US" dirty="0"/>
                  <a:t>Note this is the sum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(the code) not the sum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(the data).</a:t>
                </a:r>
              </a:p>
              <a:p>
                <a:pPr lvl="1"/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 panose="02040503050406030204" pitchFamily="18" charset="0"/>
                              </a:rPr>
                              <m:t>λ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nary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 panose="02040503050406030204" pitchFamily="18" charset="0"/>
                              </a:rPr>
                              <m:t>λ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nary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 panose="02040503050406030204" pitchFamily="18" charset="0"/>
                              </a:rPr>
                              <m:t>λ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nary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2118" t="-2241" r="-1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Content Placeholder 6"/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199979471"/>
                  </p:ext>
                </p:extLst>
              </p:nvPr>
            </p:nvGraphicFramePr>
            <p:xfrm>
              <a:off x="6172200" y="1825625"/>
              <a:ext cx="5181600" cy="37084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595284">
                      <a:extLst>
                        <a:ext uri="{9D8B030D-6E8A-4147-A177-3AD203B41FA5}">
                          <a16:colId xmlns:a16="http://schemas.microsoft.com/office/drawing/2014/main" val="3934963951"/>
                        </a:ext>
                      </a:extLst>
                    </a:gridCol>
                    <a:gridCol w="995516">
                      <a:extLst>
                        <a:ext uri="{9D8B030D-6E8A-4147-A177-3AD203B41FA5}">
                          <a16:colId xmlns:a16="http://schemas.microsoft.com/office/drawing/2014/main" val="3396272768"/>
                        </a:ext>
                      </a:extLst>
                    </a:gridCol>
                    <a:gridCol w="1295400">
                      <a:extLst>
                        <a:ext uri="{9D8B030D-6E8A-4147-A177-3AD203B41FA5}">
                          <a16:colId xmlns:a16="http://schemas.microsoft.com/office/drawing/2014/main" val="3315638393"/>
                        </a:ext>
                      </a:extLst>
                    </a:gridCol>
                    <a:gridCol w="1295400">
                      <a:extLst>
                        <a:ext uri="{9D8B030D-6E8A-4147-A177-3AD203B41FA5}">
                          <a16:colId xmlns:a16="http://schemas.microsoft.com/office/drawing/2014/main" val="225408244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Group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624137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Smoker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+1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+0.5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284271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Smoker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+1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+0.5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927936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Smoker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+1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+0.5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17309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Smoker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+1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+0.5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03053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Smoker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+1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+0.5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167666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Non-Smoker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724406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Non-Smoker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82203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Non-Smoker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29298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Non-Smoker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114163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Content Placeholder 6"/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199979471"/>
                  </p:ext>
                </p:extLst>
              </p:nvPr>
            </p:nvGraphicFramePr>
            <p:xfrm>
              <a:off x="6172200" y="1825625"/>
              <a:ext cx="5181600" cy="37084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595284">
                      <a:extLst>
                        <a:ext uri="{9D8B030D-6E8A-4147-A177-3AD203B41FA5}">
                          <a16:colId xmlns:a16="http://schemas.microsoft.com/office/drawing/2014/main" val="3934963951"/>
                        </a:ext>
                      </a:extLst>
                    </a:gridCol>
                    <a:gridCol w="995516">
                      <a:extLst>
                        <a:ext uri="{9D8B030D-6E8A-4147-A177-3AD203B41FA5}">
                          <a16:colId xmlns:a16="http://schemas.microsoft.com/office/drawing/2014/main" val="3396272768"/>
                        </a:ext>
                      </a:extLst>
                    </a:gridCol>
                    <a:gridCol w="1295400">
                      <a:extLst>
                        <a:ext uri="{9D8B030D-6E8A-4147-A177-3AD203B41FA5}">
                          <a16:colId xmlns:a16="http://schemas.microsoft.com/office/drawing/2014/main" val="3315638393"/>
                        </a:ext>
                      </a:extLst>
                    </a:gridCol>
                    <a:gridCol w="1295400">
                      <a:extLst>
                        <a:ext uri="{9D8B030D-6E8A-4147-A177-3AD203B41FA5}">
                          <a16:colId xmlns:a16="http://schemas.microsoft.com/office/drawing/2014/main" val="225408244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Group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60366" t="-8197" r="-261585" b="-9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1415" t="-8197" r="-102358" b="-9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0000" t="-8197" r="-1878" b="-9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24137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Smoker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+1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+0.5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284271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Smoker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+1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+0.5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927936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Smoker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+1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+0.5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17309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Smoker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+1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+0.5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03053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Smoker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+1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+0.5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167666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Non-Smoker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-1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-0.5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724406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Non-Smoker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-1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-0.5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82203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Non-Smoker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-1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-0.5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29298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Non-Smoker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-1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-0.5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114163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99224-D20E-45FC-AB47-7036B7429E06}" type="datetime1">
              <a:rPr lang="en-US" smtClean="0"/>
              <a:t>2/24/2019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597950" y="5668962"/>
                <a:ext cx="1012650" cy="6140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nary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7950" y="5668962"/>
                <a:ext cx="1012650" cy="614079"/>
              </a:xfrm>
              <a:prstGeom prst="rect">
                <a:avLst/>
              </a:prstGeom>
              <a:blipFill>
                <a:blip r:embed="rId5"/>
                <a:stretch>
                  <a:fillRect l="-54491" t="-115842" r="-59281" b="-1663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8763000" y="5668962"/>
                <a:ext cx="1153072" cy="6140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0.5</m:t>
                          </m:r>
                        </m:e>
                      </m:nary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3000" y="5668962"/>
                <a:ext cx="1153072" cy="614079"/>
              </a:xfrm>
              <a:prstGeom prst="rect">
                <a:avLst/>
              </a:prstGeom>
              <a:blipFill>
                <a:blip r:embed="rId6"/>
                <a:stretch>
                  <a:fillRect l="-48677" t="-115842" r="-44444" b="-1663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0064304" y="5668962"/>
                <a:ext cx="1053685" cy="6140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nary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4304" y="5668962"/>
                <a:ext cx="1053685" cy="614079"/>
              </a:xfrm>
              <a:prstGeom prst="rect">
                <a:avLst/>
              </a:prstGeom>
              <a:blipFill>
                <a:blip r:embed="rId7"/>
                <a:stretch>
                  <a:fillRect l="-51445" t="-115842" r="-58960" b="-1663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78528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represent a categorical variable?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u="sng" dirty="0"/>
              <a:t>Contrast codes</a:t>
            </a:r>
            <a:r>
              <a:rPr lang="en-US" dirty="0"/>
              <a:t>: the levels of our code sum to zero.</a:t>
            </a:r>
          </a:p>
          <a:p>
            <a:pPr lvl="1"/>
            <a:r>
              <a:rPr lang="en-US" dirty="0"/>
              <a:t>Equivalent to mean-centering of continuous variables.</a:t>
            </a:r>
          </a:p>
          <a:p>
            <a:endParaRPr lang="en-US" dirty="0"/>
          </a:p>
          <a:p>
            <a:r>
              <a:rPr lang="en-US" b="1" u="sng" dirty="0"/>
              <a:t>Treatment/ ‘Dummy’ codes</a:t>
            </a:r>
            <a:r>
              <a:rPr lang="en-US" dirty="0"/>
              <a:t>: levels of the code do not sum to zero. One group is coded as zero across all levels of the code.</a:t>
            </a:r>
          </a:p>
          <a:p>
            <a:pPr lvl="1"/>
            <a:r>
              <a:rPr lang="en-US" dirty="0"/>
              <a:t>Analogous to having an interpretable 0 in your continuous variable.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Content Placeholder 6"/>
              <p:cNvGraphicFramePr>
                <a:graphicFrameLocks noGrp="1"/>
              </p:cNvGraphicFramePr>
              <p:nvPr>
                <p:ph sz="half" idx="2"/>
              </p:nvPr>
            </p:nvGraphicFramePr>
            <p:xfrm>
              <a:off x="6172200" y="1825625"/>
              <a:ext cx="5181600" cy="37084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595284">
                      <a:extLst>
                        <a:ext uri="{9D8B030D-6E8A-4147-A177-3AD203B41FA5}">
                          <a16:colId xmlns:a16="http://schemas.microsoft.com/office/drawing/2014/main" val="3934963951"/>
                        </a:ext>
                      </a:extLst>
                    </a:gridCol>
                    <a:gridCol w="995516">
                      <a:extLst>
                        <a:ext uri="{9D8B030D-6E8A-4147-A177-3AD203B41FA5}">
                          <a16:colId xmlns:a16="http://schemas.microsoft.com/office/drawing/2014/main" val="3396272768"/>
                        </a:ext>
                      </a:extLst>
                    </a:gridCol>
                    <a:gridCol w="1295400">
                      <a:extLst>
                        <a:ext uri="{9D8B030D-6E8A-4147-A177-3AD203B41FA5}">
                          <a16:colId xmlns:a16="http://schemas.microsoft.com/office/drawing/2014/main" val="3315638393"/>
                        </a:ext>
                      </a:extLst>
                    </a:gridCol>
                    <a:gridCol w="1295400">
                      <a:extLst>
                        <a:ext uri="{9D8B030D-6E8A-4147-A177-3AD203B41FA5}">
                          <a16:colId xmlns:a16="http://schemas.microsoft.com/office/drawing/2014/main" val="225408244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Group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624137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Smoker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+1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+0.5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284271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Smoker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+1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+0.5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927936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Smoker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+1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+0.5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17309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Smoker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+1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+0.5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03053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Smoker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+1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+0.5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167666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Non-Smoker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724406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Non-Smoker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82203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Non-Smoker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29298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Non-Smoker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114163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Content Placeholder 6"/>
              <p:cNvGraphicFramePr>
                <a:graphicFrameLocks noGrp="1"/>
              </p:cNvGraphicFramePr>
              <p:nvPr>
                <p:ph sz="half" idx="2"/>
              </p:nvPr>
            </p:nvGraphicFramePr>
            <p:xfrm>
              <a:off x="6172200" y="1825625"/>
              <a:ext cx="5181600" cy="37084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595284">
                      <a:extLst>
                        <a:ext uri="{9D8B030D-6E8A-4147-A177-3AD203B41FA5}">
                          <a16:colId xmlns:a16="http://schemas.microsoft.com/office/drawing/2014/main" val="3934963951"/>
                        </a:ext>
                      </a:extLst>
                    </a:gridCol>
                    <a:gridCol w="995516">
                      <a:extLst>
                        <a:ext uri="{9D8B030D-6E8A-4147-A177-3AD203B41FA5}">
                          <a16:colId xmlns:a16="http://schemas.microsoft.com/office/drawing/2014/main" val="3396272768"/>
                        </a:ext>
                      </a:extLst>
                    </a:gridCol>
                    <a:gridCol w="1295400">
                      <a:extLst>
                        <a:ext uri="{9D8B030D-6E8A-4147-A177-3AD203B41FA5}">
                          <a16:colId xmlns:a16="http://schemas.microsoft.com/office/drawing/2014/main" val="3315638393"/>
                        </a:ext>
                      </a:extLst>
                    </a:gridCol>
                    <a:gridCol w="1295400">
                      <a:extLst>
                        <a:ext uri="{9D8B030D-6E8A-4147-A177-3AD203B41FA5}">
                          <a16:colId xmlns:a16="http://schemas.microsoft.com/office/drawing/2014/main" val="225408244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Group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0366" t="-8197" r="-261585" b="-9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1415" t="-8197" r="-102358" b="-9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8197" r="-1878" b="-9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24137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Smoker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+1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+0.5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284271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Smoker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+1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+0.5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927936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Smoker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+1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+0.5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17309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Smoker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+1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+0.5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03053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Smoker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+1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+0.5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167666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Non-Smoker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-1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-0.5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724406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Non-Smoker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-1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-0.5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82203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Non-Smoker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-1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-0.5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29298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Non-Smoker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-1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-0.5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114163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99224-D20E-45FC-AB47-7036B7429E06}" type="datetime1">
              <a:rPr lang="en-US" smtClean="0"/>
              <a:t>2/24/2019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1838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Contrast Codes in Practice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164070042"/>
              </p:ext>
            </p:extLst>
          </p:nvPr>
        </p:nvGraphicFramePr>
        <p:xfrm>
          <a:off x="838200" y="1373894"/>
          <a:ext cx="3704304" cy="525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768">
                  <a:extLst>
                    <a:ext uri="{9D8B030D-6E8A-4147-A177-3AD203B41FA5}">
                      <a16:colId xmlns:a16="http://schemas.microsoft.com/office/drawing/2014/main" val="1656743320"/>
                    </a:ext>
                  </a:extLst>
                </a:gridCol>
                <a:gridCol w="1234768">
                  <a:extLst>
                    <a:ext uri="{9D8B030D-6E8A-4147-A177-3AD203B41FA5}">
                      <a16:colId xmlns:a16="http://schemas.microsoft.com/office/drawing/2014/main" val="3292088974"/>
                    </a:ext>
                  </a:extLst>
                </a:gridCol>
                <a:gridCol w="1234768">
                  <a:extLst>
                    <a:ext uri="{9D8B030D-6E8A-4147-A177-3AD203B41FA5}">
                      <a16:colId xmlns:a16="http://schemas.microsoft.com/office/drawing/2014/main" val="3934472060"/>
                    </a:ext>
                  </a:extLst>
                </a:gridCol>
              </a:tblGrid>
              <a:tr h="249786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SAT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4881574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580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3731968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560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3228988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660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0802165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620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5779997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0993152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580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4515581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590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98441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640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2472361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620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0714708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362564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580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6120356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530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929529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590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2183123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550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1365159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610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9814990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590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6128994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215547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530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895082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590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9107792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22986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>
              <a:xfrm>
                <a:off x="5149644" y="1599483"/>
                <a:ext cx="6422923" cy="4351338"/>
              </a:xfrm>
            </p:spPr>
            <p:txBody>
              <a:bodyPr/>
              <a:lstStyle/>
              <a:p>
                <a:r>
                  <a:rPr lang="en-US" dirty="0"/>
                  <a:t>If we want to test the efficacy of an SAT prep course, we would have a model comparison:</a:t>
                </a:r>
              </a:p>
              <a:p>
                <a:pPr lvl="1"/>
                <a:r>
                  <a:rPr lang="en-US" dirty="0"/>
                  <a:t>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149644" y="1599483"/>
                <a:ext cx="6422923" cy="4351338"/>
              </a:xfrm>
              <a:blipFill>
                <a:blip r:embed="rId3"/>
                <a:stretch>
                  <a:fillRect l="-1709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0004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Contrast Codes in Practice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half" idx="1"/>
          </p:nvPr>
        </p:nvGraphicFramePr>
        <p:xfrm>
          <a:off x="838200" y="1373894"/>
          <a:ext cx="3704304" cy="525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768">
                  <a:extLst>
                    <a:ext uri="{9D8B030D-6E8A-4147-A177-3AD203B41FA5}">
                      <a16:colId xmlns:a16="http://schemas.microsoft.com/office/drawing/2014/main" val="1656743320"/>
                    </a:ext>
                  </a:extLst>
                </a:gridCol>
                <a:gridCol w="1234768">
                  <a:extLst>
                    <a:ext uri="{9D8B030D-6E8A-4147-A177-3AD203B41FA5}">
                      <a16:colId xmlns:a16="http://schemas.microsoft.com/office/drawing/2014/main" val="3292088974"/>
                    </a:ext>
                  </a:extLst>
                </a:gridCol>
                <a:gridCol w="1234768">
                  <a:extLst>
                    <a:ext uri="{9D8B030D-6E8A-4147-A177-3AD203B41FA5}">
                      <a16:colId xmlns:a16="http://schemas.microsoft.com/office/drawing/2014/main" val="3934472060"/>
                    </a:ext>
                  </a:extLst>
                </a:gridCol>
              </a:tblGrid>
              <a:tr h="249786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SAT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4881574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580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3731968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560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3228988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660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0802165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620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5779997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0993152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580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4515581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590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98441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640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2472361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620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0714708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362564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580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6120356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530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929529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590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2183123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550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1365159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610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9814990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590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6128994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215547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530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895082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590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9107792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22986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>
              <a:xfrm>
                <a:off x="5149644" y="1599483"/>
                <a:ext cx="6422923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If we want to test the efficacy of an SAT prep course, we would have a model comparison:</a:t>
                </a:r>
              </a:p>
              <a:p>
                <a:pPr lvl="1"/>
                <a:r>
                  <a:rPr lang="en-US" dirty="0"/>
                  <a:t>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d>
                      <m:d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Note that in Model C we are hypothesizing there is no effect of an SAT prep course. </a:t>
                </a:r>
              </a:p>
              <a:p>
                <a:pPr lvl="1"/>
                <a:r>
                  <a:rPr lang="en-US" dirty="0"/>
                  <a:t>In Model A, we are allowing for a non-zero effect.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149644" y="1599483"/>
                <a:ext cx="6422923" cy="4351338"/>
              </a:xfrm>
              <a:blipFill>
                <a:blip r:embed="rId3"/>
                <a:stretch>
                  <a:fillRect l="-1709" t="-3081" r="-18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8422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Contrast Codes in Practice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100413045"/>
              </p:ext>
            </p:extLst>
          </p:nvPr>
        </p:nvGraphicFramePr>
        <p:xfrm>
          <a:off x="838198" y="1373894"/>
          <a:ext cx="4166420" cy="525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1605">
                  <a:extLst>
                    <a:ext uri="{9D8B030D-6E8A-4147-A177-3AD203B41FA5}">
                      <a16:colId xmlns:a16="http://schemas.microsoft.com/office/drawing/2014/main" val="1656743320"/>
                    </a:ext>
                  </a:extLst>
                </a:gridCol>
                <a:gridCol w="1041605">
                  <a:extLst>
                    <a:ext uri="{9D8B030D-6E8A-4147-A177-3AD203B41FA5}">
                      <a16:colId xmlns:a16="http://schemas.microsoft.com/office/drawing/2014/main" val="3292088974"/>
                    </a:ext>
                  </a:extLst>
                </a:gridCol>
                <a:gridCol w="1041605">
                  <a:extLst>
                    <a:ext uri="{9D8B030D-6E8A-4147-A177-3AD203B41FA5}">
                      <a16:colId xmlns:a16="http://schemas.microsoft.com/office/drawing/2014/main" val="3934472060"/>
                    </a:ext>
                  </a:extLst>
                </a:gridCol>
                <a:gridCol w="1041605">
                  <a:extLst>
                    <a:ext uri="{9D8B030D-6E8A-4147-A177-3AD203B41FA5}">
                      <a16:colId xmlns:a16="http://schemas.microsoft.com/office/drawing/2014/main" val="216212195"/>
                    </a:ext>
                  </a:extLst>
                </a:gridCol>
              </a:tblGrid>
              <a:tr h="249786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SAT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X</a:t>
                      </a:r>
                      <a:r>
                        <a:rPr lang="en-US" sz="1100" baseline="-250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4881574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580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3731968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3228988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660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0802165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620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5779997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0993152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580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4515581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590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98441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640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2472361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620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0714708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362564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580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6120356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530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929529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590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2183123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550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1365159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610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9814990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590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6128994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215547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530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895082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590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9107792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22986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>
              <a:xfrm>
                <a:off x="5149644" y="1373894"/>
                <a:ext cx="6422923" cy="525480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We can create a contrast code for the Group variable:</a:t>
                </a:r>
              </a:p>
              <a:p>
                <a:pPr lvl="1"/>
                <a:r>
                  <a:rPr lang="en-US" dirty="0"/>
                  <a:t>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Using a coding scheme of +1 and -1, we get two different estimates for our different groups in Model A:</a:t>
                </a:r>
              </a:p>
              <a:p>
                <a:pPr lvl="1"/>
                <a:r>
                  <a:rPr lang="en-US" b="1" dirty="0">
                    <a:solidFill>
                      <a:schemeClr val="accent1"/>
                    </a:solidFill>
                  </a:rPr>
                  <a:t>Course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b="1" dirty="0">
                    <a:solidFill>
                      <a:srgbClr val="FF0000"/>
                    </a:solidFill>
                  </a:rPr>
                  <a:t>No Course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And this is a contrast code because:</a:t>
                </a:r>
              </a:p>
              <a:p>
                <a:pPr lvl="1"/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1+(−1)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149644" y="1373894"/>
                <a:ext cx="6422923" cy="5254800"/>
              </a:xfrm>
              <a:blipFill>
                <a:blip r:embed="rId3"/>
                <a:stretch>
                  <a:fillRect l="-1709" t="-1856" b="-148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7628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8769"/>
          </a:xfrm>
        </p:spPr>
        <p:txBody>
          <a:bodyPr/>
          <a:lstStyle/>
          <a:p>
            <a:r>
              <a:rPr lang="en-US" dirty="0"/>
              <a:t>Error and ‘Fitting’ Model 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Content Placeholder 6"/>
              <p:cNvGraphicFramePr>
                <a:graphicFrameLocks noGrp="1"/>
              </p:cNvGraphicFramePr>
              <p:nvPr>
                <p:ph sz="half" idx="1"/>
              </p:nvPr>
            </p:nvGraphicFramePr>
            <p:xfrm>
              <a:off x="838198" y="1373894"/>
              <a:ext cx="5238135" cy="526692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8305">
                      <a:extLst>
                        <a:ext uri="{9D8B030D-6E8A-4147-A177-3AD203B41FA5}">
                          <a16:colId xmlns:a16="http://schemas.microsoft.com/office/drawing/2014/main" val="1656743320"/>
                        </a:ext>
                      </a:extLst>
                    </a:gridCol>
                    <a:gridCol w="748305">
                      <a:extLst>
                        <a:ext uri="{9D8B030D-6E8A-4147-A177-3AD203B41FA5}">
                          <a16:colId xmlns:a16="http://schemas.microsoft.com/office/drawing/2014/main" val="3292088974"/>
                        </a:ext>
                      </a:extLst>
                    </a:gridCol>
                    <a:gridCol w="748305">
                      <a:extLst>
                        <a:ext uri="{9D8B030D-6E8A-4147-A177-3AD203B41FA5}">
                          <a16:colId xmlns:a16="http://schemas.microsoft.com/office/drawing/2014/main" val="3934472060"/>
                        </a:ext>
                      </a:extLst>
                    </a:gridCol>
                    <a:gridCol w="748305">
                      <a:extLst>
                        <a:ext uri="{9D8B030D-6E8A-4147-A177-3AD203B41FA5}">
                          <a16:colId xmlns:a16="http://schemas.microsoft.com/office/drawing/2014/main" val="216212195"/>
                        </a:ext>
                      </a:extLst>
                    </a:gridCol>
                    <a:gridCol w="748305">
                      <a:extLst>
                        <a:ext uri="{9D8B030D-6E8A-4147-A177-3AD203B41FA5}">
                          <a16:colId xmlns:a16="http://schemas.microsoft.com/office/drawing/2014/main" val="3990455921"/>
                        </a:ext>
                      </a:extLst>
                    </a:gridCol>
                    <a:gridCol w="748305">
                      <a:extLst>
                        <a:ext uri="{9D8B030D-6E8A-4147-A177-3AD203B41FA5}">
                          <a16:colId xmlns:a16="http://schemas.microsoft.com/office/drawing/2014/main" val="1257797985"/>
                        </a:ext>
                      </a:extLst>
                    </a:gridCol>
                    <a:gridCol w="748305">
                      <a:extLst>
                        <a:ext uri="{9D8B030D-6E8A-4147-A177-3AD203B41FA5}">
                          <a16:colId xmlns:a16="http://schemas.microsoft.com/office/drawing/2014/main" val="3528653587"/>
                        </a:ext>
                      </a:extLst>
                    </a:gridCol>
                  </a:tblGrid>
                  <a:tr h="2497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Student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Group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SAT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X</a:t>
                          </a:r>
                          <a:r>
                            <a:rPr lang="en-US" sz="1100" baseline="-25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en-US" sz="1100" i="1" baseline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1100" b="1" i="1" baseline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100" b="1" i="1" baseline="0" smtClean="0">
                                            <a:latin typeface="Cambria Math" panose="02040503050406030204" pitchFamily="18" charset="0"/>
                                          </a:rPr>
                                          <m:t>𝒚</m:t>
                                        </m:r>
                                      </m:e>
                                      <m:sub>
                                        <m:r>
                                          <a:rPr lang="en-US" sz="1100" b="1" i="1" baseline="0" smtClean="0">
                                            <a:latin typeface="Cambria Math" panose="02040503050406030204" pitchFamily="18" charset="0"/>
                                          </a:rPr>
                                          <m:t>𝒄𝒊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1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100" b="1" i="1" baseline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baseline="0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1100" b="1" i="1" baseline="0" smtClean="0">
                                        <a:latin typeface="Cambria Math" panose="02040503050406030204" pitchFamily="18" charset="0"/>
                                      </a:rPr>
                                      <m:t>𝒄𝒊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100" b="1" i="1" baseline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100" b="1" i="1" baseline="0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1100" b="1" i="1" baseline="0" smtClean="0">
                                        <a:latin typeface="Cambria Math" panose="02040503050406030204" pitchFamily="18" charset="0"/>
                                      </a:rPr>
                                      <m:t>𝒄𝒊</m:t>
                                    </m:r>
                                  </m:sub>
                                  <m:sup>
                                    <m:r>
                                      <a:rPr lang="en-US" sz="1100" b="1" i="1" baseline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100" baseline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34881574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591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-11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121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33731968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591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-31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961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3228988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591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4761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40802165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591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29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841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5779997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591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81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80993152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591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-11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121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4515581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590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591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0998441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591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49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2401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82472361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591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29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841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50714708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591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81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362564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11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No 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591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-11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121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46120356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No 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591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-61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3721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08929529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13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No 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590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591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2183123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14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No 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591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-41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1681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71365159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No 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591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361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99814990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No 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590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591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96128994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No 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591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81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215547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No 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591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-61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3721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00895082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19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No 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590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591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9107792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No 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591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81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722986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Content Placeholder 6"/>
              <p:cNvGraphicFramePr>
                <a:graphicFrameLocks noGrp="1"/>
              </p:cNvGraphicFramePr>
              <p:nvPr>
                <p:ph sz="half" idx="1"/>
              </p:nvPr>
            </p:nvGraphicFramePr>
            <p:xfrm>
              <a:off x="838198" y="1373894"/>
              <a:ext cx="5238135" cy="526692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8305">
                      <a:extLst>
                        <a:ext uri="{9D8B030D-6E8A-4147-A177-3AD203B41FA5}">
                          <a16:colId xmlns:a16="http://schemas.microsoft.com/office/drawing/2014/main" val="1656743320"/>
                        </a:ext>
                      </a:extLst>
                    </a:gridCol>
                    <a:gridCol w="748305">
                      <a:extLst>
                        <a:ext uri="{9D8B030D-6E8A-4147-A177-3AD203B41FA5}">
                          <a16:colId xmlns:a16="http://schemas.microsoft.com/office/drawing/2014/main" val="3292088974"/>
                        </a:ext>
                      </a:extLst>
                    </a:gridCol>
                    <a:gridCol w="748305">
                      <a:extLst>
                        <a:ext uri="{9D8B030D-6E8A-4147-A177-3AD203B41FA5}">
                          <a16:colId xmlns:a16="http://schemas.microsoft.com/office/drawing/2014/main" val="3934472060"/>
                        </a:ext>
                      </a:extLst>
                    </a:gridCol>
                    <a:gridCol w="748305">
                      <a:extLst>
                        <a:ext uri="{9D8B030D-6E8A-4147-A177-3AD203B41FA5}">
                          <a16:colId xmlns:a16="http://schemas.microsoft.com/office/drawing/2014/main" val="216212195"/>
                        </a:ext>
                      </a:extLst>
                    </a:gridCol>
                    <a:gridCol w="748305">
                      <a:extLst>
                        <a:ext uri="{9D8B030D-6E8A-4147-A177-3AD203B41FA5}">
                          <a16:colId xmlns:a16="http://schemas.microsoft.com/office/drawing/2014/main" val="3990455921"/>
                        </a:ext>
                      </a:extLst>
                    </a:gridCol>
                    <a:gridCol w="748305">
                      <a:extLst>
                        <a:ext uri="{9D8B030D-6E8A-4147-A177-3AD203B41FA5}">
                          <a16:colId xmlns:a16="http://schemas.microsoft.com/office/drawing/2014/main" val="1257797985"/>
                        </a:ext>
                      </a:extLst>
                    </a:gridCol>
                    <a:gridCol w="748305">
                      <a:extLst>
                        <a:ext uri="{9D8B030D-6E8A-4147-A177-3AD203B41FA5}">
                          <a16:colId xmlns:a16="http://schemas.microsoft.com/office/drawing/2014/main" val="3528653587"/>
                        </a:ext>
                      </a:extLst>
                    </a:gridCol>
                  </a:tblGrid>
                  <a:tr h="27120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Student</a:t>
                          </a:r>
                          <a:endParaRPr lang="en-US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Group</a:t>
                          </a:r>
                          <a:endParaRPr lang="en-US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SAT</a:t>
                          </a:r>
                          <a:endParaRPr lang="en-US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X</a:t>
                          </a:r>
                          <a:r>
                            <a:rPr lang="en-US" sz="1100" baseline="-25000" dirty="0" smtClean="0"/>
                            <a:t>1</a:t>
                          </a:r>
                          <a:endParaRPr lang="en-US" sz="1100" baseline="-25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2222" r="-203252" b="-18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0000" t="-2222" r="-103252" b="-18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00000" t="-2222" r="-3252" b="-183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4881574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580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591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-11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121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33731968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2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560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591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-31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961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3228988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3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660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591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69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4761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40802165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4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620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591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29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841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5779997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5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600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591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9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81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80993152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6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580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591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-11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121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4515581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7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590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591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0998441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8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640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591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49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2401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82472361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9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620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591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29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841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50714708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10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600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591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9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81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362564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11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No 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580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591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-11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121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46120356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12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No 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530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591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-61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3721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08929529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13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No 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590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591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2183123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14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No 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550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591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-41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1681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71365159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15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No 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610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591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19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361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99814990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16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No 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590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591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96128994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17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No 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600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591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9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81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215547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18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No 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530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591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-61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3721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00895082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19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No 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590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591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9107792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20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No 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600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591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9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81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722986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>
              <a:xfrm>
                <a:off x="6479458" y="1373894"/>
                <a:ext cx="5486400" cy="525480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C: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b="0" dirty="0"/>
              </a:p>
              <a:p>
                <a:r>
                  <a:rPr lang="en-US" dirty="0"/>
                  <a:t>C: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=591+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𝑆𝑆𝐸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𝑐𝑖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nary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𝑐𝑖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𝑆𝑆𝐸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=19,980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479458" y="1373894"/>
                <a:ext cx="5486400" cy="5254800"/>
              </a:xfrm>
              <a:blipFill>
                <a:blip r:embed="rId4"/>
                <a:stretch>
                  <a:fillRect l="-2000" t="-18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8973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8769"/>
          </a:xfrm>
        </p:spPr>
        <p:txBody>
          <a:bodyPr/>
          <a:lstStyle/>
          <a:p>
            <a:r>
              <a:rPr lang="en-US" dirty="0"/>
              <a:t>Error and ‘Fitting’ Model 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Content Placeholder 6"/>
              <p:cNvGraphicFramePr>
                <a:graphicFrameLocks noGrp="1"/>
              </p:cNvGraphicFramePr>
              <p:nvPr>
                <p:ph sz="half" idx="1"/>
                <p:extLst>
                  <p:ext uri="{D42A27DB-BD31-4B8C-83A1-F6EECF244321}">
                    <p14:modId xmlns:p14="http://schemas.microsoft.com/office/powerpoint/2010/main" val="3482828565"/>
                  </p:ext>
                </p:extLst>
              </p:nvPr>
            </p:nvGraphicFramePr>
            <p:xfrm>
              <a:off x="838198" y="1373894"/>
              <a:ext cx="5238135" cy="526692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8305">
                      <a:extLst>
                        <a:ext uri="{9D8B030D-6E8A-4147-A177-3AD203B41FA5}">
                          <a16:colId xmlns:a16="http://schemas.microsoft.com/office/drawing/2014/main" val="1656743320"/>
                        </a:ext>
                      </a:extLst>
                    </a:gridCol>
                    <a:gridCol w="748305">
                      <a:extLst>
                        <a:ext uri="{9D8B030D-6E8A-4147-A177-3AD203B41FA5}">
                          <a16:colId xmlns:a16="http://schemas.microsoft.com/office/drawing/2014/main" val="3292088974"/>
                        </a:ext>
                      </a:extLst>
                    </a:gridCol>
                    <a:gridCol w="748305">
                      <a:extLst>
                        <a:ext uri="{9D8B030D-6E8A-4147-A177-3AD203B41FA5}">
                          <a16:colId xmlns:a16="http://schemas.microsoft.com/office/drawing/2014/main" val="3934472060"/>
                        </a:ext>
                      </a:extLst>
                    </a:gridCol>
                    <a:gridCol w="748305">
                      <a:extLst>
                        <a:ext uri="{9D8B030D-6E8A-4147-A177-3AD203B41FA5}">
                          <a16:colId xmlns:a16="http://schemas.microsoft.com/office/drawing/2014/main" val="216212195"/>
                        </a:ext>
                      </a:extLst>
                    </a:gridCol>
                    <a:gridCol w="748305">
                      <a:extLst>
                        <a:ext uri="{9D8B030D-6E8A-4147-A177-3AD203B41FA5}">
                          <a16:colId xmlns:a16="http://schemas.microsoft.com/office/drawing/2014/main" val="3990455921"/>
                        </a:ext>
                      </a:extLst>
                    </a:gridCol>
                    <a:gridCol w="748305">
                      <a:extLst>
                        <a:ext uri="{9D8B030D-6E8A-4147-A177-3AD203B41FA5}">
                          <a16:colId xmlns:a16="http://schemas.microsoft.com/office/drawing/2014/main" val="1257797985"/>
                        </a:ext>
                      </a:extLst>
                    </a:gridCol>
                    <a:gridCol w="748305">
                      <a:extLst>
                        <a:ext uri="{9D8B030D-6E8A-4147-A177-3AD203B41FA5}">
                          <a16:colId xmlns:a16="http://schemas.microsoft.com/office/drawing/2014/main" val="3528653587"/>
                        </a:ext>
                      </a:extLst>
                    </a:gridCol>
                  </a:tblGrid>
                  <a:tr h="2497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Student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Group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SAT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X</a:t>
                          </a:r>
                          <a:r>
                            <a:rPr lang="en-US" sz="1100" baseline="-25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en-US" sz="1100" i="1" baseline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1100" b="1" i="1" baseline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100" b="1" i="1" baseline="0" smtClean="0">
                                            <a:latin typeface="Cambria Math" panose="02040503050406030204" pitchFamily="18" charset="0"/>
                                          </a:rPr>
                                          <m:t>𝒚</m:t>
                                        </m:r>
                                      </m:e>
                                      <m:sub>
                                        <m:r>
                                          <a:rPr lang="en-US" sz="1100" b="1" i="1" baseline="0" smtClean="0">
                                            <a:latin typeface="Cambria Math" panose="02040503050406030204" pitchFamily="18" charset="0"/>
                                          </a:rPr>
                                          <m:t>𝒂𝒊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1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100" b="1" i="1" baseline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baseline="0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1100" b="1" i="1" baseline="0" smtClean="0">
                                        <a:latin typeface="Cambria Math" panose="02040503050406030204" pitchFamily="18" charset="0"/>
                                      </a:rPr>
                                      <m:t>𝒂𝒊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100" b="1" i="1" baseline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100" b="1" i="1" baseline="0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1100" b="1" i="1" baseline="0" smtClean="0">
                                        <a:latin typeface="Cambria Math" panose="02040503050406030204" pitchFamily="18" charset="0"/>
                                      </a:rPr>
                                      <m:t>𝒂𝒊</m:t>
                                    </m:r>
                                  </m:sub>
                                  <m:sup>
                                    <m:r>
                                      <a:rPr lang="en-US" sz="1100" b="1" i="1" baseline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100" baseline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34881574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605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33731968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605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-45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2025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3228988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605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3025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40802165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605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225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5779997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605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80993152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605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4515581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590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605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225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0998441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605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35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1225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82472361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605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225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50714708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605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362564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11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No 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577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46120356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No 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577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-47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2209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08929529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13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No 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590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577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169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2183123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14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No 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577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-27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729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71365159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No 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577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33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1089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99814990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No 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590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577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169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96128994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No 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577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23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529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215547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No 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577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-47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2209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00895082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19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No 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590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577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169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9107792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No 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577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23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529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722986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Content Placeholder 6"/>
              <p:cNvGraphicFramePr>
                <a:graphicFrameLocks noGrp="1"/>
              </p:cNvGraphicFramePr>
              <p:nvPr>
                <p:ph sz="half" idx="1"/>
                <p:extLst>
                  <p:ext uri="{D42A27DB-BD31-4B8C-83A1-F6EECF244321}">
                    <p14:modId xmlns:p14="http://schemas.microsoft.com/office/powerpoint/2010/main" val="3482828565"/>
                  </p:ext>
                </p:extLst>
              </p:nvPr>
            </p:nvGraphicFramePr>
            <p:xfrm>
              <a:off x="838198" y="1373894"/>
              <a:ext cx="5238135" cy="526692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8305">
                      <a:extLst>
                        <a:ext uri="{9D8B030D-6E8A-4147-A177-3AD203B41FA5}">
                          <a16:colId xmlns:a16="http://schemas.microsoft.com/office/drawing/2014/main" val="1656743320"/>
                        </a:ext>
                      </a:extLst>
                    </a:gridCol>
                    <a:gridCol w="748305">
                      <a:extLst>
                        <a:ext uri="{9D8B030D-6E8A-4147-A177-3AD203B41FA5}">
                          <a16:colId xmlns:a16="http://schemas.microsoft.com/office/drawing/2014/main" val="3292088974"/>
                        </a:ext>
                      </a:extLst>
                    </a:gridCol>
                    <a:gridCol w="748305">
                      <a:extLst>
                        <a:ext uri="{9D8B030D-6E8A-4147-A177-3AD203B41FA5}">
                          <a16:colId xmlns:a16="http://schemas.microsoft.com/office/drawing/2014/main" val="3934472060"/>
                        </a:ext>
                      </a:extLst>
                    </a:gridCol>
                    <a:gridCol w="748305">
                      <a:extLst>
                        <a:ext uri="{9D8B030D-6E8A-4147-A177-3AD203B41FA5}">
                          <a16:colId xmlns:a16="http://schemas.microsoft.com/office/drawing/2014/main" val="216212195"/>
                        </a:ext>
                      </a:extLst>
                    </a:gridCol>
                    <a:gridCol w="748305">
                      <a:extLst>
                        <a:ext uri="{9D8B030D-6E8A-4147-A177-3AD203B41FA5}">
                          <a16:colId xmlns:a16="http://schemas.microsoft.com/office/drawing/2014/main" val="3990455921"/>
                        </a:ext>
                      </a:extLst>
                    </a:gridCol>
                    <a:gridCol w="748305">
                      <a:extLst>
                        <a:ext uri="{9D8B030D-6E8A-4147-A177-3AD203B41FA5}">
                          <a16:colId xmlns:a16="http://schemas.microsoft.com/office/drawing/2014/main" val="1257797985"/>
                        </a:ext>
                      </a:extLst>
                    </a:gridCol>
                    <a:gridCol w="748305">
                      <a:extLst>
                        <a:ext uri="{9D8B030D-6E8A-4147-A177-3AD203B41FA5}">
                          <a16:colId xmlns:a16="http://schemas.microsoft.com/office/drawing/2014/main" val="3528653587"/>
                        </a:ext>
                      </a:extLst>
                    </a:gridCol>
                  </a:tblGrid>
                  <a:tr h="27120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Student</a:t>
                          </a:r>
                          <a:endParaRPr lang="en-US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Group</a:t>
                          </a:r>
                          <a:endParaRPr lang="en-US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SAT</a:t>
                          </a:r>
                          <a:endParaRPr lang="en-US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X</a:t>
                          </a:r>
                          <a:r>
                            <a:rPr lang="en-US" sz="1100" baseline="-25000" dirty="0" smtClean="0"/>
                            <a:t>1</a:t>
                          </a:r>
                          <a:endParaRPr lang="en-US" sz="1100" baseline="-25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2222" r="-203252" b="-18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0000" t="-2222" r="-103252" b="-18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00000" t="-2222" r="-3252" b="-183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4881574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580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605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-25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625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33731968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2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560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605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-45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2025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3228988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3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660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605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55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3025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40802165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4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620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605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15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225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5779997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5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600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605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-5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25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80993152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6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580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605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-25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625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4515581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7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590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605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-15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225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0998441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8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640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605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35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1225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82472361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9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620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605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15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225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50714708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10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600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605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-5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25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362564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11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No 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580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577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3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9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46120356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12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No 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530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577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-47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2209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08929529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13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No 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590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577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13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169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2183123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14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No 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550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577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-27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729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71365159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15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No 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610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577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33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1089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99814990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16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No 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590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577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13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169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96128994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17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No 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600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577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23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529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215547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18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No 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530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577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-47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2209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00895082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19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No 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590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577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13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169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9107792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20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No 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600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577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23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529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722986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>
              <a:xfrm>
                <a:off x="6479457" y="1373894"/>
                <a:ext cx="5515897" cy="525480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b="0" dirty="0"/>
              </a:p>
              <a:p>
                <a:r>
                  <a:rPr lang="en-US" dirty="0"/>
                  <a:t>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=591+14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𝑆𝑆𝐸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𝑎𝑖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nary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𝑆𝑆𝐸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=16,060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479457" y="1373894"/>
                <a:ext cx="5515897" cy="5254800"/>
              </a:xfrm>
              <a:blipFill>
                <a:blip r:embed="rId4"/>
                <a:stretch>
                  <a:fillRect l="-1989" t="-18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9521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the Two Models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33780" y="2005012"/>
            <a:ext cx="4351338" cy="4351338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2/24/2019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3"/>
              <p:cNvSpPr txBox="1">
                <a:spLocks/>
              </p:cNvSpPr>
              <p:nvPr/>
            </p:nvSpPr>
            <p:spPr>
              <a:xfrm>
                <a:off x="521106" y="1700061"/>
                <a:ext cx="5486400" cy="94335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2400" dirty="0"/>
                  <a:t>Fitted Model C: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</a:rPr>
                      <m:t>=591+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𝑆𝑆𝐸</m:t>
                      </m:r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=19,980</m:t>
                      </m:r>
                    </m:oMath>
                  </m:oMathPara>
                </a14:m>
                <a:endParaRPr lang="en-US" sz="2400" dirty="0"/>
              </a:p>
              <a:p>
                <a:pPr algn="ctr"/>
                <a:endParaRPr lang="en-US" sz="2400" dirty="0"/>
              </a:p>
            </p:txBody>
          </p:sp>
        </mc:Choice>
        <mc:Fallback xmlns="">
          <p:sp>
            <p:nvSpPr>
              <p:cNvPr id="7" name="Content Placeholder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106" y="1700061"/>
                <a:ext cx="5486400" cy="943355"/>
              </a:xfrm>
              <a:prstGeom prst="rect">
                <a:avLst/>
              </a:prstGeom>
              <a:blipFill>
                <a:blip r:embed="rId4"/>
                <a:stretch>
                  <a:fillRect t="-90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9405" y="2005012"/>
            <a:ext cx="4352544" cy="43525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3"/>
              <p:cNvSpPr txBox="1">
                <a:spLocks/>
              </p:cNvSpPr>
              <p:nvPr/>
            </p:nvSpPr>
            <p:spPr>
              <a:xfrm>
                <a:off x="6454877" y="1700061"/>
                <a:ext cx="5515897" cy="779371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2400" dirty="0"/>
                  <a:t>Fitted Model 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</a:rPr>
                      <m:t>=591+14</m:t>
                    </m:r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40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𝑆𝑆𝐸</m:t>
                      </m:r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=16,060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Content Placeholder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4877" y="1700061"/>
                <a:ext cx="5515897" cy="779371"/>
              </a:xfrm>
              <a:prstGeom prst="rect">
                <a:avLst/>
              </a:prstGeom>
              <a:blipFill>
                <a:blip r:embed="rId6"/>
                <a:stretch>
                  <a:fillRect t="-109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0368116" y="5926875"/>
                <a:ext cx="72346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8116" y="5926875"/>
                <a:ext cx="723468" cy="276999"/>
              </a:xfrm>
              <a:prstGeom prst="rect">
                <a:avLst/>
              </a:prstGeom>
              <a:blipFill>
                <a:blip r:embed="rId7"/>
                <a:stretch>
                  <a:fillRect l="-7627" r="-7627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197213" y="5926874"/>
                <a:ext cx="8965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7213" y="5926874"/>
                <a:ext cx="896592" cy="276999"/>
              </a:xfrm>
              <a:prstGeom prst="rect">
                <a:avLst/>
              </a:prstGeom>
              <a:blipFill>
                <a:blip r:embed="rId8"/>
                <a:stretch>
                  <a:fillRect l="-6122" r="-5442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58399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ANOVA Table Testing the Null Hypothesis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2/24/2019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11</a:t>
            </a:fld>
            <a:endParaRPr lang="en-US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C232C8C-EC43-4327-8181-28F9CC0674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4695953"/>
              </p:ext>
            </p:extLst>
          </p:nvPr>
        </p:nvGraphicFramePr>
        <p:xfrm>
          <a:off x="838200" y="1825625"/>
          <a:ext cx="10515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6234276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06862147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30598491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66203099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59505121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5411516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F_obs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Pr</a:t>
                      </a:r>
                      <a:r>
                        <a:rPr lang="en-US" dirty="0"/>
                        <a:t>(&gt;</a:t>
                      </a:r>
                      <a:r>
                        <a:rPr lang="en-US" dirty="0" err="1"/>
                        <a:t>F_obs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32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i="1" dirty="0"/>
                        <a:t>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3,920.00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3,920.00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4.39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0.0505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03476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i="1" dirty="0"/>
                        <a:t>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16,060.00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892.22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5889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i="1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19,980.00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136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22905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Summary from 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2/24/2019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12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38200" y="1690688"/>
            <a:ext cx="6660798" cy="35394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lm(formula = SAT ~ Course, data = DATA)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Residuals: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Min     1Q Median     3Q    Max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-47    -25      8     17     55 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Coefficients: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       Estimate Std. Error t value </a:t>
            </a:r>
            <a:r>
              <a:rPr lang="en-US" sz="1400" dirty="0" err="1">
                <a:latin typeface="Consolas" panose="020B0609020204030204" pitchFamily="49" charset="0"/>
              </a:rPr>
              <a:t>Pr</a:t>
            </a:r>
            <a:r>
              <a:rPr lang="en-US" sz="1400" dirty="0">
                <a:latin typeface="Consolas" panose="020B0609020204030204" pitchFamily="49" charset="0"/>
              </a:rPr>
              <a:t>(&gt;|t|)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(Intercept)  591.000      6.679  88.484   &lt;2e-16 ***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Course        14.000      6.679   2.096   0.0505 .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---</a:t>
            </a:r>
          </a:p>
          <a:p>
            <a:r>
              <a:rPr lang="en-US" sz="1400" dirty="0" err="1">
                <a:latin typeface="Consolas" panose="020B0609020204030204" pitchFamily="49" charset="0"/>
              </a:rPr>
              <a:t>Signif</a:t>
            </a:r>
            <a:r>
              <a:rPr lang="en-US" sz="1400" dirty="0">
                <a:latin typeface="Consolas" panose="020B0609020204030204" pitchFamily="49" charset="0"/>
              </a:rPr>
              <a:t>. codes:  0 ‘***’ 0.001 ‘**’ 0.01 ‘*’ 0.05 ‘.’ 0.1 ‘ ’ 1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Residual standard error: 29.87 on 18 degrees of freedom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Multiple R-squared:  0.1962,	Adjusted R-squared:  0.1515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F-statistic: 4.394 on 1 and 18 DF,  p-value: 0.05048</a:t>
            </a:r>
          </a:p>
        </p:txBody>
      </p:sp>
    </p:spTree>
    <p:extLst>
      <p:ext uri="{BB962C8B-B14F-4D97-AF65-F5344CB8AC3E}">
        <p14:creationId xmlns:p14="http://schemas.microsoft.com/office/powerpoint/2010/main" val="16498895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Summary from 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2/24/2019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13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38200" y="1690688"/>
            <a:ext cx="6660798" cy="35394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lm(formula = SAT ~ Course, data = DATA)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Residuals: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Min     1Q Median     3Q    Max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-47    -25      8     17     55 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Coefficients: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       Estimate Std. Error t value </a:t>
            </a:r>
            <a:r>
              <a:rPr lang="en-US" sz="1400" dirty="0" err="1">
                <a:latin typeface="Consolas" panose="020B0609020204030204" pitchFamily="49" charset="0"/>
              </a:rPr>
              <a:t>Pr</a:t>
            </a:r>
            <a:r>
              <a:rPr lang="en-US" sz="1400" dirty="0">
                <a:latin typeface="Consolas" panose="020B0609020204030204" pitchFamily="49" charset="0"/>
              </a:rPr>
              <a:t>(&gt;|t|)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(Intercept)  591.000      6.679  88.484   &lt;2e-16 ***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Course        14.000      6.679   2.096   0.0505 .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---</a:t>
            </a:r>
          </a:p>
          <a:p>
            <a:r>
              <a:rPr lang="en-US" sz="1400" dirty="0" err="1">
                <a:latin typeface="Consolas" panose="020B0609020204030204" pitchFamily="49" charset="0"/>
              </a:rPr>
              <a:t>Signif</a:t>
            </a:r>
            <a:r>
              <a:rPr lang="en-US" sz="1400" dirty="0">
                <a:latin typeface="Consolas" panose="020B0609020204030204" pitchFamily="49" charset="0"/>
              </a:rPr>
              <a:t>. codes:  0 ‘***’ 0.001 ‘**’ 0.01 ‘*’ 0.05 ‘.’ 0.1 ‘ ’ 1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Residual standard error: 29.87 on 18 degrees of freedom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Multiple R-squared:  0.1962,	Adjusted R-squared:  0.1515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F-statistic: 4.394 on 1 and 18 DF,  p-value: 0.05048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C4B4B6A-7D0C-4383-A316-9619477406CE}"/>
                  </a:ext>
                </a:extLst>
              </p:cNvPr>
              <p:cNvSpPr txBox="1"/>
              <p:nvPr/>
            </p:nvSpPr>
            <p:spPr>
              <a:xfrm>
                <a:off x="4168599" y="5457695"/>
                <a:ext cx="4907973" cy="95898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MODEL 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𝐶𝑜𝑢𝑟𝑠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MODEL C: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𝐶𝑜𝑢𝑟𝑠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C4B4B6A-7D0C-4383-A316-9619477406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8599" y="5457695"/>
                <a:ext cx="4907973" cy="958980"/>
              </a:xfrm>
              <a:prstGeom prst="rect">
                <a:avLst/>
              </a:prstGeom>
              <a:blipFill>
                <a:blip r:embed="rId3"/>
                <a:stretch>
                  <a:fillRect l="-991" t="-2500" b="-437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Connector: Curved 8">
            <a:extLst>
              <a:ext uri="{FF2B5EF4-FFF2-40B4-BE49-F238E27FC236}">
                <a16:creationId xmlns:a16="http://schemas.microsoft.com/office/drawing/2014/main" id="{A75A3EC5-3311-48DE-989B-F73E0244E92A}"/>
              </a:ext>
            </a:extLst>
          </p:cNvPr>
          <p:cNvCxnSpPr>
            <a:cxnSpLocks/>
            <a:stCxn id="6" idx="1"/>
            <a:endCxn id="8" idx="2"/>
          </p:cNvCxnSpPr>
          <p:nvPr/>
        </p:nvCxnSpPr>
        <p:spPr>
          <a:xfrm rot="10800000">
            <a:off x="3486765" y="5240397"/>
            <a:ext cx="681835" cy="696789"/>
          </a:xfrm>
          <a:prstGeom prst="curved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152CA4A6-5635-4D35-8B05-B9FB5FEA11FC}"/>
              </a:ext>
            </a:extLst>
          </p:cNvPr>
          <p:cNvSpPr/>
          <p:nvPr/>
        </p:nvSpPr>
        <p:spPr>
          <a:xfrm>
            <a:off x="838199" y="4895776"/>
            <a:ext cx="5297129" cy="344620"/>
          </a:xfrm>
          <a:prstGeom prst="rect">
            <a:avLst/>
          </a:prstGeom>
          <a:solidFill>
            <a:srgbClr val="FFFF00">
              <a:alpha val="3490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5993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Summary from 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2/24/2019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38200" y="1690688"/>
            <a:ext cx="6660798" cy="35394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lm(formula = SAT ~ Course, data = DATA)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Residuals: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Min     1Q Median     3Q    Max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-47    -25      8     17     55 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Coefficients: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       Estimate Std. Error t value </a:t>
            </a:r>
            <a:r>
              <a:rPr lang="en-US" sz="1400" dirty="0" err="1">
                <a:latin typeface="Consolas" panose="020B0609020204030204" pitchFamily="49" charset="0"/>
              </a:rPr>
              <a:t>Pr</a:t>
            </a:r>
            <a:r>
              <a:rPr lang="en-US" sz="1400" dirty="0">
                <a:latin typeface="Consolas" panose="020B0609020204030204" pitchFamily="49" charset="0"/>
              </a:rPr>
              <a:t>(&gt;|t|)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(Intercept)  591.000      6.679  88.484   &lt;2e-16 ***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Course        14.000      6.679   2.096   0.0505 .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---</a:t>
            </a:r>
          </a:p>
          <a:p>
            <a:r>
              <a:rPr lang="en-US" sz="1400" dirty="0" err="1">
                <a:latin typeface="Consolas" panose="020B0609020204030204" pitchFamily="49" charset="0"/>
              </a:rPr>
              <a:t>Signif</a:t>
            </a:r>
            <a:r>
              <a:rPr lang="en-US" sz="1400" dirty="0">
                <a:latin typeface="Consolas" panose="020B0609020204030204" pitchFamily="49" charset="0"/>
              </a:rPr>
              <a:t>. codes:  0 ‘***’ 0.001 ‘**’ 0.01 ‘*’ 0.05 ‘.’ 0.1 ‘ ’ 1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Residual standard error: 29.87 on 18 degrees of freedom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Multiple R-squared:  0.1962,	Adjusted R-squared:  0.1515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F-statistic: 4.394 on 1 and 18 DF,  p-value: 0.05048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C4B4B6A-7D0C-4383-A316-9619477406CE}"/>
                  </a:ext>
                </a:extLst>
              </p:cNvPr>
              <p:cNvSpPr txBox="1"/>
              <p:nvPr/>
            </p:nvSpPr>
            <p:spPr>
              <a:xfrm>
                <a:off x="4168599" y="5457695"/>
                <a:ext cx="4907973" cy="95898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MODEL 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𝐶𝑜𝑢𝑟𝑠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MODEL C: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𝐶𝑜𝑢𝑟𝑠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C4B4B6A-7D0C-4383-A316-9619477406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8599" y="5457695"/>
                <a:ext cx="4907973" cy="958980"/>
              </a:xfrm>
              <a:prstGeom prst="rect">
                <a:avLst/>
              </a:prstGeom>
              <a:blipFill>
                <a:blip r:embed="rId3"/>
                <a:stretch>
                  <a:fillRect l="-991" t="-2500" b="-437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Connector: Curved 8">
            <a:extLst>
              <a:ext uri="{FF2B5EF4-FFF2-40B4-BE49-F238E27FC236}">
                <a16:creationId xmlns:a16="http://schemas.microsoft.com/office/drawing/2014/main" id="{A75A3EC5-3311-48DE-989B-F73E0244E92A}"/>
              </a:ext>
            </a:extLst>
          </p:cNvPr>
          <p:cNvCxnSpPr>
            <a:cxnSpLocks/>
            <a:stCxn id="6" idx="1"/>
            <a:endCxn id="8" idx="2"/>
          </p:cNvCxnSpPr>
          <p:nvPr/>
        </p:nvCxnSpPr>
        <p:spPr>
          <a:xfrm rot="10800000">
            <a:off x="3486765" y="5240397"/>
            <a:ext cx="681835" cy="696789"/>
          </a:xfrm>
          <a:prstGeom prst="curved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152CA4A6-5635-4D35-8B05-B9FB5FEA11FC}"/>
              </a:ext>
            </a:extLst>
          </p:cNvPr>
          <p:cNvSpPr/>
          <p:nvPr/>
        </p:nvSpPr>
        <p:spPr>
          <a:xfrm>
            <a:off x="838199" y="4895776"/>
            <a:ext cx="5297129" cy="344620"/>
          </a:xfrm>
          <a:prstGeom prst="rect">
            <a:avLst/>
          </a:prstGeom>
          <a:solidFill>
            <a:srgbClr val="FFFF00">
              <a:alpha val="3490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C4B4B6A-7D0C-4383-A316-9619477406CE}"/>
                  </a:ext>
                </a:extLst>
              </p:cNvPr>
              <p:cNvSpPr txBox="1"/>
              <p:nvPr/>
            </p:nvSpPr>
            <p:spPr>
              <a:xfrm>
                <a:off x="7698658" y="3620025"/>
                <a:ext cx="3972232" cy="95898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MODEL 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𝐶𝑜𝑢𝑟𝑠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MODEL C: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𝟎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𝑪𝒐𝒖𝒓𝒔</m:t>
                        </m:r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C4B4B6A-7D0C-4383-A316-9619477406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8658" y="3620025"/>
                <a:ext cx="3972232" cy="958980"/>
              </a:xfrm>
              <a:prstGeom prst="rect">
                <a:avLst/>
              </a:prstGeom>
              <a:blipFill>
                <a:blip r:embed="rId4"/>
                <a:stretch>
                  <a:fillRect l="-1223" t="-3145" b="-503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Connector: Curved 8">
            <a:extLst>
              <a:ext uri="{FF2B5EF4-FFF2-40B4-BE49-F238E27FC236}">
                <a16:creationId xmlns:a16="http://schemas.microsoft.com/office/drawing/2014/main" id="{A75A3EC5-3311-48DE-989B-F73E0244E92A}"/>
              </a:ext>
            </a:extLst>
          </p:cNvPr>
          <p:cNvCxnSpPr>
            <a:cxnSpLocks/>
            <a:stCxn id="9" idx="1"/>
            <a:endCxn id="11" idx="3"/>
          </p:cNvCxnSpPr>
          <p:nvPr/>
        </p:nvCxnSpPr>
        <p:spPr>
          <a:xfrm rot="10800000">
            <a:off x="6135328" y="3775215"/>
            <a:ext cx="1563331" cy="324301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152CA4A6-5635-4D35-8B05-B9FB5FEA11FC}"/>
              </a:ext>
            </a:extLst>
          </p:cNvPr>
          <p:cNvSpPr/>
          <p:nvPr/>
        </p:nvSpPr>
        <p:spPr>
          <a:xfrm>
            <a:off x="838198" y="3666685"/>
            <a:ext cx="5297129" cy="217057"/>
          </a:xfrm>
          <a:prstGeom prst="rect">
            <a:avLst/>
          </a:prstGeom>
          <a:solidFill>
            <a:srgbClr val="FFFF00">
              <a:alpha val="3490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9684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Summary from 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2/24/2019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15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38200" y="1690688"/>
            <a:ext cx="6660798" cy="35394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lm(formula = SAT ~ Course, data = DATA)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Residuals: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Min     1Q Median     3Q    Max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-47    -25      8     17     55 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Coefficients: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       Estimate Std. Error t value </a:t>
            </a:r>
            <a:r>
              <a:rPr lang="en-US" sz="1400" dirty="0" err="1">
                <a:latin typeface="Consolas" panose="020B0609020204030204" pitchFamily="49" charset="0"/>
              </a:rPr>
              <a:t>Pr</a:t>
            </a:r>
            <a:r>
              <a:rPr lang="en-US" sz="1400" dirty="0">
                <a:latin typeface="Consolas" panose="020B0609020204030204" pitchFamily="49" charset="0"/>
              </a:rPr>
              <a:t>(&gt;|t|)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(Intercept)  591.000      6.679  88.484   &lt;2e-16 ***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Course        14.000      6.679   2.096   0.0505 .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---</a:t>
            </a:r>
          </a:p>
          <a:p>
            <a:r>
              <a:rPr lang="en-US" sz="1400" dirty="0" err="1">
                <a:latin typeface="Consolas" panose="020B0609020204030204" pitchFamily="49" charset="0"/>
              </a:rPr>
              <a:t>Signif</a:t>
            </a:r>
            <a:r>
              <a:rPr lang="en-US" sz="1400" dirty="0">
                <a:latin typeface="Consolas" panose="020B0609020204030204" pitchFamily="49" charset="0"/>
              </a:rPr>
              <a:t>. codes:  0 ‘***’ 0.001 ‘**’ 0.01 ‘*’ 0.05 ‘.’ 0.1 ‘ ’ 1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Residual standard error: 29.87 on 18 degrees of freedom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Multiple R-squared:  0.1962,	Adjusted R-squared:  0.1515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F-statistic: 4.394 on 1 and 18 DF,  p-value: 0.05048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C4B4B6A-7D0C-4383-A316-9619477406CE}"/>
                  </a:ext>
                </a:extLst>
              </p:cNvPr>
              <p:cNvSpPr txBox="1"/>
              <p:nvPr/>
            </p:nvSpPr>
            <p:spPr>
              <a:xfrm>
                <a:off x="4168599" y="5457695"/>
                <a:ext cx="4907973" cy="95898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MODEL 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𝐶𝑜𝑢𝑟𝑠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MODEL C: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𝐶𝑜𝑢𝑟𝑠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C4B4B6A-7D0C-4383-A316-9619477406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8599" y="5457695"/>
                <a:ext cx="4907973" cy="958980"/>
              </a:xfrm>
              <a:prstGeom prst="rect">
                <a:avLst/>
              </a:prstGeom>
              <a:blipFill>
                <a:blip r:embed="rId3"/>
                <a:stretch>
                  <a:fillRect l="-991" t="-2500" b="-437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Connector: Curved 8">
            <a:extLst>
              <a:ext uri="{FF2B5EF4-FFF2-40B4-BE49-F238E27FC236}">
                <a16:creationId xmlns:a16="http://schemas.microsoft.com/office/drawing/2014/main" id="{A75A3EC5-3311-48DE-989B-F73E0244E92A}"/>
              </a:ext>
            </a:extLst>
          </p:cNvPr>
          <p:cNvCxnSpPr>
            <a:cxnSpLocks/>
            <a:stCxn id="6" idx="1"/>
            <a:endCxn id="8" idx="2"/>
          </p:cNvCxnSpPr>
          <p:nvPr/>
        </p:nvCxnSpPr>
        <p:spPr>
          <a:xfrm rot="10800000">
            <a:off x="3486765" y="5240397"/>
            <a:ext cx="681835" cy="696789"/>
          </a:xfrm>
          <a:prstGeom prst="curved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152CA4A6-5635-4D35-8B05-B9FB5FEA11FC}"/>
              </a:ext>
            </a:extLst>
          </p:cNvPr>
          <p:cNvSpPr/>
          <p:nvPr/>
        </p:nvSpPr>
        <p:spPr>
          <a:xfrm>
            <a:off x="838199" y="4895776"/>
            <a:ext cx="5297129" cy="344620"/>
          </a:xfrm>
          <a:prstGeom prst="rect">
            <a:avLst/>
          </a:prstGeom>
          <a:solidFill>
            <a:srgbClr val="FFFF00">
              <a:alpha val="3490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C4B4B6A-7D0C-4383-A316-9619477406CE}"/>
                  </a:ext>
                </a:extLst>
              </p:cNvPr>
              <p:cNvSpPr txBox="1"/>
              <p:nvPr/>
            </p:nvSpPr>
            <p:spPr>
              <a:xfrm>
                <a:off x="7698658" y="3728186"/>
                <a:ext cx="3972232" cy="95898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MODEL 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𝐶𝑜𝑢𝑟𝑠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MODEL C: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𝟎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𝑪𝒐𝒖𝒓𝒔</m:t>
                        </m:r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C4B4B6A-7D0C-4383-A316-9619477406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8658" y="3728186"/>
                <a:ext cx="3972232" cy="958980"/>
              </a:xfrm>
              <a:prstGeom prst="rect">
                <a:avLst/>
              </a:prstGeom>
              <a:blipFill>
                <a:blip r:embed="rId4"/>
                <a:stretch>
                  <a:fillRect l="-1223" t="-3145" b="-503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Connector: Curved 8">
            <a:extLst>
              <a:ext uri="{FF2B5EF4-FFF2-40B4-BE49-F238E27FC236}">
                <a16:creationId xmlns:a16="http://schemas.microsoft.com/office/drawing/2014/main" id="{A75A3EC5-3311-48DE-989B-F73E0244E92A}"/>
              </a:ext>
            </a:extLst>
          </p:cNvPr>
          <p:cNvCxnSpPr>
            <a:cxnSpLocks/>
            <a:stCxn id="9" idx="1"/>
            <a:endCxn id="11" idx="3"/>
          </p:cNvCxnSpPr>
          <p:nvPr/>
        </p:nvCxnSpPr>
        <p:spPr>
          <a:xfrm rot="10800000">
            <a:off x="6135328" y="3775214"/>
            <a:ext cx="1563331" cy="432462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152CA4A6-5635-4D35-8B05-B9FB5FEA11FC}"/>
              </a:ext>
            </a:extLst>
          </p:cNvPr>
          <p:cNvSpPr/>
          <p:nvPr/>
        </p:nvSpPr>
        <p:spPr>
          <a:xfrm>
            <a:off x="838198" y="3666685"/>
            <a:ext cx="5297129" cy="217057"/>
          </a:xfrm>
          <a:prstGeom prst="rect">
            <a:avLst/>
          </a:prstGeom>
          <a:solidFill>
            <a:srgbClr val="FFFF00">
              <a:alpha val="3490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C4B4B6A-7D0C-4383-A316-9619477406CE}"/>
                  </a:ext>
                </a:extLst>
              </p:cNvPr>
              <p:cNvSpPr txBox="1"/>
              <p:nvPr/>
            </p:nvSpPr>
            <p:spPr>
              <a:xfrm>
                <a:off x="7698658" y="2501522"/>
                <a:ext cx="3972232" cy="92333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MODEL 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𝐶𝑜𝑢𝑟𝑠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MODEL C: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𝐶𝑜𝑢𝑟𝑠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C4B4B6A-7D0C-4383-A316-9619477406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8658" y="2501522"/>
                <a:ext cx="3972232" cy="923330"/>
              </a:xfrm>
              <a:prstGeom prst="rect">
                <a:avLst/>
              </a:prstGeom>
              <a:blipFill>
                <a:blip r:embed="rId5"/>
                <a:stretch>
                  <a:fillRect l="-1223" t="-2597" b="-844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Connector: Curved 8">
            <a:extLst>
              <a:ext uri="{FF2B5EF4-FFF2-40B4-BE49-F238E27FC236}">
                <a16:creationId xmlns:a16="http://schemas.microsoft.com/office/drawing/2014/main" id="{A75A3EC5-3311-48DE-989B-F73E0244E92A}"/>
              </a:ext>
            </a:extLst>
          </p:cNvPr>
          <p:cNvCxnSpPr>
            <a:cxnSpLocks/>
            <a:stCxn id="12" idx="1"/>
            <a:endCxn id="14" idx="3"/>
          </p:cNvCxnSpPr>
          <p:nvPr/>
        </p:nvCxnSpPr>
        <p:spPr>
          <a:xfrm rot="10800000" flipV="1">
            <a:off x="6135328" y="2963187"/>
            <a:ext cx="1563331" cy="605602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152CA4A6-5635-4D35-8B05-B9FB5FEA11FC}"/>
              </a:ext>
            </a:extLst>
          </p:cNvPr>
          <p:cNvSpPr/>
          <p:nvPr/>
        </p:nvSpPr>
        <p:spPr>
          <a:xfrm>
            <a:off x="838198" y="3460260"/>
            <a:ext cx="5297129" cy="217057"/>
          </a:xfrm>
          <a:prstGeom prst="rect">
            <a:avLst/>
          </a:prstGeom>
          <a:solidFill>
            <a:srgbClr val="FFFF00">
              <a:alpha val="3490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4651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how do we get those estimates?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 the moment, we have let the statistical program calculate the estimate of the intercept and the estimate of the slope for us. </a:t>
            </a:r>
          </a:p>
          <a:p>
            <a:endParaRPr lang="en-US" dirty="0"/>
          </a:p>
          <a:p>
            <a:pPr lvl="1"/>
            <a:r>
              <a:rPr lang="en-US" dirty="0"/>
              <a:t>These are the best fitting intercepts and slopes in our sample, but they are estimates of the true effects in the population.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In the next lecture, we will walk through this process in detail, but these estimates are still based on least-squared error estimation that we have done before.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2/24/2019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3778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422</TotalTime>
  <Words>1573</Words>
  <Application>Microsoft Office PowerPoint</Application>
  <PresentationFormat>Widescreen</PresentationFormat>
  <Paragraphs>810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Consolas</vt:lpstr>
      <vt:lpstr>Office Theme</vt:lpstr>
      <vt:lpstr>Models with a Single Categorical Predictor (Independent t-test).</vt:lpstr>
      <vt:lpstr>Categorical Predictors</vt:lpstr>
      <vt:lpstr>How do we represent a categorical variable?</vt:lpstr>
      <vt:lpstr>How do we represent a categorical variable?</vt:lpstr>
      <vt:lpstr>Using Contrast Codes in Practice</vt:lpstr>
      <vt:lpstr>Using Contrast Codes in Practice</vt:lpstr>
      <vt:lpstr>Using Contrast Codes in Practice</vt:lpstr>
      <vt:lpstr>Error and ‘Fitting’ Model C</vt:lpstr>
      <vt:lpstr>Error and ‘Fitting’ Model A</vt:lpstr>
      <vt:lpstr>Comparing the Two Models</vt:lpstr>
      <vt:lpstr>ANOVA Table Testing the Null Hypothesis</vt:lpstr>
      <vt:lpstr>Statistical Summary from R</vt:lpstr>
      <vt:lpstr>Statistical Summary from R</vt:lpstr>
      <vt:lpstr>Statistical Summary from R</vt:lpstr>
      <vt:lpstr>Statistical Summary from R</vt:lpstr>
      <vt:lpstr>But how do we get those estimates?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Nonlinear and Moderated Models.</dc:title>
  <dc:creator>Keith Lohse</dc:creator>
  <cp:lastModifiedBy>Keith Lohse</cp:lastModifiedBy>
  <cp:revision>29</cp:revision>
  <dcterms:created xsi:type="dcterms:W3CDTF">2019-02-09T14:44:07Z</dcterms:created>
  <dcterms:modified xsi:type="dcterms:W3CDTF">2019-02-24T22:54:18Z</dcterms:modified>
</cp:coreProperties>
</file>
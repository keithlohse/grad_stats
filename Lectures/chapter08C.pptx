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82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395" r:id="rId10"/>
    <p:sldId id="267" r:id="rId11"/>
    <p:sldId id="266" r:id="rId12"/>
    <p:sldId id="384" r:id="rId13"/>
    <p:sldId id="269" r:id="rId14"/>
    <p:sldId id="393" r:id="rId15"/>
    <p:sldId id="394" r:id="rId16"/>
    <p:sldId id="268" r:id="rId17"/>
    <p:sldId id="385" r:id="rId18"/>
    <p:sldId id="386" r:id="rId19"/>
    <p:sldId id="389" r:id="rId20"/>
    <p:sldId id="390" r:id="rId21"/>
    <p:sldId id="388" r:id="rId22"/>
    <p:sldId id="391" r:id="rId23"/>
    <p:sldId id="39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C000"/>
    <a:srgbClr val="FFFFFF"/>
    <a:srgbClr val="4472C4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4424" autoAdjust="0"/>
  </p:normalViewPr>
  <p:slideViewPr>
    <p:cSldViewPr snapToGrid="0">
      <p:cViewPr varScale="1">
        <p:scale>
          <a:sx n="59" d="100"/>
          <a:sy n="59" d="100"/>
        </p:scale>
        <p:origin x="9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31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93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78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4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2/25/2019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2/25/2019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2/25/2019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2/25/2019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Models with a Single Categorical Predictor (One-Way ANOVA).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06CE47-AE40-4AAA-84B5-FB7AF90B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15058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Relationship between VO2</a:t>
            </a:r>
            <a:r>
              <a:rPr lang="en-US" baseline="-25000"/>
              <a:t>max</a:t>
            </a:r>
            <a:r>
              <a:rPr lang="en-US"/>
              <a:t> and 800 meter times.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42454" y="1825625"/>
                <a:ext cx="5311346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𝑉𝑂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=112.89−0.37(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𝑇𝐼𝑀𝐸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intercept was statistically significant, </a:t>
                </a:r>
                <a:r>
                  <a:rPr lang="en-US" i="1" dirty="0"/>
                  <a:t>t</a:t>
                </a:r>
                <a:r>
                  <a:rPr lang="en-US" dirty="0"/>
                  <a:t>(19) = 12.19, </a:t>
                </a:r>
                <a:r>
                  <a:rPr lang="en-US" i="1" dirty="0"/>
                  <a:t>p</a:t>
                </a:r>
                <a:r>
                  <a:rPr lang="en-US" dirty="0"/>
                  <a:t> &lt; 0.05, and the slope was statistically significant, </a:t>
                </a:r>
                <a:r>
                  <a:rPr lang="en-US" i="1" dirty="0"/>
                  <a:t>t</a:t>
                </a:r>
                <a:r>
                  <a:rPr lang="en-US" dirty="0"/>
                  <a:t>(19) = -5.44, </a:t>
                </a:r>
                <a:r>
                  <a:rPr lang="en-US" i="1" dirty="0"/>
                  <a:t>p</a:t>
                </a:r>
                <a:r>
                  <a:rPr lang="en-US" dirty="0"/>
                  <a:t> &lt; 0.05.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800m run times explained considerable variance in VO2</a:t>
                </a:r>
                <a:r>
                  <a:rPr lang="en-US" baseline="-25000" dirty="0"/>
                  <a:t>max </a:t>
                </a:r>
                <a:r>
                  <a:rPr lang="en-US" dirty="0"/>
                  <a:t>(PRE = 0.61).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42454" y="1825625"/>
                <a:ext cx="5311346" cy="4351338"/>
              </a:xfrm>
              <a:blipFill>
                <a:blip r:embed="rId4"/>
                <a:stretch>
                  <a:fillRect l="-2294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A2FECF6-EAEA-48F2-8568-53CDE730DB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76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 between VO2</a:t>
            </a:r>
            <a:r>
              <a:rPr lang="en-US" baseline="-25000" dirty="0"/>
              <a:t>max</a:t>
            </a:r>
            <a:r>
              <a:rPr lang="en-US" dirty="0"/>
              <a:t> and 800 meter times.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082481" cy="4351338"/>
          </a:xfrm>
        </p:spPr>
        <p:txBody>
          <a:bodyPr/>
          <a:lstStyle/>
          <a:p>
            <a:r>
              <a:rPr lang="en-US" dirty="0"/>
              <a:t>But what if we had groups of runners (faster versus slower) rather than continuous run times?</a:t>
            </a:r>
          </a:p>
          <a:p>
            <a:pPr lvl="1"/>
            <a:r>
              <a:rPr lang="en-US" dirty="0"/>
              <a:t>Our </a:t>
            </a:r>
            <a:r>
              <a:rPr lang="en-US" b="1" u="sng" dirty="0"/>
              <a:t>continuous</a:t>
            </a:r>
            <a:r>
              <a:rPr lang="en-US" dirty="0"/>
              <a:t> variable becomes discrete and </a:t>
            </a:r>
            <a:r>
              <a:rPr lang="en-US" b="1" u="sng" dirty="0"/>
              <a:t>categorical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76703" y="1607473"/>
            <a:ext cx="2977097" cy="48320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   </a:t>
            </a:r>
            <a:r>
              <a:rPr lang="en-US" sz="1400" dirty="0" err="1">
                <a:latin typeface="Lucida Console" panose="020B0609040504020204" pitchFamily="49" charset="0"/>
              </a:rPr>
              <a:t>sudID</a:t>
            </a:r>
            <a:r>
              <a:rPr lang="en-US" sz="1400" dirty="0">
                <a:latin typeface="Lucida Console" panose="020B0609040504020204" pitchFamily="49" charset="0"/>
              </a:rPr>
              <a:t>   VO2 time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   s001 74.00  116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   s002 68.00  117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3   s003 70.50  119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4   s004 61.00  121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5   s005 73.25  121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6   s006 68.25  122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7   s007 64.50  125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8   s008 63.00  128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9   s009 60.75  130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10  s010 64.00  130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11  s011 58.00  132      1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12  s012 60.50  135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13  s013 66.00  136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14  s014 60.00  137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15  s015 65.75  137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16  s016 66.25  141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17  s017 57.50  143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18  s018 50.00  147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19  s019 56.75  153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20  s020 52.50  159      0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21  s021 57.00  160      0</a:t>
            </a:r>
          </a:p>
        </p:txBody>
      </p:sp>
    </p:spTree>
    <p:extLst>
      <p:ext uri="{BB962C8B-B14F-4D97-AF65-F5344CB8AC3E}">
        <p14:creationId xmlns:p14="http://schemas.microsoft.com/office/powerpoint/2010/main" val="3333444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05363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(2-level) variables in a GLM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81816" y="1825625"/>
                <a:ext cx="5471984" cy="4351338"/>
              </a:xfrm>
            </p:spPr>
            <p:txBody>
              <a:bodyPr/>
              <a:lstStyle/>
              <a:p>
                <a:r>
                  <a:rPr lang="en-US" dirty="0" smtClean="0"/>
                  <a:t>If ‘slower’ is coded as ‘0’ and faster is coded as ‘1’, what is our model?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59.225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6.707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𝑓𝑎𝑠𝑡𝑒𝑟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1816" y="1825625"/>
                <a:ext cx="5471984" cy="4351338"/>
              </a:xfrm>
              <a:blipFill>
                <a:blip r:embed="rId4"/>
                <a:stretch>
                  <a:fillRect l="-2004" t="-2241" r="-3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0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83271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(2-level) variables in a GLM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81816" y="2148397"/>
            <a:ext cx="6009501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Call: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lm(formula = VO2 ~ faster, data = </a:t>
            </a:r>
            <a:r>
              <a:rPr lang="en-US" sz="1200" dirty="0" err="1">
                <a:latin typeface="Lucida Console" panose="020B0609040504020204" pitchFamily="49" charset="0"/>
              </a:rPr>
              <a:t>dat</a:t>
            </a:r>
            <a:r>
              <a:rPr lang="en-US" sz="1200" dirty="0">
                <a:latin typeface="Lucida Console" panose="020B0609040504020204" pitchFamily="49" charset="0"/>
              </a:rPr>
              <a:t>)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-9.225 -2.932 -1.432  4.568  8.068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 59.225      1.720  34.434   &lt;2e-16 ***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faster         6.707      2.376   2.822   0.0109 *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5.439 on 19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0.2954,	Adjusted R-squared:  0.2583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F-statistic: 7.965 on 1 and 19 DF,  p-value: 0.01088</a:t>
            </a:r>
          </a:p>
        </p:txBody>
      </p:sp>
    </p:spTree>
    <p:extLst>
      <p:ext uri="{BB962C8B-B14F-4D97-AF65-F5344CB8AC3E}">
        <p14:creationId xmlns:p14="http://schemas.microsoft.com/office/powerpoint/2010/main" val="1797518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141" y="1444908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change how we code ‘slower’ and ‘faster’?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1405" y="1768605"/>
            <a:ext cx="4910319" cy="48320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</a:rPr>
              <a:t>sudID</a:t>
            </a:r>
            <a:r>
              <a:rPr lang="en-US" sz="1400" dirty="0">
                <a:latin typeface="Lucida Console" panose="020B0609040504020204" pitchFamily="49" charset="0"/>
              </a:rPr>
              <a:t>   VO2 time faster </a:t>
            </a:r>
            <a:r>
              <a:rPr lang="en-US" sz="1400" dirty="0" err="1">
                <a:latin typeface="Lucida Console" panose="020B0609040504020204" pitchFamily="49" charset="0"/>
              </a:rPr>
              <a:t>faster.c</a:t>
            </a:r>
            <a:r>
              <a:rPr lang="en-US" sz="1400" dirty="0">
                <a:latin typeface="Lucida Console" panose="020B0609040504020204" pitchFamily="49" charset="0"/>
              </a:rPr>
              <a:t> fast.cat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   s001 74.00  116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   s002 68.00  117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3   s003 70.50  119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4   s004 61.00  121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5   s005 73.25  121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6   s006 68.25  122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7   s007 64.50  125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8   s008 63.00  128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9   s009 60.75  130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10  s010 64.00  130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11  s011 58.00  132      1        1   faster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12  s012 60.50  135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13  s013 66.00  136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14  s014 60.00  137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15  s015 65.75  137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16  s016 66.25  141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17  s017 57.50  143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18  s018 50.00  147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19  s019 56.75  153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20  s020 52.50  159      0       -1   slower</a:t>
            </a:r>
          </a:p>
          <a:p>
            <a:r>
              <a:rPr lang="en-US" sz="1400" dirty="0">
                <a:latin typeface="Lucida Console" panose="020B0609040504020204" pitchFamily="49" charset="0"/>
              </a:rPr>
              <a:t>21  s021 57.00  160      0       -1   slower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84288" y="56731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6035" y="56731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2791689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change how we code ‘slower’ and ‘faster’?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4111"/>
                <a:ext cx="5471984" cy="4351338"/>
              </a:xfrm>
            </p:spPr>
            <p:txBody>
              <a:bodyPr/>
              <a:lstStyle/>
              <a:p>
                <a:r>
                  <a:rPr lang="en-US" dirty="0"/>
                  <a:t>If ‘slower’ is coded as ‘-1’ and faster is coded as ‘1’, what is our model?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2.578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3.353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𝑓𝑎𝑠𝑡𝑒𝑟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62.578?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What is 3.353?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4111"/>
                <a:ext cx="5471984" cy="4351338"/>
              </a:xfrm>
              <a:blipFill>
                <a:blip r:embed="rId2"/>
                <a:stretch>
                  <a:fillRect l="-200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895" y="1376083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54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825" y="1410036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change how we code ‘slower’ and ‘faster’?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4111"/>
                <a:ext cx="5471984" cy="4351338"/>
              </a:xfrm>
            </p:spPr>
            <p:txBody>
              <a:bodyPr/>
              <a:lstStyle/>
              <a:p>
                <a:r>
                  <a:rPr lang="en-US" dirty="0"/>
                  <a:t>If ‘slower’ is coded as ‘-1’ and faster is coded as ‘1’, what is our model?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=62.578+3.353(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𝑓𝑎𝑠𝑡𝑒𝑟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62.578?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What is 3.353?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4111"/>
                <a:ext cx="5471984" cy="4351338"/>
              </a:xfrm>
              <a:blipFill>
                <a:blip r:embed="rId3"/>
                <a:stretch>
                  <a:fillRect l="-200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8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8455867" y="1690688"/>
            <a:ext cx="2097466" cy="4410546"/>
            <a:chOff x="8455867" y="1690688"/>
            <a:chExt cx="2097466" cy="4410546"/>
          </a:xfrm>
        </p:grpSpPr>
        <p:sp>
          <p:nvSpPr>
            <p:cNvPr id="8" name="TextBox 7"/>
            <p:cNvSpPr txBox="1"/>
            <p:nvPr/>
          </p:nvSpPr>
          <p:spPr>
            <a:xfrm>
              <a:off x="8455867" y="573190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+1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96133" y="573190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78778" y="573190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 flipV="1">
              <a:off x="9435487" y="1690688"/>
              <a:ext cx="54502" cy="4041214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ounded Rectangle 14"/>
          <p:cNvSpPr/>
          <p:nvPr/>
        </p:nvSpPr>
        <p:spPr>
          <a:xfrm>
            <a:off x="7312620" y="955963"/>
            <a:ext cx="4197699" cy="90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intercept is the value of ‘y’ when ‘x’ is zero. This, 62.578 is the mean of the two group means.  </a:t>
            </a:r>
          </a:p>
        </p:txBody>
      </p:sp>
    </p:spTree>
    <p:extLst>
      <p:ext uri="{BB962C8B-B14F-4D97-AF65-F5344CB8AC3E}">
        <p14:creationId xmlns:p14="http://schemas.microsoft.com/office/powerpoint/2010/main" val="281651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825" y="1410036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change how we code ‘slower’ and ‘faster’?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64111"/>
                <a:ext cx="5471984" cy="4351338"/>
              </a:xfrm>
            </p:spPr>
            <p:txBody>
              <a:bodyPr/>
              <a:lstStyle/>
              <a:p>
                <a:r>
                  <a:rPr lang="en-US" dirty="0"/>
                  <a:t>If ‘slower’ is coded as ‘-1’ and faster is coded as ‘1’, what is our model?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=62.578+3.353(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𝑓𝑎𝑠𝑡𝑒𝑟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What is 62.578?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What is 3.353?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64111"/>
                <a:ext cx="5471984" cy="4351338"/>
              </a:xfrm>
              <a:blipFill>
                <a:blip r:embed="rId3"/>
                <a:stretch>
                  <a:fillRect l="-200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9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8455867" y="1690688"/>
            <a:ext cx="2097466" cy="4410546"/>
            <a:chOff x="8455867" y="1690688"/>
            <a:chExt cx="2097466" cy="4410546"/>
          </a:xfrm>
        </p:grpSpPr>
        <p:sp>
          <p:nvSpPr>
            <p:cNvPr id="8" name="TextBox 7"/>
            <p:cNvSpPr txBox="1"/>
            <p:nvPr/>
          </p:nvSpPr>
          <p:spPr>
            <a:xfrm>
              <a:off x="8455867" y="573190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+1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96133" y="573190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-1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78778" y="5731902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0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 flipH="1" flipV="1">
              <a:off x="9435487" y="1690688"/>
              <a:ext cx="54502" cy="4041214"/>
            </a:xfrm>
            <a:prstGeom prst="line">
              <a:avLst/>
            </a:prstGeom>
            <a:ln w="2540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ounded Rectangle 14"/>
          <p:cNvSpPr/>
          <p:nvPr/>
        </p:nvSpPr>
        <p:spPr>
          <a:xfrm>
            <a:off x="7312620" y="955963"/>
            <a:ext cx="4197699" cy="90814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intercept is the value of ‘y’ when ‘x’ is zero. This, 62.578 is the mean of the two group means.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7710" y="4218324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1</a:t>
            </a:r>
            <a:r>
              <a:rPr lang="en-US" dirty="0"/>
              <a:t>=65.931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1987" y="2724355"/>
            <a:ext cx="120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  <a:r>
              <a:rPr lang="en-US" baseline="-25000" dirty="0"/>
              <a:t>2</a:t>
            </a:r>
            <a:r>
              <a:rPr lang="en-US" dirty="0"/>
              <a:t>=59.225</a:t>
            </a:r>
          </a:p>
        </p:txBody>
      </p:sp>
    </p:spTree>
    <p:extLst>
      <p:ext uri="{BB962C8B-B14F-4D97-AF65-F5344CB8AC3E}">
        <p14:creationId xmlns:p14="http://schemas.microsoft.com/office/powerpoint/2010/main" val="3052886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we have more than 2 groups?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67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(k &gt; 2) variables in a GLM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1816" y="1825625"/>
            <a:ext cx="5471984" cy="4351338"/>
          </a:xfrm>
        </p:spPr>
        <p:txBody>
          <a:bodyPr/>
          <a:lstStyle/>
          <a:p>
            <a:r>
              <a:rPr lang="en-US" dirty="0"/>
              <a:t>How do we code our variable with three groups?</a:t>
            </a:r>
          </a:p>
          <a:p>
            <a:pPr lvl="1"/>
            <a:r>
              <a:rPr lang="en-US" dirty="0"/>
              <a:t>0,1,2</a:t>
            </a:r>
          </a:p>
          <a:p>
            <a:pPr lvl="1"/>
            <a:r>
              <a:rPr lang="en-US" dirty="0"/>
              <a:t>-1,0,1</a:t>
            </a:r>
          </a:p>
          <a:p>
            <a:pPr lvl="1"/>
            <a:r>
              <a:rPr lang="en-US" dirty="0"/>
              <a:t>Why couldn’t we use a single code with three levels?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7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(k &gt; 2) variables in a GLM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81816" y="1825624"/>
            <a:ext cx="5471984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How do we code our variable with three groups?</a:t>
            </a:r>
          </a:p>
          <a:p>
            <a:pPr lvl="1"/>
            <a:r>
              <a:rPr lang="en-US" dirty="0"/>
              <a:t>0,1,2</a:t>
            </a:r>
          </a:p>
          <a:p>
            <a:pPr lvl="1"/>
            <a:r>
              <a:rPr lang="en-US" dirty="0"/>
              <a:t>-1,0,1</a:t>
            </a:r>
          </a:p>
          <a:p>
            <a:pPr lvl="1"/>
            <a:r>
              <a:rPr lang="en-US" dirty="0"/>
              <a:t>Why couldn’t we use a single code with three levels?</a:t>
            </a:r>
          </a:p>
          <a:p>
            <a:pPr lvl="1"/>
            <a:endParaRPr lang="en-US" dirty="0"/>
          </a:p>
          <a:p>
            <a:r>
              <a:rPr lang="en-US" dirty="0"/>
              <a:t>By default R uses ‘dummy’ codes:</a:t>
            </a:r>
          </a:p>
          <a:p>
            <a:pPr lvl="1"/>
            <a:r>
              <a:rPr lang="el-GR" dirty="0"/>
              <a:t>λ</a:t>
            </a:r>
            <a:r>
              <a:rPr lang="en-US" dirty="0"/>
              <a:t>1&lt;-c(0,1,0)</a:t>
            </a:r>
          </a:p>
          <a:p>
            <a:pPr lvl="1"/>
            <a:r>
              <a:rPr lang="el-GR" dirty="0"/>
              <a:t>λ</a:t>
            </a:r>
            <a:r>
              <a:rPr lang="en-US" dirty="0"/>
              <a:t>2&lt;-c(0,0,1)</a:t>
            </a:r>
          </a:p>
          <a:p>
            <a:pPr lvl="1"/>
            <a:r>
              <a:rPr lang="en-US" dirty="0"/>
              <a:t>What would a one unit change mean for these codes?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4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(k &gt; 2) variables in a GLM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  68.500      1.779  38.497  &lt; 2e-16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groupsmedium</a:t>
            </a:r>
            <a:r>
              <a:rPr lang="en-US" sz="1200" dirty="0">
                <a:latin typeface="Lucida Console" panose="020B0609040504020204" pitchFamily="49" charset="0"/>
              </a:rPr>
              <a:t>   -6.750      2.516  -2.682 0.015209 *  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groupsslower</a:t>
            </a:r>
            <a:r>
              <a:rPr lang="en-US" sz="1200" dirty="0">
                <a:latin typeface="Lucida Console" panose="020B0609040504020204" pitchFamily="49" charset="0"/>
              </a:rPr>
              <a:t>  -10.536      2.516  -4.187 0.000554 ***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327031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75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(k &gt; 2) variables in a GLM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  68.500      1.779  38.497  &lt; 2e-16 ***</a:t>
            </a:r>
          </a:p>
          <a:p>
            <a:r>
              <a:rPr lang="en-US" sz="1200" b="1" dirty="0" err="1">
                <a:latin typeface="Lucida Console" panose="020B0609040504020204" pitchFamily="49" charset="0"/>
              </a:rPr>
              <a:t>groupsmedium</a:t>
            </a:r>
            <a:r>
              <a:rPr lang="en-US" sz="1200" b="1" dirty="0">
                <a:latin typeface="Lucida Console" panose="020B0609040504020204" pitchFamily="49" charset="0"/>
              </a:rPr>
              <a:t>   -6.750      2.516  -2.682 0.015209 *  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groupsslower</a:t>
            </a:r>
            <a:r>
              <a:rPr lang="en-US" sz="1200" dirty="0">
                <a:latin typeface="Lucida Console" panose="020B0609040504020204" pitchFamily="49" charset="0"/>
              </a:rPr>
              <a:t>  -10.536      2.516  -4.187 0.000554 ***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505336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45900D8-A79F-4148-9A13-ED8AB8EA29EC}"/>
              </a:ext>
            </a:extLst>
          </p:cNvPr>
          <p:cNvSpPr txBox="1"/>
          <p:nvPr/>
        </p:nvSpPr>
        <p:spPr>
          <a:xfrm>
            <a:off x="1963658" y="1982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D8707-07BC-4DC1-B300-01DC05423AAE}"/>
              </a:ext>
            </a:extLst>
          </p:cNvPr>
          <p:cNvSpPr txBox="1"/>
          <p:nvPr/>
        </p:nvSpPr>
        <p:spPr>
          <a:xfrm>
            <a:off x="3038167" y="30208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E6B62-60FF-49EB-9B86-6553969928DE}"/>
              </a:ext>
            </a:extLst>
          </p:cNvPr>
          <p:cNvSpPr txBox="1"/>
          <p:nvPr/>
        </p:nvSpPr>
        <p:spPr>
          <a:xfrm>
            <a:off x="4228643" y="30208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E2AFB4B7-33F9-4BA7-A5E4-DA955E624E8F}"/>
              </a:ext>
            </a:extLst>
          </p:cNvPr>
          <p:cNvCxnSpPr>
            <a:cxnSpLocks/>
            <a:stCxn id="10" idx="3"/>
            <a:endCxn id="11" idx="0"/>
          </p:cNvCxnSpPr>
          <p:nvPr/>
        </p:nvCxnSpPr>
        <p:spPr>
          <a:xfrm>
            <a:off x="2265344" y="2167238"/>
            <a:ext cx="923666" cy="853661"/>
          </a:xfrm>
          <a:prstGeom prst="curvedConnector2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5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(k &gt; 2) variables in a GLM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  68.500      1.779  38.497  &lt; 2e-16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groupsmedium</a:t>
            </a:r>
            <a:r>
              <a:rPr lang="en-US" sz="1200" dirty="0">
                <a:latin typeface="Lucida Console" panose="020B0609040504020204" pitchFamily="49" charset="0"/>
              </a:rPr>
              <a:t>   -6.750      2.516  -2.682 0.015209 *  </a:t>
            </a:r>
          </a:p>
          <a:p>
            <a:r>
              <a:rPr lang="en-US" sz="1200" b="1" dirty="0" err="1">
                <a:latin typeface="Lucida Console" panose="020B0609040504020204" pitchFamily="49" charset="0"/>
              </a:rPr>
              <a:t>groupsslower</a:t>
            </a:r>
            <a:r>
              <a:rPr lang="en-US" sz="1200" b="1" dirty="0">
                <a:latin typeface="Lucida Console" panose="020B0609040504020204" pitchFamily="49" charset="0"/>
              </a:rPr>
              <a:t>  -10.536      2.516  -4.187 0.000554 ***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048580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1631A23-544E-42F9-ABE8-727647EA2D51}"/>
              </a:ext>
            </a:extLst>
          </p:cNvPr>
          <p:cNvSpPr txBox="1"/>
          <p:nvPr/>
        </p:nvSpPr>
        <p:spPr>
          <a:xfrm>
            <a:off x="1934161" y="19825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EDE542-5D8D-44B1-8184-E7C7F5379EC9}"/>
              </a:ext>
            </a:extLst>
          </p:cNvPr>
          <p:cNvSpPr txBox="1"/>
          <p:nvPr/>
        </p:nvSpPr>
        <p:spPr>
          <a:xfrm>
            <a:off x="3078358" y="30208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A254C1-9392-4EF0-A513-49C7024E7D8E}"/>
              </a:ext>
            </a:extLst>
          </p:cNvPr>
          <p:cNvSpPr txBox="1"/>
          <p:nvPr/>
        </p:nvSpPr>
        <p:spPr>
          <a:xfrm>
            <a:off x="4187049" y="30208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2C5422F7-82F3-4A04-B37F-6249AF63235D}"/>
              </a:ext>
            </a:extLst>
          </p:cNvPr>
          <p:cNvCxnSpPr>
            <a:cxnSpLocks/>
            <a:stCxn id="10" idx="3"/>
            <a:endCxn id="12" idx="0"/>
          </p:cNvCxnSpPr>
          <p:nvPr/>
        </p:nvCxnSpPr>
        <p:spPr>
          <a:xfrm>
            <a:off x="2235847" y="2167238"/>
            <a:ext cx="2102045" cy="853661"/>
          </a:xfrm>
          <a:prstGeom prst="curvedConnector2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400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742709" y="2075281"/>
            <a:ext cx="6135013" cy="41549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Lucida Console" panose="020B0609040504020204" pitchFamily="49" charset="0"/>
              </a:rPr>
              <a:t>   </a:t>
            </a:r>
            <a:r>
              <a:rPr lang="en-US" sz="1200" b="1" dirty="0" err="1">
                <a:latin typeface="Lucida Console" panose="020B0609040504020204" pitchFamily="49" charset="0"/>
              </a:rPr>
              <a:t>sudID</a:t>
            </a:r>
            <a:r>
              <a:rPr lang="en-US" sz="1200" b="1" dirty="0">
                <a:latin typeface="Lucida Console" panose="020B0609040504020204" pitchFamily="49" charset="0"/>
              </a:rPr>
              <a:t>   VO2 time faster </a:t>
            </a:r>
            <a:r>
              <a:rPr lang="en-US" sz="1200" b="1" dirty="0" err="1">
                <a:latin typeface="Lucida Console" panose="020B0609040504020204" pitchFamily="49" charset="0"/>
              </a:rPr>
              <a:t>faster.c</a:t>
            </a:r>
            <a:r>
              <a:rPr lang="en-US" sz="1200" b="1" dirty="0">
                <a:latin typeface="Lucida Console" panose="020B0609040504020204" pitchFamily="49" charset="0"/>
              </a:rPr>
              <a:t> fast.cat </a:t>
            </a:r>
            <a:r>
              <a:rPr lang="en-US" sz="1200" b="1" dirty="0" err="1">
                <a:latin typeface="Lucida Console" panose="020B0609040504020204" pitchFamily="49" charset="0"/>
              </a:rPr>
              <a:t>lin.c</a:t>
            </a:r>
            <a:r>
              <a:rPr lang="en-US" sz="1200" b="1" dirty="0">
                <a:latin typeface="Lucida Console" panose="020B0609040504020204" pitchFamily="49" charset="0"/>
              </a:rPr>
              <a:t> </a:t>
            </a:r>
            <a:r>
              <a:rPr lang="en-US" sz="1200" b="1" dirty="0" err="1">
                <a:latin typeface="Lucida Console" panose="020B0609040504020204" pitchFamily="49" charset="0"/>
              </a:rPr>
              <a:t>quad.c</a:t>
            </a:r>
            <a:r>
              <a:rPr lang="en-US" sz="1200" b="1" dirty="0">
                <a:latin typeface="Lucida Console" panose="020B0609040504020204" pitchFamily="49" charset="0"/>
              </a:rPr>
              <a:t> groups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   s001 74.00  116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2   s002 68.00  117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3   s003 70.50  119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4   s004 61.00  121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5   s005 73.25  121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6   s006 68.25  122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7   s007 64.50  125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8   s008 63.00  128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9   s009 60.75  130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10  s010 64.00  130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11  s011 58.00  132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12  s012 60.50  135      0       -1   slower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13  s013 66.00  136      0       -1   slower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14  s014 60.00  137      0       -1   slower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15  s015 65.75  137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16  s016 66.25  141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17  s017 57.50  143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18  s018 50.00  147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19  s019 56.75  153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20  s020 52.50  159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21  s021 57.00  160      0       -1   slower    -1     -1 slower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63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742709" y="2075281"/>
            <a:ext cx="6135013" cy="41549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Lucida Console" panose="020B0609040504020204" pitchFamily="49" charset="0"/>
              </a:rPr>
              <a:t>   </a:t>
            </a:r>
            <a:r>
              <a:rPr lang="en-US" sz="1200" b="1" dirty="0" err="1">
                <a:latin typeface="Lucida Console" panose="020B0609040504020204" pitchFamily="49" charset="0"/>
              </a:rPr>
              <a:t>sudID</a:t>
            </a:r>
            <a:r>
              <a:rPr lang="en-US" sz="1200" b="1" dirty="0">
                <a:latin typeface="Lucida Console" panose="020B0609040504020204" pitchFamily="49" charset="0"/>
              </a:rPr>
              <a:t>   VO2 time faster </a:t>
            </a:r>
            <a:r>
              <a:rPr lang="en-US" sz="1200" b="1" dirty="0" err="1">
                <a:latin typeface="Lucida Console" panose="020B0609040504020204" pitchFamily="49" charset="0"/>
              </a:rPr>
              <a:t>faster.c</a:t>
            </a:r>
            <a:r>
              <a:rPr lang="en-US" sz="1200" b="1" dirty="0">
                <a:latin typeface="Lucida Console" panose="020B0609040504020204" pitchFamily="49" charset="0"/>
              </a:rPr>
              <a:t> fast.cat </a:t>
            </a:r>
            <a:r>
              <a:rPr lang="en-US" sz="1200" b="1" dirty="0" err="1">
                <a:latin typeface="Lucida Console" panose="020B0609040504020204" pitchFamily="49" charset="0"/>
              </a:rPr>
              <a:t>lin.c</a:t>
            </a:r>
            <a:r>
              <a:rPr lang="en-US" sz="1200" b="1" dirty="0">
                <a:latin typeface="Lucida Console" panose="020B0609040504020204" pitchFamily="49" charset="0"/>
              </a:rPr>
              <a:t> </a:t>
            </a:r>
            <a:r>
              <a:rPr lang="en-US" sz="1200" b="1" dirty="0" err="1">
                <a:latin typeface="Lucida Console" panose="020B0609040504020204" pitchFamily="49" charset="0"/>
              </a:rPr>
              <a:t>quad.c</a:t>
            </a:r>
            <a:r>
              <a:rPr lang="en-US" sz="1200" b="1" dirty="0">
                <a:latin typeface="Lucida Console" panose="020B0609040504020204" pitchFamily="49" charset="0"/>
              </a:rPr>
              <a:t> groups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   s001 74.00  116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2   s002 68.00  117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3   s003 70.50  119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4   s004 61.00  121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5   s005 73.25  121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6   s006 68.25  122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7   s007 64.50  125      1        1   faster     1     -1 faster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8   s008 63.00  128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9   s009 60.75  130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10  s010 64.00  130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11  s011 58.00  132      1        1   faster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12  s012 60.50  135      0       -1   slower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13  s013 66.00  136      0       -1   slower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14  s014 60.00  137      0       -1   slower     0      2 medium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15  s015 65.75  137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16  s016 66.25  141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17  s017 57.50  143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18  s018 50.00  147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19  s019 56.75  153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20  s020 52.50  159      0       -1   slower    -1     -1 slower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21  s021 57.00  160      0       -1   slower    -1     -1 slower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DACCE-ED0D-4CDB-A7EB-D2162995AEFB}"/>
              </a:ext>
            </a:extLst>
          </p:cNvPr>
          <p:cNvSpPr/>
          <p:nvPr/>
        </p:nvSpPr>
        <p:spPr>
          <a:xfrm>
            <a:off x="9954491" y="1949196"/>
            <a:ext cx="1923231" cy="4407154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2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lin.c</a:t>
            </a:r>
            <a:r>
              <a:rPr lang="en-US" sz="12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quad.c</a:t>
            </a:r>
            <a:r>
              <a:rPr lang="en-US" sz="12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925054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80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lin.c</a:t>
            </a:r>
            <a:r>
              <a:rPr lang="en-US" sz="12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quad.c</a:t>
            </a:r>
            <a:r>
              <a:rPr lang="en-US" sz="12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F-statistic: 8.996 on 2 and 18 DF,  p-value: 0.001957</a:t>
            </a:r>
            <a:endParaRPr lang="en-US" sz="1200" b="1" dirty="0">
              <a:latin typeface="Lucida Console" panose="020B06090405040202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167054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E8DBD5B-08C9-4EC7-874B-219178EC82CC}"/>
              </a:ext>
            </a:extLst>
          </p:cNvPr>
          <p:cNvSpPr/>
          <p:nvPr/>
        </p:nvSpPr>
        <p:spPr>
          <a:xfrm>
            <a:off x="5745885" y="2887032"/>
            <a:ext cx="6152331" cy="259773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398AC-0EC9-4F54-A195-1A9A860A9077}"/>
              </a:ext>
            </a:extLst>
          </p:cNvPr>
          <p:cNvSpPr txBox="1"/>
          <p:nvPr/>
        </p:nvSpPr>
        <p:spPr>
          <a:xfrm>
            <a:off x="3439391" y="2223475"/>
            <a:ext cx="1839191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What does the intercept now represent?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63D3EA55-42A2-494C-970C-D906D056044F}"/>
              </a:ext>
            </a:extLst>
          </p:cNvPr>
          <p:cNvCxnSpPr>
            <a:cxnSpLocks/>
            <a:stCxn id="10" idx="1"/>
            <a:endCxn id="3" idx="3"/>
          </p:cNvCxnSpPr>
          <p:nvPr/>
        </p:nvCxnSpPr>
        <p:spPr>
          <a:xfrm rot="10800000">
            <a:off x="5278583" y="2685141"/>
            <a:ext cx="467303" cy="33177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104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lin.c</a:t>
            </a:r>
            <a:r>
              <a:rPr lang="en-US" sz="12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quad.c</a:t>
            </a:r>
            <a:r>
              <a:rPr lang="en-US" sz="12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03888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7E8DBD5B-08C9-4EC7-874B-219178EC82CC}"/>
              </a:ext>
            </a:extLst>
          </p:cNvPr>
          <p:cNvSpPr/>
          <p:nvPr/>
        </p:nvSpPr>
        <p:spPr>
          <a:xfrm>
            <a:off x="5725391" y="3293918"/>
            <a:ext cx="6152331" cy="259773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398AC-0EC9-4F54-A195-1A9A860A9077}"/>
              </a:ext>
            </a:extLst>
          </p:cNvPr>
          <p:cNvSpPr txBox="1"/>
          <p:nvPr/>
        </p:nvSpPr>
        <p:spPr>
          <a:xfrm>
            <a:off x="3439391" y="2223475"/>
            <a:ext cx="1839191" cy="9233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Why is this effect not statistically significant?</a:t>
            </a:r>
          </a:p>
        </p:txBody>
      </p:sp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63D3EA55-42A2-494C-970C-D906D056044F}"/>
              </a:ext>
            </a:extLst>
          </p:cNvPr>
          <p:cNvCxnSpPr>
            <a:stCxn id="10" idx="1"/>
            <a:endCxn id="3" idx="2"/>
          </p:cNvCxnSpPr>
          <p:nvPr/>
        </p:nvCxnSpPr>
        <p:spPr>
          <a:xfrm rot="10800000">
            <a:off x="4358987" y="3146805"/>
            <a:ext cx="1366404" cy="27700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31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200" b="1" dirty="0" err="1">
                <a:latin typeface="Lucida Console" panose="020B0609040504020204" pitchFamily="49" charset="0"/>
              </a:rPr>
              <a:t>lin.c</a:t>
            </a:r>
            <a:r>
              <a:rPr lang="en-US" sz="1200" b="1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quad.c</a:t>
            </a:r>
            <a:r>
              <a:rPr lang="en-US" sz="12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400048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61F2D5-B84C-47B4-A81D-AF3975F2E6EF}"/>
              </a:ext>
            </a:extLst>
          </p:cNvPr>
          <p:cNvSpPr txBox="1"/>
          <p:nvPr/>
        </p:nvSpPr>
        <p:spPr>
          <a:xfrm>
            <a:off x="1900754" y="1924599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CB81F-D76A-4657-8EA8-C2E5564450A7}"/>
              </a:ext>
            </a:extLst>
          </p:cNvPr>
          <p:cNvSpPr txBox="1"/>
          <p:nvPr/>
        </p:nvSpPr>
        <p:spPr>
          <a:xfrm>
            <a:off x="3077776" y="305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1458D-ECF6-47CA-87B3-1CD86500D17A}"/>
              </a:ext>
            </a:extLst>
          </p:cNvPr>
          <p:cNvSpPr txBox="1"/>
          <p:nvPr/>
        </p:nvSpPr>
        <p:spPr>
          <a:xfrm>
            <a:off x="4135014" y="3054685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-1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CAB122-DA7B-4DE7-8E1F-06A7DFD2680E}"/>
              </a:ext>
            </a:extLst>
          </p:cNvPr>
          <p:cNvCxnSpPr>
            <a:cxnSpLocks/>
          </p:cNvCxnSpPr>
          <p:nvPr/>
        </p:nvCxnSpPr>
        <p:spPr>
          <a:xfrm flipH="1" flipV="1">
            <a:off x="1070264" y="2723925"/>
            <a:ext cx="4474023" cy="188447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34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15" y="1594445"/>
            <a:ext cx="4761905" cy="47619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Contrast Coded</a:t>
            </a:r>
            <a:r>
              <a:rPr lang="en-US" dirty="0"/>
              <a:t> Variables in a GLM (k &gt;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FECF6-EAEA-48F2-8568-53CDE730DBD6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847519" y="1808190"/>
            <a:ext cx="5949064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200" dirty="0" err="1">
                <a:latin typeface="Lucida Console" panose="020B0609040504020204" pitchFamily="49" charset="0"/>
              </a:rPr>
              <a:t>Pr</a:t>
            </a:r>
            <a:r>
              <a:rPr lang="en-US" sz="12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lin.c</a:t>
            </a:r>
            <a:r>
              <a:rPr lang="en-US" sz="12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200" b="1" dirty="0" err="1">
                <a:latin typeface="Lucida Console" panose="020B0609040504020204" pitchFamily="49" charset="0"/>
              </a:rPr>
              <a:t>quad.c</a:t>
            </a:r>
            <a:r>
              <a:rPr lang="en-US" sz="1200" b="1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200" dirty="0" err="1">
                <a:latin typeface="Lucida Console" panose="020B0609040504020204" pitchFamily="49" charset="0"/>
              </a:rPr>
              <a:t>Signif</a:t>
            </a:r>
            <a:r>
              <a:rPr lang="en-US" sz="12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200" dirty="0">
              <a:latin typeface="Lucida Console" panose="020B0609040504020204" pitchFamily="49" charset="0"/>
            </a:endParaRPr>
          </a:p>
          <a:p>
            <a:r>
              <a:rPr lang="en-US" sz="12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200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723A7B-8DBA-41AE-B584-47D49D536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35344"/>
              </p:ext>
            </p:extLst>
          </p:nvPr>
        </p:nvGraphicFramePr>
        <p:xfrm>
          <a:off x="5847520" y="4911133"/>
          <a:ext cx="5949063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0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3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978693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61.75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8358650"/>
                  </a:ext>
                </a:extLst>
              </a:tr>
              <a:tr h="328257">
                <a:tc>
                  <a:txBody>
                    <a:bodyPr/>
                    <a:lstStyle/>
                    <a:p>
                      <a:r>
                        <a:rPr lang="en-US" sz="1600" dirty="0"/>
                        <a:t>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57.96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161F2D5-B84C-47B4-A81D-AF3975F2E6EF}"/>
              </a:ext>
            </a:extLst>
          </p:cNvPr>
          <p:cNvSpPr txBox="1"/>
          <p:nvPr/>
        </p:nvSpPr>
        <p:spPr>
          <a:xfrm>
            <a:off x="1920418" y="1991001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ACB81F-D76A-4657-8EA8-C2E5564450A7}"/>
              </a:ext>
            </a:extLst>
          </p:cNvPr>
          <p:cNvSpPr txBox="1"/>
          <p:nvPr/>
        </p:nvSpPr>
        <p:spPr>
          <a:xfrm>
            <a:off x="3087795" y="30546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1458D-ECF6-47CA-87B3-1CD86500D17A}"/>
              </a:ext>
            </a:extLst>
          </p:cNvPr>
          <p:cNvSpPr txBox="1"/>
          <p:nvPr/>
        </p:nvSpPr>
        <p:spPr>
          <a:xfrm>
            <a:off x="4135014" y="30079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-1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CAB122-DA7B-4DE7-8E1F-06A7DFD2680E}"/>
              </a:ext>
            </a:extLst>
          </p:cNvPr>
          <p:cNvCxnSpPr>
            <a:cxnSpLocks/>
          </p:cNvCxnSpPr>
          <p:nvPr/>
        </p:nvCxnSpPr>
        <p:spPr>
          <a:xfrm flipH="1" flipV="1">
            <a:off x="1070264" y="2723925"/>
            <a:ext cx="4474023" cy="188447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00299F8F-2119-4003-BF77-A6EAD47B65FD}"/>
              </a:ext>
            </a:extLst>
          </p:cNvPr>
          <p:cNvCxnSpPr>
            <a:cxnSpLocks/>
            <a:stCxn id="3" idx="2"/>
            <a:endCxn id="11" idx="2"/>
          </p:cNvCxnSpPr>
          <p:nvPr/>
        </p:nvCxnSpPr>
        <p:spPr>
          <a:xfrm rot="16200000" flipH="1">
            <a:off x="2705368" y="1761492"/>
            <a:ext cx="1016915" cy="2214596"/>
          </a:xfrm>
          <a:prstGeom prst="curvedConnector3">
            <a:avLst>
              <a:gd name="adj1" fmla="val 119579"/>
            </a:avLst>
          </a:prstGeom>
          <a:ln w="28575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00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41B4-C5A7-45AD-9D48-3E6E1A854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our Different Codes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5ED73-11A5-4D5E-85ED-E8BB2AAF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2/25/2019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E2E0C-3B6C-4F99-826B-38B3909E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F3BC0-03A6-4084-85C0-F1C702C9EF02}"/>
              </a:ext>
            </a:extLst>
          </p:cNvPr>
          <p:cNvSpPr txBox="1"/>
          <p:nvPr/>
        </p:nvSpPr>
        <p:spPr>
          <a:xfrm>
            <a:off x="606868" y="2592358"/>
            <a:ext cx="5452134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    Estimate Std. Error t value </a:t>
            </a:r>
            <a:r>
              <a:rPr lang="en-US" sz="1100" dirty="0" err="1">
                <a:latin typeface="Lucida Console" panose="020B0609040504020204" pitchFamily="49" charset="0"/>
              </a:rPr>
              <a:t>Pr</a:t>
            </a:r>
            <a:r>
              <a:rPr lang="en-US" sz="11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(Intercept)    68.500      1.779  38.497  &lt; 2e-16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groupsmedium</a:t>
            </a:r>
            <a:r>
              <a:rPr lang="en-US" sz="1100" dirty="0">
                <a:latin typeface="Lucida Console" panose="020B0609040504020204" pitchFamily="49" charset="0"/>
              </a:rPr>
              <a:t>   -6.750      2.516  -2.682 0.015209 *  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groupsslower</a:t>
            </a:r>
            <a:r>
              <a:rPr lang="en-US" sz="1100" dirty="0">
                <a:latin typeface="Lucida Console" panose="020B0609040504020204" pitchFamily="49" charset="0"/>
              </a:rPr>
              <a:t>  -10.536      2.516  -4.187 0.000554 ***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Signif</a:t>
            </a:r>
            <a:r>
              <a:rPr lang="en-US" sz="11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E361C-7CD4-4663-9848-A7D180E64152}"/>
              </a:ext>
            </a:extLst>
          </p:cNvPr>
          <p:cNvSpPr txBox="1"/>
          <p:nvPr/>
        </p:nvSpPr>
        <p:spPr>
          <a:xfrm>
            <a:off x="6376555" y="2592358"/>
            <a:ext cx="5452134" cy="26314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Lucida Console" panose="020B0609040504020204" pitchFamily="49" charset="0"/>
              </a:rPr>
              <a:t>Residuals: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Min     1Q Median     3Q    Max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-7.964 -1.750 -0.500  2.250  8.286 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Coefficients: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            Estimate Std. Error t value </a:t>
            </a:r>
            <a:r>
              <a:rPr lang="en-US" sz="1100" dirty="0" err="1">
                <a:latin typeface="Lucida Console" panose="020B0609040504020204" pitchFamily="49" charset="0"/>
              </a:rPr>
              <a:t>Pr</a:t>
            </a:r>
            <a:r>
              <a:rPr lang="en-US" sz="1100" dirty="0">
                <a:latin typeface="Lucida Console" panose="020B0609040504020204" pitchFamily="49" charset="0"/>
              </a:rPr>
              <a:t>(&gt;|t|)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(Intercept)  62.7381     1.0273  61.070  &lt; 2e-16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lin.c</a:t>
            </a:r>
            <a:r>
              <a:rPr lang="en-US" sz="1100" dirty="0">
                <a:latin typeface="Lucida Console" panose="020B0609040504020204" pitchFamily="49" charset="0"/>
              </a:rPr>
              <a:t>         5.2679     1.2582   4.187 0.000554 ***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quad.c</a:t>
            </a:r>
            <a:r>
              <a:rPr lang="en-US" sz="1100" dirty="0">
                <a:latin typeface="Lucida Console" panose="020B0609040504020204" pitchFamily="49" charset="0"/>
              </a:rPr>
              <a:t>       -0.4940     0.7264  -0.680 0.505086    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---</a:t>
            </a:r>
          </a:p>
          <a:p>
            <a:r>
              <a:rPr lang="en-US" sz="1100" dirty="0" err="1">
                <a:latin typeface="Lucida Console" panose="020B0609040504020204" pitchFamily="49" charset="0"/>
              </a:rPr>
              <a:t>Signif</a:t>
            </a:r>
            <a:r>
              <a:rPr lang="en-US" sz="1100" dirty="0">
                <a:latin typeface="Lucida Console" panose="020B0609040504020204" pitchFamily="49" charset="0"/>
              </a:rPr>
              <a:t>. codes:  0 ‘***’ 0.001 ‘**’ 0.01 ‘*’ 0.05 ‘.’ 0.1 ‘ ’ 1</a:t>
            </a:r>
          </a:p>
          <a:p>
            <a:endParaRPr lang="en-US" sz="1100" dirty="0">
              <a:latin typeface="Lucida Console" panose="020B0609040504020204" pitchFamily="49" charset="0"/>
            </a:endParaRPr>
          </a:p>
          <a:p>
            <a:r>
              <a:rPr lang="en-US" sz="1100" dirty="0">
                <a:latin typeface="Lucida Console" panose="020B0609040504020204" pitchFamily="49" charset="0"/>
              </a:rPr>
              <a:t>Residual standard error: 4.708 on 18 degrees of freedom</a:t>
            </a:r>
          </a:p>
          <a:p>
            <a:r>
              <a:rPr lang="en-US" sz="1100" dirty="0">
                <a:latin typeface="Lucida Console" panose="020B0609040504020204" pitchFamily="49" charset="0"/>
              </a:rPr>
              <a:t>Multiple R-squared:  0.4999,	Adjusted R-squared:  0.4443 </a:t>
            </a:r>
          </a:p>
          <a:p>
            <a:r>
              <a:rPr lang="en-US" sz="1100" b="1" dirty="0">
                <a:latin typeface="Lucida Console" panose="020B0609040504020204" pitchFamily="49" charset="0"/>
              </a:rPr>
              <a:t>F-statistic: 8.996 on 2 and 18 DF,  p-value: 0.001957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1FA86-85C0-4522-87D6-FFF22B6A1232}"/>
              </a:ext>
            </a:extLst>
          </p:cNvPr>
          <p:cNvSpPr txBox="1"/>
          <p:nvPr/>
        </p:nvSpPr>
        <p:spPr>
          <a:xfrm>
            <a:off x="1860224" y="2223026"/>
            <a:ext cx="2992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Treatment or ‘Dummy’ Codes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4DB44-A146-42AD-B2E2-C059EDD860F7}"/>
              </a:ext>
            </a:extLst>
          </p:cNvPr>
          <p:cNvSpPr txBox="1"/>
          <p:nvPr/>
        </p:nvSpPr>
        <p:spPr>
          <a:xfrm>
            <a:off x="8293009" y="2223026"/>
            <a:ext cx="161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Contrast Codes</a:t>
            </a:r>
          </a:p>
        </p:txBody>
      </p:sp>
    </p:spTree>
    <p:extLst>
      <p:ext uri="{BB962C8B-B14F-4D97-AF65-F5344CB8AC3E}">
        <p14:creationId xmlns:p14="http://schemas.microsoft.com/office/powerpoint/2010/main" val="114612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2404</Words>
  <Application>Microsoft Office PowerPoint</Application>
  <PresentationFormat>Widescreen</PresentationFormat>
  <Paragraphs>479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Lucida Console</vt:lpstr>
      <vt:lpstr>Office Theme</vt:lpstr>
      <vt:lpstr>Models with a Single Categorical Predictor (One-Way ANOVA).</vt:lpstr>
      <vt:lpstr>Relationship between VO2max and 800 meter times.</vt:lpstr>
      <vt:lpstr>Relationship between VO2max and 800 meter times.</vt:lpstr>
      <vt:lpstr>Categorical (2-level) variables in a GLM</vt:lpstr>
      <vt:lpstr>Categorical (2-level) variables in a GLM</vt:lpstr>
      <vt:lpstr>What if we change how we code ‘slower’ and ‘faster’?</vt:lpstr>
      <vt:lpstr>What if we change how we code ‘slower’ and ‘faster’?</vt:lpstr>
      <vt:lpstr>What if we change how we code ‘slower’ and ‘faster’?</vt:lpstr>
      <vt:lpstr>What if we change how we code ‘slower’ and ‘faster’?</vt:lpstr>
      <vt:lpstr>What if we have more than 2 groups?</vt:lpstr>
      <vt:lpstr>Categorical (k &gt; 2) variables in a GLM</vt:lpstr>
      <vt:lpstr>Categorical (k &gt; 2) variables in a GLM</vt:lpstr>
      <vt:lpstr>Categorical (k &gt; 2) variables in a GLM</vt:lpstr>
      <vt:lpstr>Categorical (k &gt; 2) variables in a GLM</vt:lpstr>
      <vt:lpstr>Categorical (k &gt; 2) variables in a GLM</vt:lpstr>
      <vt:lpstr>Contrast Coded Variables in a GLM (k &gt; 2)</vt:lpstr>
      <vt:lpstr>Contrast Coded Variables in a GLM (k &gt; 2)</vt:lpstr>
      <vt:lpstr>Contrast Coded Variables in a GLM (k &gt; 2)</vt:lpstr>
      <vt:lpstr>Contrast Coded Variables in a GLM (k &gt; 2)</vt:lpstr>
      <vt:lpstr>Contrast Coded Variables in a GLM (k &gt; 2)</vt:lpstr>
      <vt:lpstr>Contrast Coded Variables in a GLM (k &gt; 2)</vt:lpstr>
      <vt:lpstr>Contrast Coded Variables in a GLM (k &gt; 2)</vt:lpstr>
      <vt:lpstr>Comparing our Different Codes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Nonlinear and Moderated Models.</dc:title>
  <dc:creator>Keith Lohse</dc:creator>
  <cp:lastModifiedBy>Keith Lohse</cp:lastModifiedBy>
  <cp:revision>29</cp:revision>
  <dcterms:created xsi:type="dcterms:W3CDTF">2019-02-09T14:44:07Z</dcterms:created>
  <dcterms:modified xsi:type="dcterms:W3CDTF">2019-02-25T14:31:37Z</dcterms:modified>
</cp:coreProperties>
</file>
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10"/>
  </p:notesMasterIdLst>
  <p:sldIdLst>
    <p:sldId id="382" r:id="rId2"/>
    <p:sldId id="390" r:id="rId3"/>
    <p:sldId id="391" r:id="rId4"/>
    <p:sldId id="392" r:id="rId5"/>
    <p:sldId id="393" r:id="rId6"/>
    <p:sldId id="394" r:id="rId7"/>
    <p:sldId id="395" r:id="rId8"/>
    <p:sldId id="39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9797"/>
    <a:srgbClr val="A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53" autoAdjust="0"/>
    <p:restoredTop sz="84424" autoAdjust="0"/>
  </p:normalViewPr>
  <p:slideViewPr>
    <p:cSldViewPr snapToGrid="0">
      <p:cViewPr varScale="1">
        <p:scale>
          <a:sx n="92" d="100"/>
          <a:sy n="92" d="100"/>
        </p:scale>
        <p:origin x="11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252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676DDE-75BB-4B04-A0BD-5C17E33DC40E}" type="datetimeFigureOut">
              <a:rPr lang="en-US" smtClean="0"/>
              <a:t>1/21/2019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B62B-0753-4BDE-90F4-CDED710DE1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486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A7B62B-0753-4BDE-90F4-CDED710DE13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731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95B63A-1390-4120-94EB-00092381E02F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465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730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6FB65-6EAB-49E5-A1DB-3E80C39C53B8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23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99224-D20E-45FC-AB47-7036B7429E06}" type="datetime1">
              <a:rPr lang="en-US" smtClean="0"/>
              <a:t>1/21/2019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358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E4B67A-60ED-4797-943A-55D5CD883011}" type="datetime1">
              <a:rPr lang="en-US" smtClean="0"/>
              <a:t>1/21/2019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8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920365-48B9-4CE9-9604-727AE8FB1773}" type="datetime1">
              <a:rPr lang="en-US" smtClean="0"/>
              <a:t>1/21/2019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25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DC5B5-E9BF-4312-938F-57F5458B9411}" type="datetime1">
              <a:rPr lang="en-US" smtClean="0"/>
              <a:t>1/21/2019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904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61C03-418D-427D-912F-3A80D46B024B}" type="datetime1">
              <a:rPr lang="en-US" smtClean="0"/>
              <a:t>1/21/2019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49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C2541-89D1-43A5-9247-9C9B7AE89E66}" type="datetime1">
              <a:rPr lang="en-US" smtClean="0"/>
              <a:t>1/21/2019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528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9A8DF6-2286-4D85-88A8-00AC199A2C34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04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AE0AFB-8BB9-4422-BB79-0EF175454CED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778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117F07-1C55-41A1-B81A-75CAA13E3CFD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FFFE4-4E4B-40A7-A942-4F1B7E93AB5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271849" cy="6858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323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422" y="-12033"/>
            <a:ext cx="11916578" cy="478348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75421" y="4120308"/>
            <a:ext cx="11914632" cy="27376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7316" y="1027966"/>
            <a:ext cx="11421410" cy="1771839"/>
          </a:xfrm>
          <a:solidFill>
            <a:srgbClr val="FFFFFF">
              <a:alpha val="50196"/>
            </a:srgbClr>
          </a:solidFill>
          <a:ln>
            <a:solidFill>
              <a:schemeClr val="tx1"/>
            </a:solidFill>
          </a:ln>
        </p:spPr>
        <p:txBody>
          <a:bodyPr anchor="ctr">
            <a:normAutofit/>
          </a:bodyPr>
          <a:lstStyle/>
          <a:p>
            <a:r>
              <a:rPr lang="en-US" sz="5400" dirty="0"/>
              <a:t>Interpreting Parameter Estimates.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7316" y="4313760"/>
            <a:ext cx="9144000" cy="2302208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Keith Lohse, PhD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Assistant Professor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Health, Kinesiology, and Recreation</a:t>
            </a:r>
          </a:p>
          <a:p>
            <a:pPr algn="l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Department of Physical Therapy and Athletic Training</a:t>
            </a:r>
          </a:p>
          <a:p>
            <a:pPr algn="l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University of Utah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1</a:t>
            </a:fld>
            <a:endParaRPr lang="en-US"/>
          </a:p>
        </p:txBody>
      </p:sp>
      <p:sp>
        <p:nvSpPr>
          <p:cNvPr id="7" name="AutoShape 2" descr="Image result for utah college of health log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7336B5-4F30-4282-9AE3-C49F61A3C5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484" y="5747288"/>
            <a:ext cx="2626242" cy="868680"/>
          </a:xfrm>
          <a:prstGeom prst="rect">
            <a:avLst/>
          </a:prstGeom>
        </p:spPr>
      </p:pic>
      <p:pic>
        <p:nvPicPr>
          <p:cNvPr id="12" name="Picture 2" descr="Image result for email logo p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314251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9091581" y="4358185"/>
            <a:ext cx="296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keith.lohse@health.utah.edu</a:t>
            </a:r>
          </a:p>
        </p:txBody>
      </p:sp>
      <p:pic>
        <p:nvPicPr>
          <p:cNvPr id="14" name="Picture 4" descr="Image result for twitter logo png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4381" y="4815385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9091581" y="4859319"/>
            <a:ext cx="1525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@</a:t>
            </a:r>
            <a:r>
              <a:rPr lang="en-US" dirty="0" err="1"/>
              <a:t>keith_lohse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5738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D5DBCE-2C82-407A-B108-D6EF620D4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076" y="1213137"/>
            <a:ext cx="3809524" cy="38095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15257B-1042-419E-B359-C7978F1957DE}"/>
              </a:ext>
            </a:extLst>
          </p:cNvPr>
          <p:cNvSpPr txBox="1"/>
          <p:nvPr/>
        </p:nvSpPr>
        <p:spPr>
          <a:xfrm>
            <a:off x="838200" y="1690688"/>
            <a:ext cx="331693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head(DAT1)</a:t>
            </a:r>
          </a:p>
          <a:p>
            <a:r>
              <a:rPr lang="en-US" dirty="0">
                <a:latin typeface="Consolas" panose="020B0609020204030204" pitchFamily="49" charset="0"/>
              </a:rPr>
              <a:t>  State Internet College</a:t>
            </a:r>
          </a:p>
          <a:p>
            <a:r>
              <a:rPr lang="en-US" dirty="0">
                <a:latin typeface="Consolas" panose="020B0609020204030204" pitchFamily="49" charset="0"/>
              </a:rPr>
              <a:t>1    AK     63.5    23.5</a:t>
            </a:r>
          </a:p>
          <a:p>
            <a:r>
              <a:rPr lang="en-US" dirty="0">
                <a:latin typeface="Consolas" panose="020B0609020204030204" pitchFamily="49" charset="0"/>
              </a:rPr>
              <a:t>2    AL     79.0    28.0</a:t>
            </a:r>
          </a:p>
          <a:p>
            <a:r>
              <a:rPr lang="en-US" dirty="0">
                <a:latin typeface="Consolas" panose="020B0609020204030204" pitchFamily="49" charset="0"/>
              </a:rPr>
              <a:t>3    AR     60.9    20.6</a:t>
            </a:r>
          </a:p>
          <a:p>
            <a:r>
              <a:rPr lang="en-US" dirty="0">
                <a:latin typeface="Consolas" panose="020B0609020204030204" pitchFamily="49" charset="0"/>
              </a:rPr>
              <a:t>4    AZ     73.9    27.4</a:t>
            </a:r>
          </a:p>
          <a:p>
            <a:r>
              <a:rPr lang="en-US" dirty="0">
                <a:latin typeface="Consolas" panose="020B0609020204030204" pitchFamily="49" charset="0"/>
              </a:rPr>
              <a:t>5    CA     77.9    31.0</a:t>
            </a:r>
          </a:p>
          <a:p>
            <a:pPr marL="342900" indent="-342900">
              <a:buAutoNum type="arabicPlain" startAt="6"/>
            </a:pPr>
            <a:r>
              <a:rPr lang="en-US" dirty="0">
                <a:latin typeface="Consolas" panose="020B0609020204030204" pitchFamily="49" charset="0"/>
              </a:rPr>
              <a:t>  CO     79.4    37.8</a:t>
            </a:r>
          </a:p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8CC8C5-9100-42EA-94D6-F2D3DC79C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Linear Parameters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4C525-DD27-4DA9-A771-C9BA3CC4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A1152-CBBB-4094-A908-2D0194E6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1D6F4D-AB93-4691-AB9A-C2DB9EA68F40}"/>
              </a:ext>
            </a:extLst>
          </p:cNvPr>
          <p:cNvSpPr txBox="1"/>
          <p:nvPr/>
        </p:nvSpPr>
        <p:spPr>
          <a:xfrm>
            <a:off x="838201" y="4361006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Slope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24BFDA-D857-426E-A327-73CB930D6ED1}"/>
              </a:ext>
            </a:extLst>
          </p:cNvPr>
          <p:cNvSpPr txBox="1"/>
          <p:nvPr/>
        </p:nvSpPr>
        <p:spPr>
          <a:xfrm>
            <a:off x="838200" y="5584233"/>
            <a:ext cx="1116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Intercept: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F4ACD-2560-43D7-A6FD-E1328E845611}"/>
                  </a:ext>
                </a:extLst>
              </p:cNvPr>
              <p:cNvSpPr txBox="1"/>
              <p:nvPr/>
            </p:nvSpPr>
            <p:spPr>
              <a:xfrm>
                <a:off x="1059221" y="4730338"/>
                <a:ext cx="3065455" cy="5846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=0.86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F4ACD-2560-43D7-A6FD-E1328E845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1" y="4730338"/>
                <a:ext cx="3065455" cy="584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636D78-A6A3-4803-AD8D-097BD473769F}"/>
                  </a:ext>
                </a:extLst>
              </p:cNvPr>
              <p:cNvSpPr txBox="1"/>
              <p:nvPr/>
            </p:nvSpPr>
            <p:spPr>
              <a:xfrm>
                <a:off x="1059221" y="5953565"/>
                <a:ext cx="22014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=47.91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636D78-A6A3-4803-AD8D-097BD4737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1" y="5953565"/>
                <a:ext cx="2201435" cy="276999"/>
              </a:xfrm>
              <a:prstGeom prst="rect">
                <a:avLst/>
              </a:prstGeom>
              <a:blipFill>
                <a:blip r:embed="rId4"/>
                <a:stretch>
                  <a:fillRect l="-2216" r="-2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0674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6D5DBCE-2C82-407A-B108-D6EF620D4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1076" y="1213137"/>
            <a:ext cx="3809524" cy="38095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15257B-1042-419E-B359-C7978F1957DE}"/>
              </a:ext>
            </a:extLst>
          </p:cNvPr>
          <p:cNvSpPr txBox="1"/>
          <p:nvPr/>
        </p:nvSpPr>
        <p:spPr>
          <a:xfrm>
            <a:off x="838200" y="1690688"/>
            <a:ext cx="3316934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&gt; head(DAT1)</a:t>
            </a:r>
          </a:p>
          <a:p>
            <a:r>
              <a:rPr lang="en-US" dirty="0">
                <a:latin typeface="Consolas" panose="020B0609020204030204" pitchFamily="49" charset="0"/>
              </a:rPr>
              <a:t>  State Internet College</a:t>
            </a:r>
          </a:p>
          <a:p>
            <a:r>
              <a:rPr lang="en-US" dirty="0">
                <a:latin typeface="Consolas" panose="020B0609020204030204" pitchFamily="49" charset="0"/>
              </a:rPr>
              <a:t>1    AK     63.5    23.5</a:t>
            </a:r>
          </a:p>
          <a:p>
            <a:r>
              <a:rPr lang="en-US" dirty="0">
                <a:latin typeface="Consolas" panose="020B0609020204030204" pitchFamily="49" charset="0"/>
              </a:rPr>
              <a:t>2    AL     79.0    28.0</a:t>
            </a:r>
          </a:p>
          <a:p>
            <a:r>
              <a:rPr lang="en-US" dirty="0">
                <a:latin typeface="Consolas" panose="020B0609020204030204" pitchFamily="49" charset="0"/>
              </a:rPr>
              <a:t>3    AR     60.9    20.6</a:t>
            </a:r>
          </a:p>
          <a:p>
            <a:r>
              <a:rPr lang="en-US" dirty="0">
                <a:latin typeface="Consolas" panose="020B0609020204030204" pitchFamily="49" charset="0"/>
              </a:rPr>
              <a:t>4    AZ     73.9    27.4</a:t>
            </a:r>
          </a:p>
          <a:p>
            <a:r>
              <a:rPr lang="en-US" dirty="0">
                <a:latin typeface="Consolas" panose="020B0609020204030204" pitchFamily="49" charset="0"/>
              </a:rPr>
              <a:t>5    CA     77.9    31.0</a:t>
            </a:r>
          </a:p>
          <a:p>
            <a:pPr marL="342900" indent="-342900">
              <a:buAutoNum type="arabicPlain" startAt="6"/>
            </a:pPr>
            <a:r>
              <a:rPr lang="en-US" dirty="0">
                <a:latin typeface="Consolas" panose="020B0609020204030204" pitchFamily="49" charset="0"/>
              </a:rPr>
              <a:t>  CO     79.4    37.8</a:t>
            </a:r>
          </a:p>
          <a:p>
            <a:r>
              <a:rPr lang="en-US" dirty="0">
                <a:latin typeface="Consolas" panose="020B0609020204030204" pitchFamily="49" charset="0"/>
              </a:rPr>
              <a:t>…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8CC8C5-9100-42EA-94D6-F2D3DC79C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Linear Parameters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B4C525-DD27-4DA9-A771-C9BA3CC40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A1152-CBBB-4094-A908-2D0194E67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1D6F4D-AB93-4691-AB9A-C2DB9EA68F40}"/>
              </a:ext>
            </a:extLst>
          </p:cNvPr>
          <p:cNvSpPr txBox="1"/>
          <p:nvPr/>
        </p:nvSpPr>
        <p:spPr>
          <a:xfrm>
            <a:off x="838201" y="4361006"/>
            <a:ext cx="712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Slope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24BFDA-D857-426E-A327-73CB930D6ED1}"/>
              </a:ext>
            </a:extLst>
          </p:cNvPr>
          <p:cNvSpPr txBox="1"/>
          <p:nvPr/>
        </p:nvSpPr>
        <p:spPr>
          <a:xfrm>
            <a:off x="838200" y="5584233"/>
            <a:ext cx="1116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Intercept: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F4ACD-2560-43D7-A6FD-E1328E845611}"/>
                  </a:ext>
                </a:extLst>
              </p:cNvPr>
              <p:cNvSpPr txBox="1"/>
              <p:nvPr/>
            </p:nvSpPr>
            <p:spPr>
              <a:xfrm>
                <a:off x="1059221" y="4730338"/>
                <a:ext cx="3065455" cy="58464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ac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=0.86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64F4ACD-2560-43D7-A6FD-E1328E845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1" y="4730338"/>
                <a:ext cx="3065455" cy="5846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636D78-A6A3-4803-AD8D-097BD473769F}"/>
                  </a:ext>
                </a:extLst>
              </p:cNvPr>
              <p:cNvSpPr txBox="1"/>
              <p:nvPr/>
            </p:nvSpPr>
            <p:spPr>
              <a:xfrm>
                <a:off x="1059221" y="5953565"/>
                <a:ext cx="22014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=47.91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636D78-A6A3-4803-AD8D-097BD47376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9221" y="5953565"/>
                <a:ext cx="2201435" cy="276999"/>
              </a:xfrm>
              <a:prstGeom prst="rect">
                <a:avLst/>
              </a:prstGeom>
              <a:blipFill>
                <a:blip r:embed="rId4"/>
                <a:stretch>
                  <a:fillRect l="-2216" r="-2216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B93B076C-9E44-4A44-A5C8-85B11A044D29}"/>
              </a:ext>
            </a:extLst>
          </p:cNvPr>
          <p:cNvSpPr txBox="1"/>
          <p:nvPr/>
        </p:nvSpPr>
        <p:spPr>
          <a:xfrm>
            <a:off x="8466858" y="1900355"/>
            <a:ext cx="3030683" cy="39703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intercept is estimated the value of y when all x’s are zero.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slope is the estimated change in y for a 1-unit change in x.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general rules will always be true. For more specific interpretations, it depends on exactly what x and y are (scale, type of variable, </a:t>
            </a:r>
            <a:r>
              <a:rPr lang="en-US" dirty="0" err="1"/>
              <a:t>etc</a:t>
            </a:r>
            <a:r>
              <a:rPr lang="en-US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966840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5054F-4E00-4392-A074-3108EC2BA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Untransformed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FEAEB-347D-4C3C-8C53-191DC27E5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747FE-1D3C-44DF-ADE9-75C5AEF0A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50B2D8-D2EE-49F4-AD26-C32A33CF9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276" y="1038297"/>
            <a:ext cx="3809524" cy="38095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A98C2B4-68ED-42B7-AE02-C7CBEE7B362E}"/>
              </a:ext>
            </a:extLst>
          </p:cNvPr>
          <p:cNvSpPr txBox="1"/>
          <p:nvPr/>
        </p:nvSpPr>
        <p:spPr>
          <a:xfrm>
            <a:off x="838200" y="1666876"/>
            <a:ext cx="588334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lm</a:t>
            </a:r>
            <a:r>
              <a:rPr lang="en-US" dirty="0">
                <a:latin typeface="Consolas" panose="020B0609020204030204" pitchFamily="49" charset="0"/>
              </a:rPr>
              <a:t>(formula = Internet ~ College, data = DAT1)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dirty="0">
                <a:latin typeface="Consolas" panose="020B0609020204030204" pitchFamily="49" charset="0"/>
              </a:rPr>
              <a:t>(Intercept)      College  </a:t>
            </a:r>
          </a:p>
          <a:p>
            <a:r>
              <a:rPr lang="en-US" dirty="0">
                <a:latin typeface="Consolas" panose="020B0609020204030204" pitchFamily="49" charset="0"/>
              </a:rPr>
              <a:t>    47.9123       0.8619 </a:t>
            </a:r>
          </a:p>
        </p:txBody>
      </p:sp>
    </p:spTree>
    <p:extLst>
      <p:ext uri="{BB962C8B-B14F-4D97-AF65-F5344CB8AC3E}">
        <p14:creationId xmlns:p14="http://schemas.microsoft.com/office/powerpoint/2010/main" val="1399258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5054F-4E00-4392-A074-3108EC2BA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Value-Centered Variable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FEAEB-347D-4C3C-8C53-191DC27E5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747FE-1D3C-44DF-ADE9-75C5AEF0A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98C2B4-68ED-42B7-AE02-C7CBEE7B362E}"/>
              </a:ext>
            </a:extLst>
          </p:cNvPr>
          <p:cNvSpPr txBox="1"/>
          <p:nvPr/>
        </p:nvSpPr>
        <p:spPr>
          <a:xfrm>
            <a:off x="838200" y="1666876"/>
            <a:ext cx="613661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DAT1$College50&lt;-DAT1$College-50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lm</a:t>
            </a:r>
            <a:r>
              <a:rPr lang="en-US" dirty="0">
                <a:latin typeface="Consolas" panose="020B0609020204030204" pitchFamily="49" charset="0"/>
              </a:rPr>
              <a:t>(formula = Internet ~ College50, data = DAT1)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dirty="0">
                <a:latin typeface="Consolas" panose="020B0609020204030204" pitchFamily="49" charset="0"/>
              </a:rPr>
              <a:t>(Intercept)    College50  </a:t>
            </a:r>
          </a:p>
          <a:p>
            <a:r>
              <a:rPr lang="en-US" b="1" dirty="0">
                <a:latin typeface="Consolas" panose="020B0609020204030204" pitchFamily="49" charset="0"/>
              </a:rPr>
              <a:t>    91.0049       </a:t>
            </a:r>
            <a:r>
              <a:rPr lang="en-US" dirty="0">
                <a:latin typeface="Consolas" panose="020B0609020204030204" pitchFamily="49" charset="0"/>
              </a:rPr>
              <a:t>0.8619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AD6AA0-B31D-47AA-BB31-1EFDE4636112}"/>
                  </a:ext>
                </a:extLst>
              </p:cNvPr>
              <p:cNvSpPr txBox="1"/>
              <p:nvPr/>
            </p:nvSpPr>
            <p:spPr>
              <a:xfrm>
                <a:off x="5211041" y="1666876"/>
                <a:ext cx="14736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−50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AD6AA0-B31D-47AA-BB31-1EFDE4636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041" y="1666876"/>
                <a:ext cx="1473673" cy="276999"/>
              </a:xfrm>
              <a:prstGeom prst="rect">
                <a:avLst/>
              </a:prstGeom>
              <a:blipFill>
                <a:blip r:embed="rId2"/>
                <a:stretch>
                  <a:fillRect l="-2066" r="-3719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5E8666A9-BA5C-4D88-8FC5-FBE3CBFCD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8133" y="1027906"/>
            <a:ext cx="3809524" cy="3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990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5054F-4E00-4392-A074-3108EC2BA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Mean-Centered Variable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FEAEB-347D-4C3C-8C53-191DC27E5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747FE-1D3C-44DF-ADE9-75C5AEF0A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98C2B4-68ED-42B7-AE02-C7CBEE7B362E}"/>
              </a:ext>
            </a:extLst>
          </p:cNvPr>
          <p:cNvSpPr txBox="1"/>
          <p:nvPr/>
        </p:nvSpPr>
        <p:spPr>
          <a:xfrm>
            <a:off x="838200" y="1666876"/>
            <a:ext cx="613661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nsolas" panose="020B0609020204030204" pitchFamily="49" charset="0"/>
              </a:rPr>
              <a:t>DAT1$College.c&lt;-DAT1$College-mean(DAT1$College)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lm</a:t>
            </a:r>
            <a:r>
              <a:rPr lang="en-US" dirty="0">
                <a:latin typeface="Consolas" panose="020B0609020204030204" pitchFamily="49" charset="0"/>
              </a:rPr>
              <a:t>(formula = Internet ~ </a:t>
            </a:r>
            <a:r>
              <a:rPr lang="en-US" dirty="0" err="1">
                <a:latin typeface="Consolas" panose="020B0609020204030204" pitchFamily="49" charset="0"/>
              </a:rPr>
              <a:t>College.c</a:t>
            </a:r>
            <a:r>
              <a:rPr lang="en-US" dirty="0">
                <a:latin typeface="Consolas" panose="020B0609020204030204" pitchFamily="49" charset="0"/>
              </a:rPr>
              <a:t>, data = DAT1)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dirty="0">
                <a:latin typeface="Consolas" panose="020B0609020204030204" pitchFamily="49" charset="0"/>
              </a:rPr>
              <a:t>(Intercept)    </a:t>
            </a:r>
            <a:r>
              <a:rPr lang="en-US" dirty="0" err="1">
                <a:latin typeface="Consolas" panose="020B0609020204030204" pitchFamily="49" charset="0"/>
              </a:rPr>
              <a:t>College.c</a:t>
            </a:r>
            <a:r>
              <a:rPr lang="en-US" dirty="0">
                <a:latin typeface="Consolas" panose="020B0609020204030204" pitchFamily="49" charset="0"/>
              </a:rPr>
              <a:t>  </a:t>
            </a:r>
          </a:p>
          <a:p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b="1" dirty="0">
                <a:latin typeface="Consolas" panose="020B0609020204030204" pitchFamily="49" charset="0"/>
              </a:rPr>
              <a:t>72.8060</a:t>
            </a:r>
            <a:r>
              <a:rPr lang="en-US" dirty="0">
                <a:latin typeface="Consolas" panose="020B0609020204030204" pitchFamily="49" charset="0"/>
              </a:rPr>
              <a:t>       0.8619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AD6AA0-B31D-47AA-BB31-1EFDE4636112}"/>
                  </a:ext>
                </a:extLst>
              </p:cNvPr>
              <p:cNvSpPr txBox="1"/>
              <p:nvPr/>
            </p:nvSpPr>
            <p:spPr>
              <a:xfrm>
                <a:off x="981940" y="2113685"/>
                <a:ext cx="12370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AD6AA0-B31D-47AA-BB31-1EFDE4636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940" y="2113685"/>
                <a:ext cx="1237005" cy="276999"/>
              </a:xfrm>
              <a:prstGeom prst="rect">
                <a:avLst/>
              </a:prstGeom>
              <a:blipFill>
                <a:blip r:embed="rId2"/>
                <a:stretch>
                  <a:fillRect l="-2463" r="-26108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9F532611-5045-4D91-854D-837B380F1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276" y="1066682"/>
            <a:ext cx="3809524" cy="3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502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5054F-4E00-4392-A074-3108EC2BA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the Scale of 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FEAEB-347D-4C3C-8C53-191DC27E5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747FE-1D3C-44DF-ADE9-75C5AEF0A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7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98C2B4-68ED-42B7-AE02-C7CBEE7B362E}"/>
              </a:ext>
            </a:extLst>
          </p:cNvPr>
          <p:cNvSpPr txBox="1"/>
          <p:nvPr/>
        </p:nvSpPr>
        <p:spPr>
          <a:xfrm>
            <a:off x="838200" y="1666876"/>
            <a:ext cx="613661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nsolas" panose="020B0609020204030204" pitchFamily="49" charset="0"/>
              </a:rPr>
              <a:t>DAT1$College.p&lt;-DAT1$College/100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lm</a:t>
            </a:r>
            <a:r>
              <a:rPr lang="en-US" dirty="0">
                <a:latin typeface="Consolas" panose="020B0609020204030204" pitchFamily="49" charset="0"/>
              </a:rPr>
              <a:t>(formula = Internet ~ </a:t>
            </a:r>
            <a:r>
              <a:rPr lang="en-US" dirty="0" err="1">
                <a:latin typeface="Consolas" panose="020B0609020204030204" pitchFamily="49" charset="0"/>
              </a:rPr>
              <a:t>College.p</a:t>
            </a:r>
            <a:r>
              <a:rPr lang="en-US" dirty="0">
                <a:latin typeface="Consolas" panose="020B0609020204030204" pitchFamily="49" charset="0"/>
              </a:rPr>
              <a:t>, data = DAT1)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dirty="0">
                <a:latin typeface="Consolas" panose="020B0609020204030204" pitchFamily="49" charset="0"/>
              </a:rPr>
              <a:t>(Intercept)    </a:t>
            </a:r>
            <a:r>
              <a:rPr lang="en-US" dirty="0" err="1">
                <a:latin typeface="Consolas" panose="020B0609020204030204" pitchFamily="49" charset="0"/>
              </a:rPr>
              <a:t>College.p</a:t>
            </a:r>
            <a:r>
              <a:rPr lang="en-US" dirty="0">
                <a:latin typeface="Consolas" panose="020B0609020204030204" pitchFamily="49" charset="0"/>
              </a:rPr>
              <a:t>  </a:t>
            </a:r>
          </a:p>
          <a:p>
            <a:r>
              <a:rPr lang="en-US" dirty="0">
                <a:latin typeface="Consolas" panose="020B0609020204030204" pitchFamily="49" charset="0"/>
              </a:rPr>
              <a:t>      47.91        </a:t>
            </a:r>
            <a:r>
              <a:rPr lang="en-US" b="1" dirty="0">
                <a:latin typeface="Consolas" panose="020B0609020204030204" pitchFamily="49" charset="0"/>
              </a:rPr>
              <a:t>86.19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AD6AA0-B31D-47AA-BB31-1EFDE4636112}"/>
                  </a:ext>
                </a:extLst>
              </p:cNvPr>
              <p:cNvSpPr txBox="1"/>
              <p:nvPr/>
            </p:nvSpPr>
            <p:spPr>
              <a:xfrm>
                <a:off x="981940" y="2113685"/>
                <a:ext cx="1350241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AD6AA0-B31D-47AA-BB31-1EFDE4636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940" y="2113685"/>
                <a:ext cx="1350241" cy="298415"/>
              </a:xfrm>
              <a:prstGeom prst="rect">
                <a:avLst/>
              </a:prstGeom>
              <a:blipFill>
                <a:blip r:embed="rId2"/>
                <a:stretch>
                  <a:fillRect l="-2252" t="-2041" r="-4054"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BAFA862-4AEC-4BCF-A8E2-020949510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276" y="-237886"/>
            <a:ext cx="3809524" cy="38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132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F3029D3-022C-42C4-A655-A245A12E3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276" y="3048476"/>
            <a:ext cx="3809524" cy="38095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95054F-4E00-4392-A074-3108EC2BA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Changing the Scale of 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FEAEB-347D-4C3C-8C53-191DC27E5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7C99B-7F2C-4E84-8128-EB3E64FAD082}" type="datetime1">
              <a:rPr lang="en-US" smtClean="0"/>
              <a:t>1/21/2019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747FE-1D3C-44DF-ADE9-75C5AEF0A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FFE4-4E4B-40A7-A942-4F1B7E93AB5C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98C2B4-68ED-42B7-AE02-C7CBEE7B362E}"/>
              </a:ext>
            </a:extLst>
          </p:cNvPr>
          <p:cNvSpPr txBox="1"/>
          <p:nvPr/>
        </p:nvSpPr>
        <p:spPr>
          <a:xfrm>
            <a:off x="838200" y="1666876"/>
            <a:ext cx="613661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latin typeface="Consolas" panose="020B0609020204030204" pitchFamily="49" charset="0"/>
              </a:rPr>
              <a:t>DAT1$College.p&lt;-DAT1$College/100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Consolas" panose="020B0609020204030204" pitchFamily="49" charset="0"/>
              </a:rPr>
              <a:t>lm</a:t>
            </a:r>
            <a:r>
              <a:rPr lang="en-US" dirty="0">
                <a:latin typeface="Consolas" panose="020B0609020204030204" pitchFamily="49" charset="0"/>
              </a:rPr>
              <a:t>(formula = Internet ~ </a:t>
            </a:r>
            <a:r>
              <a:rPr lang="en-US" dirty="0" err="1">
                <a:latin typeface="Consolas" panose="020B0609020204030204" pitchFamily="49" charset="0"/>
              </a:rPr>
              <a:t>College.p</a:t>
            </a:r>
            <a:r>
              <a:rPr lang="en-US" dirty="0">
                <a:latin typeface="Consolas" panose="020B0609020204030204" pitchFamily="49" charset="0"/>
              </a:rPr>
              <a:t>, data = DAT1)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dirty="0">
                <a:latin typeface="Consolas" panose="020B0609020204030204" pitchFamily="49" charset="0"/>
              </a:rPr>
              <a:t>(Intercept)    </a:t>
            </a:r>
            <a:r>
              <a:rPr lang="en-US" dirty="0" err="1">
                <a:latin typeface="Consolas" panose="020B0609020204030204" pitchFamily="49" charset="0"/>
              </a:rPr>
              <a:t>College.p</a:t>
            </a:r>
            <a:r>
              <a:rPr lang="en-US" dirty="0">
                <a:latin typeface="Consolas" panose="020B0609020204030204" pitchFamily="49" charset="0"/>
              </a:rPr>
              <a:t>  </a:t>
            </a:r>
          </a:p>
          <a:p>
            <a:r>
              <a:rPr lang="en-US" dirty="0">
                <a:latin typeface="Consolas" panose="020B0609020204030204" pitchFamily="49" charset="0"/>
              </a:rPr>
              <a:t>      47.91        </a:t>
            </a:r>
            <a:r>
              <a:rPr lang="en-US" b="1" dirty="0">
                <a:latin typeface="Consolas" panose="020B0609020204030204" pitchFamily="49" charset="0"/>
              </a:rPr>
              <a:t>86.19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AD6AA0-B31D-47AA-BB31-1EFDE4636112}"/>
                  </a:ext>
                </a:extLst>
              </p:cNvPr>
              <p:cNvSpPr txBox="1"/>
              <p:nvPr/>
            </p:nvSpPr>
            <p:spPr>
              <a:xfrm>
                <a:off x="981940" y="2113685"/>
                <a:ext cx="1350241" cy="29841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/100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CAD6AA0-B31D-47AA-BB31-1EFDE4636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940" y="2113685"/>
                <a:ext cx="1350241" cy="298415"/>
              </a:xfrm>
              <a:prstGeom prst="rect">
                <a:avLst/>
              </a:prstGeom>
              <a:blipFill>
                <a:blip r:embed="rId3"/>
                <a:stretch>
                  <a:fillRect l="-2252" t="-2041" r="-4054" b="-26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3BAFA862-4AEC-4BCF-A8E2-020949510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4276" y="-237886"/>
            <a:ext cx="3809524" cy="380952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FF6F70E-64A4-4220-8042-977E3BC2456E}"/>
              </a:ext>
            </a:extLst>
          </p:cNvPr>
          <p:cNvSpPr txBox="1"/>
          <p:nvPr/>
        </p:nvSpPr>
        <p:spPr>
          <a:xfrm>
            <a:off x="838200" y="4675196"/>
            <a:ext cx="5883342" cy="14773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</a:rPr>
              <a:t>lm</a:t>
            </a:r>
            <a:r>
              <a:rPr lang="en-US" dirty="0">
                <a:latin typeface="Consolas" panose="020B0609020204030204" pitchFamily="49" charset="0"/>
              </a:rPr>
              <a:t>(formula = Internet ~ College, data = DAT1)</a:t>
            </a: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>
                <a:latin typeface="Consolas" panose="020B0609020204030204" pitchFamily="49" charset="0"/>
              </a:rPr>
              <a:t>Coefficients:</a:t>
            </a:r>
          </a:p>
          <a:p>
            <a:r>
              <a:rPr lang="en-US" dirty="0">
                <a:latin typeface="Consolas" panose="020B0609020204030204" pitchFamily="49" charset="0"/>
              </a:rPr>
              <a:t>(Intercept)      College  </a:t>
            </a:r>
          </a:p>
          <a:p>
            <a:r>
              <a:rPr lang="en-US" dirty="0">
                <a:latin typeface="Consolas" panose="020B0609020204030204" pitchFamily="49" charset="0"/>
              </a:rPr>
              <a:t>    47.9123       0.8619 </a:t>
            </a:r>
          </a:p>
        </p:txBody>
      </p:sp>
    </p:spTree>
    <p:extLst>
      <p:ext uri="{BB962C8B-B14F-4D97-AF65-F5344CB8AC3E}">
        <p14:creationId xmlns:p14="http://schemas.microsoft.com/office/powerpoint/2010/main" val="3646596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5551</TotalTime>
  <Words>440</Words>
  <Application>Microsoft Office PowerPoint</Application>
  <PresentationFormat>Widescreen</PresentationFormat>
  <Paragraphs>110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Consolas</vt:lpstr>
      <vt:lpstr>Office Theme</vt:lpstr>
      <vt:lpstr>Interpreting Parameter Estimates.</vt:lpstr>
      <vt:lpstr>Interpreting Linear Parameters</vt:lpstr>
      <vt:lpstr>Interpreting Linear Parameters</vt:lpstr>
      <vt:lpstr>Untransformed Variables</vt:lpstr>
      <vt:lpstr>Value-Centered Variable</vt:lpstr>
      <vt:lpstr>Mean-Centered Variable</vt:lpstr>
      <vt:lpstr>Changing the Scale of X</vt:lpstr>
      <vt:lpstr>Changing the Scale of 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Measurement in medic</dc:title>
  <dc:creator>Keith Lohse</dc:creator>
  <cp:lastModifiedBy>Keith Lohse</cp:lastModifiedBy>
  <cp:revision>434</cp:revision>
  <dcterms:created xsi:type="dcterms:W3CDTF">2017-01-28T12:59:49Z</dcterms:created>
  <dcterms:modified xsi:type="dcterms:W3CDTF">2019-01-21T20:02:03Z</dcterms:modified>
</cp:coreProperties>
</file>
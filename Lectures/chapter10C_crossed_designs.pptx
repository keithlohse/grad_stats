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82" r:id="rId2"/>
    <p:sldId id="383" r:id="rId3"/>
    <p:sldId id="384" r:id="rId4"/>
    <p:sldId id="385" r:id="rId5"/>
    <p:sldId id="386" r:id="rId6"/>
    <p:sldId id="387" r:id="rId7"/>
    <p:sldId id="391" r:id="rId8"/>
    <p:sldId id="388" r:id="rId9"/>
    <p:sldId id="389" r:id="rId10"/>
    <p:sldId id="39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58" d="100"/>
          <a:sy n="58" d="100"/>
        </p:scale>
        <p:origin x="9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3/22/2020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9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94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163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61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39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17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81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66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3/22/2020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3/22/2020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3/22/2020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3/22/2020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3/22/2020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3/22/2020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3/22/2020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3/22/2020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3/22/2020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3/22/2020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3/22/2020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Non-Independence in Crossed Designs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crossed example.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70779" y="1544128"/>
          <a:ext cx="5553976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494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1481756196"/>
                    </a:ext>
                  </a:extLst>
                </a:gridCol>
              </a:tblGrid>
              <a:tr h="326565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Conditions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Participant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</a:t>
                      </a:r>
                      <a:r>
                        <a:rPr lang="en-US" sz="1600" b="1" baseline="0" dirty="0" smtClean="0">
                          <a:solidFill>
                            <a:schemeClr val="bg1"/>
                          </a:solidFill>
                        </a:rPr>
                        <a:t> Absent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 Present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1" dirty="0" smtClean="0">
                          <a:solidFill>
                            <a:schemeClr val="bg1"/>
                          </a:solidFill>
                        </a:rPr>
                        <a:t>Participant Average</a:t>
                      </a:r>
                      <a:endParaRPr lang="en-US" sz="1600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2864701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79932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710149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335654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354038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600250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6.375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7.125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74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crossed example.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6676844" y="1544128"/>
          <a:ext cx="523591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590">
                  <a:extLst>
                    <a:ext uri="{9D8B030D-6E8A-4147-A177-3AD203B41FA5}">
                      <a16:colId xmlns:a16="http://schemas.microsoft.com/office/drawing/2014/main" val="1969666356"/>
                    </a:ext>
                  </a:extLst>
                </a:gridCol>
                <a:gridCol w="1743721">
                  <a:extLst>
                    <a:ext uri="{9D8B030D-6E8A-4147-A177-3AD203B41FA5}">
                      <a16:colId xmlns:a16="http://schemas.microsoft.com/office/drawing/2014/main" val="1615646994"/>
                    </a:ext>
                  </a:extLst>
                </a:gridCol>
                <a:gridCol w="1273600">
                  <a:extLst>
                    <a:ext uri="{9D8B030D-6E8A-4147-A177-3AD203B41FA5}">
                      <a16:colId xmlns:a16="http://schemas.microsoft.com/office/drawing/2014/main" val="2086035278"/>
                    </a:ext>
                  </a:extLst>
                </a:gridCol>
              </a:tblGrid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Source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df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8585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Between Subjects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18.00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8931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Condition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2.25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2124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 Error</a:t>
                      </a:r>
                      <a:r>
                        <a:rPr lang="en-US" sz="1600" baseline="0" dirty="0" smtClean="0"/>
                        <a:t> Within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2.75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0167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r>
                        <a:rPr lang="en-US" sz="1600" baseline="0" dirty="0" smtClean="0"/>
                        <a:t> Within Subjects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7112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23.00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2824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0779" y="6148348"/>
            <a:ext cx="339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Now, h = </a:t>
            </a:r>
            <a:r>
              <a:rPr lang="en-US" i="1" dirty="0" smtClean="0"/>
              <a:t>condition</a:t>
            </a:r>
            <a:r>
              <a:rPr lang="en-US" dirty="0" smtClean="0"/>
              <a:t>, </a:t>
            </a:r>
            <a:r>
              <a:rPr lang="en-US" dirty="0" err="1" smtClean="0"/>
              <a:t>i</a:t>
            </a:r>
            <a:r>
              <a:rPr lang="en-US" dirty="0" smtClean="0"/>
              <a:t> = </a:t>
            </a:r>
            <a:r>
              <a:rPr lang="en-US" i="1" dirty="0" smtClean="0"/>
              <a:t>participant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570779" y="1544128"/>
          <a:ext cx="5553976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494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1481756196"/>
                    </a:ext>
                  </a:extLst>
                </a:gridCol>
              </a:tblGrid>
              <a:tr h="326565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Conditions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Participant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</a:t>
                      </a:r>
                      <a:r>
                        <a:rPr lang="en-US" sz="1600" b="1" baseline="0" dirty="0" smtClean="0">
                          <a:solidFill>
                            <a:schemeClr val="bg1"/>
                          </a:solidFill>
                        </a:rPr>
                        <a:t> Absent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 Present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1" dirty="0" smtClean="0">
                          <a:solidFill>
                            <a:schemeClr val="bg1"/>
                          </a:solidFill>
                        </a:rPr>
                        <a:t>Participant Average</a:t>
                      </a:r>
                      <a:endParaRPr lang="en-US" sz="1600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2864701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79932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710149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335654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354038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600250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6.375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7.125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210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crossed example.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6676844" y="1544128"/>
          <a:ext cx="523591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590">
                  <a:extLst>
                    <a:ext uri="{9D8B030D-6E8A-4147-A177-3AD203B41FA5}">
                      <a16:colId xmlns:a16="http://schemas.microsoft.com/office/drawing/2014/main" val="1969666356"/>
                    </a:ext>
                  </a:extLst>
                </a:gridCol>
                <a:gridCol w="1743721">
                  <a:extLst>
                    <a:ext uri="{9D8B030D-6E8A-4147-A177-3AD203B41FA5}">
                      <a16:colId xmlns:a16="http://schemas.microsoft.com/office/drawing/2014/main" val="1615646994"/>
                    </a:ext>
                  </a:extLst>
                </a:gridCol>
                <a:gridCol w="1273600">
                  <a:extLst>
                    <a:ext uri="{9D8B030D-6E8A-4147-A177-3AD203B41FA5}">
                      <a16:colId xmlns:a16="http://schemas.microsoft.com/office/drawing/2014/main" val="2086035278"/>
                    </a:ext>
                  </a:extLst>
                </a:gridCol>
              </a:tblGrid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Source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df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8585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Between Subjects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8931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Condition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2124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 Error</a:t>
                      </a:r>
                      <a:r>
                        <a:rPr lang="en-US" sz="1600" baseline="0" dirty="0" smtClean="0"/>
                        <a:t> Within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0167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r>
                        <a:rPr lang="en-US" sz="1600" baseline="0" dirty="0" smtClean="0"/>
                        <a:t> Within Subjects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7112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23.00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2824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0779" y="6148348"/>
            <a:ext cx="339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Now, h = </a:t>
            </a:r>
            <a:r>
              <a:rPr lang="en-US" i="1" dirty="0" smtClean="0"/>
              <a:t>condition</a:t>
            </a:r>
            <a:r>
              <a:rPr lang="en-US" dirty="0" smtClean="0"/>
              <a:t>, </a:t>
            </a:r>
            <a:r>
              <a:rPr lang="en-US" dirty="0" err="1" smtClean="0"/>
              <a:t>i</a:t>
            </a:r>
            <a:r>
              <a:rPr lang="en-US" dirty="0" smtClean="0"/>
              <a:t> = </a:t>
            </a:r>
            <a:r>
              <a:rPr lang="en-US" i="1" dirty="0" smtClean="0"/>
              <a:t>participant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570779" y="1544128"/>
          <a:ext cx="5553976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494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1481756196"/>
                    </a:ext>
                  </a:extLst>
                </a:gridCol>
              </a:tblGrid>
              <a:tr h="326565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Conditions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Participant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</a:t>
                      </a:r>
                      <a:r>
                        <a:rPr lang="en-US" sz="1600" b="1" baseline="0" dirty="0" smtClean="0">
                          <a:solidFill>
                            <a:schemeClr val="bg1"/>
                          </a:solidFill>
                        </a:rPr>
                        <a:t> Absent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 Present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1" dirty="0" smtClean="0">
                          <a:solidFill>
                            <a:schemeClr val="bg1"/>
                          </a:solidFill>
                        </a:rPr>
                        <a:t>Participant Average</a:t>
                      </a:r>
                      <a:endParaRPr lang="en-US" sz="1600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2864701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79932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710149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335654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354038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600250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6.375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7.125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127351" y="2452315"/>
            <a:ext cx="2440832" cy="269466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017261" y="5702307"/>
            <a:ext cx="661012" cy="352861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676844" y="4064050"/>
                <a:ext cx="1267462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̿"/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844" y="4064050"/>
                <a:ext cx="1267462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819717" y="40640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86725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crossed example.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6676844" y="1544128"/>
          <a:ext cx="523591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590">
                  <a:extLst>
                    <a:ext uri="{9D8B030D-6E8A-4147-A177-3AD203B41FA5}">
                      <a16:colId xmlns:a16="http://schemas.microsoft.com/office/drawing/2014/main" val="1969666356"/>
                    </a:ext>
                  </a:extLst>
                </a:gridCol>
                <a:gridCol w="1743721">
                  <a:extLst>
                    <a:ext uri="{9D8B030D-6E8A-4147-A177-3AD203B41FA5}">
                      <a16:colId xmlns:a16="http://schemas.microsoft.com/office/drawing/2014/main" val="1615646994"/>
                    </a:ext>
                  </a:extLst>
                </a:gridCol>
                <a:gridCol w="1273600">
                  <a:extLst>
                    <a:ext uri="{9D8B030D-6E8A-4147-A177-3AD203B41FA5}">
                      <a16:colId xmlns:a16="http://schemas.microsoft.com/office/drawing/2014/main" val="2086035278"/>
                    </a:ext>
                  </a:extLst>
                </a:gridCol>
              </a:tblGrid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Source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df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8585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Between Subjects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8931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Condition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2124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 Error</a:t>
                      </a:r>
                      <a:r>
                        <a:rPr lang="en-US" sz="1600" baseline="0" dirty="0" smtClean="0"/>
                        <a:t> Within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0167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r>
                        <a:rPr lang="en-US" sz="1600" baseline="0" dirty="0" smtClean="0"/>
                        <a:t> Within Subjects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7112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23.00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2824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0779" y="6148348"/>
            <a:ext cx="339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Now, h = </a:t>
            </a:r>
            <a:r>
              <a:rPr lang="en-US" i="1" dirty="0" smtClean="0"/>
              <a:t>condition</a:t>
            </a:r>
            <a:r>
              <a:rPr lang="en-US" dirty="0" smtClean="0"/>
              <a:t>, </a:t>
            </a:r>
            <a:r>
              <a:rPr lang="en-US" dirty="0" err="1" smtClean="0"/>
              <a:t>i</a:t>
            </a:r>
            <a:r>
              <a:rPr lang="en-US" dirty="0" smtClean="0"/>
              <a:t> = </a:t>
            </a:r>
            <a:r>
              <a:rPr lang="en-US" i="1" dirty="0" smtClean="0"/>
              <a:t>participant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570779" y="1544128"/>
          <a:ext cx="5553976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494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1481756196"/>
                    </a:ext>
                  </a:extLst>
                </a:gridCol>
              </a:tblGrid>
              <a:tr h="326565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Conditions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Participant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</a:t>
                      </a:r>
                      <a:r>
                        <a:rPr lang="en-US" sz="1600" b="1" baseline="0" dirty="0" smtClean="0">
                          <a:solidFill>
                            <a:schemeClr val="bg1"/>
                          </a:solidFill>
                        </a:rPr>
                        <a:t> Absent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 Present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1" dirty="0" smtClean="0">
                          <a:solidFill>
                            <a:schemeClr val="bg1"/>
                          </a:solidFill>
                        </a:rPr>
                        <a:t>Participant Average</a:t>
                      </a:r>
                      <a:endParaRPr lang="en-US" sz="1600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2864701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79932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710149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335654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354038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600250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6.375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7.125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2390659" y="2470460"/>
            <a:ext cx="1798281" cy="3345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109146" y="2470460"/>
            <a:ext cx="661012" cy="334524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676844" y="4064050"/>
                <a:ext cx="1282787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844" y="4064050"/>
                <a:ext cx="1282787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/>
          <p:cNvSpPr/>
          <p:nvPr/>
        </p:nvSpPr>
        <p:spPr>
          <a:xfrm>
            <a:off x="2390659" y="2802233"/>
            <a:ext cx="1798281" cy="3345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5109146" y="2802233"/>
            <a:ext cx="661012" cy="334524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2390659" y="3136757"/>
            <a:ext cx="1798281" cy="3345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5109146" y="3136757"/>
            <a:ext cx="661012" cy="334524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2390659" y="3468530"/>
            <a:ext cx="1798281" cy="3345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5109146" y="3468530"/>
            <a:ext cx="661012" cy="334524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2390659" y="3803054"/>
            <a:ext cx="1798281" cy="3345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5109146" y="3803054"/>
            <a:ext cx="661012" cy="334524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2390659" y="4134827"/>
            <a:ext cx="1798281" cy="3345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5109146" y="4134827"/>
            <a:ext cx="661012" cy="334524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2390659" y="4469351"/>
            <a:ext cx="1798281" cy="3345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109146" y="4469351"/>
            <a:ext cx="661012" cy="334524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2390659" y="4801124"/>
            <a:ext cx="1798281" cy="3345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5109146" y="4801124"/>
            <a:ext cx="661012" cy="334524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819717" y="40640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6666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crossed example.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6676844" y="1544128"/>
          <a:ext cx="523591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590">
                  <a:extLst>
                    <a:ext uri="{9D8B030D-6E8A-4147-A177-3AD203B41FA5}">
                      <a16:colId xmlns:a16="http://schemas.microsoft.com/office/drawing/2014/main" val="1969666356"/>
                    </a:ext>
                  </a:extLst>
                </a:gridCol>
                <a:gridCol w="1743721">
                  <a:extLst>
                    <a:ext uri="{9D8B030D-6E8A-4147-A177-3AD203B41FA5}">
                      <a16:colId xmlns:a16="http://schemas.microsoft.com/office/drawing/2014/main" val="1615646994"/>
                    </a:ext>
                  </a:extLst>
                </a:gridCol>
                <a:gridCol w="1273600">
                  <a:extLst>
                    <a:ext uri="{9D8B030D-6E8A-4147-A177-3AD203B41FA5}">
                      <a16:colId xmlns:a16="http://schemas.microsoft.com/office/drawing/2014/main" val="2086035278"/>
                    </a:ext>
                  </a:extLst>
                </a:gridCol>
              </a:tblGrid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Source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df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8585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Between Subjects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8931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Condition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2124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 Error</a:t>
                      </a:r>
                      <a:r>
                        <a:rPr lang="en-US" sz="1600" baseline="0" dirty="0" smtClean="0"/>
                        <a:t> Within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0167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r>
                        <a:rPr lang="en-US" sz="1600" baseline="0" dirty="0" smtClean="0"/>
                        <a:t> Within Subjects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7112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23.00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2824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0779" y="6148348"/>
            <a:ext cx="339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Now, h = </a:t>
            </a:r>
            <a:r>
              <a:rPr lang="en-US" i="1" dirty="0" smtClean="0"/>
              <a:t>condition</a:t>
            </a:r>
            <a:r>
              <a:rPr lang="en-US" dirty="0" smtClean="0"/>
              <a:t>, </a:t>
            </a:r>
            <a:r>
              <a:rPr lang="en-US" dirty="0" err="1" smtClean="0"/>
              <a:t>i</a:t>
            </a:r>
            <a:r>
              <a:rPr lang="en-US" dirty="0" smtClean="0"/>
              <a:t> = </a:t>
            </a:r>
            <a:r>
              <a:rPr lang="en-US" i="1" dirty="0" smtClean="0"/>
              <a:t>participant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570779" y="1544128"/>
          <a:ext cx="5553976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494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1481756196"/>
                    </a:ext>
                  </a:extLst>
                </a:gridCol>
              </a:tblGrid>
              <a:tr h="326565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Conditions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Participant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</a:t>
                      </a:r>
                      <a:r>
                        <a:rPr lang="en-US" sz="1600" b="1" baseline="0" dirty="0" smtClean="0">
                          <a:solidFill>
                            <a:schemeClr val="bg1"/>
                          </a:solidFill>
                        </a:rPr>
                        <a:t> Absent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 Present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1" dirty="0" smtClean="0">
                          <a:solidFill>
                            <a:schemeClr val="bg1"/>
                          </a:solidFill>
                        </a:rPr>
                        <a:t>Participant Average</a:t>
                      </a:r>
                      <a:endParaRPr lang="en-US" sz="1600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2864701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79932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710149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335654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354038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600250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6.375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7.125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676844" y="4064050"/>
                <a:ext cx="1370952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̿"/>
                                  <m:ctrlPr>
                                    <a:rPr lang="en-US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844" y="4064050"/>
                <a:ext cx="1370952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ounded Rectangle 29"/>
          <p:cNvSpPr/>
          <p:nvPr/>
        </p:nvSpPr>
        <p:spPr>
          <a:xfrm>
            <a:off x="5087113" y="2491714"/>
            <a:ext cx="661012" cy="266105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>
            <a:off x="3017261" y="5691697"/>
            <a:ext cx="661012" cy="352861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7708504" y="40640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92885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crossed example.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6676844" y="1544128"/>
          <a:ext cx="523591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590">
                  <a:extLst>
                    <a:ext uri="{9D8B030D-6E8A-4147-A177-3AD203B41FA5}">
                      <a16:colId xmlns:a16="http://schemas.microsoft.com/office/drawing/2014/main" val="1969666356"/>
                    </a:ext>
                  </a:extLst>
                </a:gridCol>
                <a:gridCol w="1743721">
                  <a:extLst>
                    <a:ext uri="{9D8B030D-6E8A-4147-A177-3AD203B41FA5}">
                      <a16:colId xmlns:a16="http://schemas.microsoft.com/office/drawing/2014/main" val="1615646994"/>
                    </a:ext>
                  </a:extLst>
                </a:gridCol>
                <a:gridCol w="1273600">
                  <a:extLst>
                    <a:ext uri="{9D8B030D-6E8A-4147-A177-3AD203B41FA5}">
                      <a16:colId xmlns:a16="http://schemas.microsoft.com/office/drawing/2014/main" val="2086035278"/>
                    </a:ext>
                  </a:extLst>
                </a:gridCol>
              </a:tblGrid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Source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df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8585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Between Subjects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8931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Condition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2124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 Error</a:t>
                      </a:r>
                      <a:r>
                        <a:rPr lang="en-US" sz="1600" baseline="0" dirty="0" smtClean="0"/>
                        <a:t> Within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0167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r>
                        <a:rPr lang="en-US" sz="1600" baseline="0" dirty="0" smtClean="0"/>
                        <a:t> Within Subjects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7112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23.00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2824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0779" y="6148348"/>
            <a:ext cx="339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Now, h = </a:t>
            </a:r>
            <a:r>
              <a:rPr lang="en-US" i="1" dirty="0" smtClean="0"/>
              <a:t>condition</a:t>
            </a:r>
            <a:r>
              <a:rPr lang="en-US" dirty="0" smtClean="0"/>
              <a:t>, </a:t>
            </a:r>
            <a:r>
              <a:rPr lang="en-US" dirty="0" err="1" smtClean="0"/>
              <a:t>i</a:t>
            </a:r>
            <a:r>
              <a:rPr lang="en-US" dirty="0" smtClean="0"/>
              <a:t> = </a:t>
            </a:r>
            <a:r>
              <a:rPr lang="en-US" i="1" dirty="0" smtClean="0"/>
              <a:t>participant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570779" y="1544128"/>
          <a:ext cx="5553976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494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1481756196"/>
                    </a:ext>
                  </a:extLst>
                </a:gridCol>
              </a:tblGrid>
              <a:tr h="326565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Conditions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Participant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</a:t>
                      </a:r>
                      <a:r>
                        <a:rPr lang="en-US" sz="1600" b="1" baseline="0" dirty="0" smtClean="0">
                          <a:solidFill>
                            <a:schemeClr val="bg1"/>
                          </a:solidFill>
                        </a:rPr>
                        <a:t> Absent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 Present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1" dirty="0" smtClean="0">
                          <a:solidFill>
                            <a:schemeClr val="bg1"/>
                          </a:solidFill>
                        </a:rPr>
                        <a:t>Participant Average</a:t>
                      </a:r>
                      <a:endParaRPr lang="en-US" sz="1600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2864701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79932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710149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335654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354038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600250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6.375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7.125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676844" y="4064050"/>
                <a:ext cx="1370952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̿"/>
                                  <m:ctrlPr>
                                    <a:rPr lang="en-US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844" y="4064050"/>
                <a:ext cx="1370952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ounded Rectangle 29"/>
          <p:cNvSpPr/>
          <p:nvPr/>
        </p:nvSpPr>
        <p:spPr>
          <a:xfrm>
            <a:off x="5087113" y="2491714"/>
            <a:ext cx="661012" cy="266105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>
            <a:off x="3017261" y="5691697"/>
            <a:ext cx="661012" cy="352861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7708504" y="40640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6515163" y="3911176"/>
            <a:ext cx="2196935" cy="866177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512058" y="4953149"/>
            <a:ext cx="412903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NOTE THAT I ACCIDENTALLY LEFT “n” OUT OF THE SLIDES IN THE VIDEO.</a:t>
            </a:r>
            <a:endParaRPr lang="en-US" dirty="0"/>
          </a:p>
        </p:txBody>
      </p:sp>
      <p:cxnSp>
        <p:nvCxnSpPr>
          <p:cNvPr id="7" name="Curved Connector 6"/>
          <p:cNvCxnSpPr>
            <a:stCxn id="11" idx="3"/>
            <a:endCxn id="10" idx="3"/>
          </p:cNvCxnSpPr>
          <p:nvPr/>
        </p:nvCxnSpPr>
        <p:spPr>
          <a:xfrm flipH="1" flipV="1">
            <a:off x="8712098" y="4344265"/>
            <a:ext cx="1928991" cy="932050"/>
          </a:xfrm>
          <a:prstGeom prst="curvedConnector3">
            <a:avLst>
              <a:gd name="adj1" fmla="val -118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36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crossed example.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6676844" y="1544128"/>
          <a:ext cx="523591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590">
                  <a:extLst>
                    <a:ext uri="{9D8B030D-6E8A-4147-A177-3AD203B41FA5}">
                      <a16:colId xmlns:a16="http://schemas.microsoft.com/office/drawing/2014/main" val="1969666356"/>
                    </a:ext>
                  </a:extLst>
                </a:gridCol>
                <a:gridCol w="1743721">
                  <a:extLst>
                    <a:ext uri="{9D8B030D-6E8A-4147-A177-3AD203B41FA5}">
                      <a16:colId xmlns:a16="http://schemas.microsoft.com/office/drawing/2014/main" val="1615646994"/>
                    </a:ext>
                  </a:extLst>
                </a:gridCol>
                <a:gridCol w="1273600">
                  <a:extLst>
                    <a:ext uri="{9D8B030D-6E8A-4147-A177-3AD203B41FA5}">
                      <a16:colId xmlns:a16="http://schemas.microsoft.com/office/drawing/2014/main" val="2086035278"/>
                    </a:ext>
                  </a:extLst>
                </a:gridCol>
              </a:tblGrid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Source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df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8585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Between Subjects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8931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Condition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2124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 Error</a:t>
                      </a:r>
                      <a:r>
                        <a:rPr lang="en-US" sz="1600" baseline="0" dirty="0" smtClean="0"/>
                        <a:t> Within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2.75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0167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r>
                        <a:rPr lang="en-US" sz="1600" baseline="0" dirty="0" smtClean="0"/>
                        <a:t> Within Subjects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7112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23.00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2824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0779" y="6148348"/>
            <a:ext cx="339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Now, h = </a:t>
            </a:r>
            <a:r>
              <a:rPr lang="en-US" i="1" dirty="0" smtClean="0"/>
              <a:t>condition</a:t>
            </a:r>
            <a:r>
              <a:rPr lang="en-US" dirty="0" smtClean="0"/>
              <a:t>, </a:t>
            </a:r>
            <a:r>
              <a:rPr lang="en-US" dirty="0" err="1" smtClean="0"/>
              <a:t>i</a:t>
            </a:r>
            <a:r>
              <a:rPr lang="en-US" dirty="0" smtClean="0"/>
              <a:t> = </a:t>
            </a:r>
            <a:r>
              <a:rPr lang="en-US" i="1" dirty="0" smtClean="0"/>
              <a:t>participant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570779" y="1544128"/>
          <a:ext cx="5553976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494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1481756196"/>
                    </a:ext>
                  </a:extLst>
                </a:gridCol>
              </a:tblGrid>
              <a:tr h="326565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Conditions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Participant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</a:t>
                      </a:r>
                      <a:r>
                        <a:rPr lang="en-US" sz="1600" b="1" baseline="0" dirty="0" smtClean="0">
                          <a:solidFill>
                            <a:schemeClr val="bg1"/>
                          </a:solidFill>
                        </a:rPr>
                        <a:t> Absent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 Present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1" dirty="0" smtClean="0">
                          <a:solidFill>
                            <a:schemeClr val="bg1"/>
                          </a:solidFill>
                        </a:rPr>
                        <a:t>Participant Average</a:t>
                      </a:r>
                      <a:endParaRPr lang="en-US" sz="1600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2864701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79932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710149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335654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354038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600250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6.375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7.125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2356249" y="2469121"/>
            <a:ext cx="661012" cy="266105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674198" y="4029729"/>
                <a:ext cx="2764218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E709C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solidFill>
                                            <a:srgbClr val="E709C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E709C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E709C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rgbClr val="E709C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solidFill>
                                                    <a:srgbClr val="E709C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rgbClr val="E709C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E709C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198" y="4029729"/>
                <a:ext cx="2764218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9306809" y="402972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15" name="Rounded Rectangle 14"/>
          <p:cNvSpPr/>
          <p:nvPr/>
        </p:nvSpPr>
        <p:spPr>
          <a:xfrm>
            <a:off x="3678273" y="2472295"/>
            <a:ext cx="661012" cy="266105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5074439" y="2474787"/>
            <a:ext cx="681901" cy="2655387"/>
          </a:xfrm>
          <a:prstGeom prst="roundRect">
            <a:avLst/>
          </a:prstGeom>
          <a:noFill/>
          <a:ln w="28575">
            <a:solidFill>
              <a:srgbClr val="E709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674198" y="4990714"/>
                <a:ext cx="1986890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𝑑𝑖𝑓𝑓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𝑑𝑖𝑓𝑓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198" y="4990714"/>
                <a:ext cx="1986890" cy="6707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8537518" y="495919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94006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crossed example.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6676844" y="1544128"/>
          <a:ext cx="523591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590">
                  <a:extLst>
                    <a:ext uri="{9D8B030D-6E8A-4147-A177-3AD203B41FA5}">
                      <a16:colId xmlns:a16="http://schemas.microsoft.com/office/drawing/2014/main" val="1969666356"/>
                    </a:ext>
                  </a:extLst>
                </a:gridCol>
                <a:gridCol w="1743721">
                  <a:extLst>
                    <a:ext uri="{9D8B030D-6E8A-4147-A177-3AD203B41FA5}">
                      <a16:colId xmlns:a16="http://schemas.microsoft.com/office/drawing/2014/main" val="1615646994"/>
                    </a:ext>
                  </a:extLst>
                </a:gridCol>
                <a:gridCol w="1273600">
                  <a:extLst>
                    <a:ext uri="{9D8B030D-6E8A-4147-A177-3AD203B41FA5}">
                      <a16:colId xmlns:a16="http://schemas.microsoft.com/office/drawing/2014/main" val="2086035278"/>
                    </a:ext>
                  </a:extLst>
                </a:gridCol>
              </a:tblGrid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Source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df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8585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Between Subjects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8931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Condition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2.25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2124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 Error</a:t>
                      </a:r>
                      <a:r>
                        <a:rPr lang="en-US" sz="1600" baseline="0" dirty="0" smtClean="0"/>
                        <a:t> Within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2.75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0167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r>
                        <a:rPr lang="en-US" sz="1600" baseline="0" dirty="0" smtClean="0"/>
                        <a:t> Within Subjects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7112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23.00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2824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0779" y="6148348"/>
            <a:ext cx="339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Now, h = </a:t>
            </a:r>
            <a:r>
              <a:rPr lang="en-US" i="1" dirty="0" smtClean="0"/>
              <a:t>condition</a:t>
            </a:r>
            <a:r>
              <a:rPr lang="en-US" dirty="0" smtClean="0"/>
              <a:t>, </a:t>
            </a:r>
            <a:r>
              <a:rPr lang="en-US" dirty="0" err="1" smtClean="0"/>
              <a:t>i</a:t>
            </a:r>
            <a:r>
              <a:rPr lang="en-US" dirty="0" smtClean="0"/>
              <a:t> = </a:t>
            </a:r>
            <a:r>
              <a:rPr lang="en-US" i="1" dirty="0" smtClean="0"/>
              <a:t>participant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570779" y="1544128"/>
          <a:ext cx="5553976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494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1481756196"/>
                    </a:ext>
                  </a:extLst>
                </a:gridCol>
              </a:tblGrid>
              <a:tr h="326565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Conditions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Participant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</a:t>
                      </a:r>
                      <a:r>
                        <a:rPr lang="en-US" sz="1600" b="1" baseline="0" dirty="0" smtClean="0">
                          <a:solidFill>
                            <a:schemeClr val="bg1"/>
                          </a:solidFill>
                        </a:rPr>
                        <a:t> Absent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 Present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1" dirty="0" smtClean="0">
                          <a:solidFill>
                            <a:schemeClr val="bg1"/>
                          </a:solidFill>
                        </a:rPr>
                        <a:t>Participant Average</a:t>
                      </a:r>
                      <a:endParaRPr lang="en-US" sz="1600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2864701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79932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710149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335654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354038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600250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6.375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7.125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2356249" y="2469121"/>
            <a:ext cx="661012" cy="266105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674198" y="4029729"/>
                <a:ext cx="2543581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E709C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solidFill>
                                                <a:srgbClr val="E709C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E709C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E709C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acc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̿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E709C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solidFill>
                                                <a:srgbClr val="E709C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E709C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E709C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198" y="4029729"/>
                <a:ext cx="2543581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9086172" y="389122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  <p:sp>
        <p:nvSpPr>
          <p:cNvPr id="15" name="Rounded Rectangle 14"/>
          <p:cNvSpPr/>
          <p:nvPr/>
        </p:nvSpPr>
        <p:spPr>
          <a:xfrm>
            <a:off x="3678273" y="2472295"/>
            <a:ext cx="661012" cy="266105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5074439" y="2474787"/>
            <a:ext cx="681901" cy="2655387"/>
          </a:xfrm>
          <a:prstGeom prst="roundRect">
            <a:avLst/>
          </a:prstGeom>
          <a:noFill/>
          <a:ln w="28575">
            <a:solidFill>
              <a:srgbClr val="E709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674198" y="4990714"/>
                <a:ext cx="1911614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𝑑𝑖𝑓𝑓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̿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𝑑𝑖𝑓𝑓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198" y="4990714"/>
                <a:ext cx="1911614" cy="6707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8537518" y="495919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865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Non-independence in a crossed example.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6676844" y="1544128"/>
          <a:ext cx="523591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590">
                  <a:extLst>
                    <a:ext uri="{9D8B030D-6E8A-4147-A177-3AD203B41FA5}">
                      <a16:colId xmlns:a16="http://schemas.microsoft.com/office/drawing/2014/main" val="1969666356"/>
                    </a:ext>
                  </a:extLst>
                </a:gridCol>
                <a:gridCol w="1743721">
                  <a:extLst>
                    <a:ext uri="{9D8B030D-6E8A-4147-A177-3AD203B41FA5}">
                      <a16:colId xmlns:a16="http://schemas.microsoft.com/office/drawing/2014/main" val="1615646994"/>
                    </a:ext>
                  </a:extLst>
                </a:gridCol>
                <a:gridCol w="1273600">
                  <a:extLst>
                    <a:ext uri="{9D8B030D-6E8A-4147-A177-3AD203B41FA5}">
                      <a16:colId xmlns:a16="http://schemas.microsoft.com/office/drawing/2014/main" val="2086035278"/>
                    </a:ext>
                  </a:extLst>
                </a:gridCol>
              </a:tblGrid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Source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df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88585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 Between Subjects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8931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Condition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2.25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22124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-- Error</a:t>
                      </a:r>
                      <a:r>
                        <a:rPr lang="en-US" sz="1600" baseline="0" dirty="0" smtClean="0"/>
                        <a:t> Within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2.75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0167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r>
                        <a:rPr lang="en-US" sz="1600" baseline="0" dirty="0" smtClean="0"/>
                        <a:t> Within Subjects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471128"/>
                  </a:ext>
                </a:extLst>
              </a:tr>
              <a:tr h="3126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23.00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12824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0779" y="6148348"/>
            <a:ext cx="339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Now, h = </a:t>
            </a:r>
            <a:r>
              <a:rPr lang="en-US" i="1" dirty="0" smtClean="0"/>
              <a:t>condition</a:t>
            </a:r>
            <a:r>
              <a:rPr lang="en-US" dirty="0" smtClean="0"/>
              <a:t>, </a:t>
            </a:r>
            <a:r>
              <a:rPr lang="en-US" dirty="0" err="1" smtClean="0"/>
              <a:t>i</a:t>
            </a:r>
            <a:r>
              <a:rPr lang="en-US" dirty="0" smtClean="0"/>
              <a:t> = </a:t>
            </a:r>
            <a:r>
              <a:rPr lang="en-US" i="1" dirty="0" smtClean="0"/>
              <a:t>participant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570779" y="1544128"/>
          <a:ext cx="5553976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494">
                  <a:extLst>
                    <a:ext uri="{9D8B030D-6E8A-4147-A177-3AD203B41FA5}">
                      <a16:colId xmlns:a16="http://schemas.microsoft.com/office/drawing/2014/main" val="27676538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7697188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3905305623"/>
                    </a:ext>
                  </a:extLst>
                </a:gridCol>
                <a:gridCol w="1388494">
                  <a:extLst>
                    <a:ext uri="{9D8B030D-6E8A-4147-A177-3AD203B41FA5}">
                      <a16:colId xmlns:a16="http://schemas.microsoft.com/office/drawing/2014/main" val="1481756196"/>
                    </a:ext>
                  </a:extLst>
                </a:gridCol>
              </a:tblGrid>
              <a:tr h="326565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Conditions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0626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Participant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</a:t>
                      </a:r>
                      <a:r>
                        <a:rPr lang="en-US" sz="1600" b="1" baseline="0" dirty="0" smtClean="0">
                          <a:solidFill>
                            <a:schemeClr val="bg1"/>
                          </a:solidFill>
                        </a:rPr>
                        <a:t> Absent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Experimenter Present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1" dirty="0" smtClean="0">
                          <a:solidFill>
                            <a:schemeClr val="bg1"/>
                          </a:solidFill>
                        </a:rPr>
                        <a:t>Participant Average</a:t>
                      </a:r>
                      <a:endParaRPr lang="en-US" sz="1600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5036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2864701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7993295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710149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335654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354038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6002509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200791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Y</a:t>
                      </a:r>
                      <a:r>
                        <a:rPr lang="en-US" sz="1600" baseline="-25000" dirty="0" err="1" smtClean="0"/>
                        <a:t>hi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8079458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Condition Means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6.375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7.125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2614"/>
                  </a:ext>
                </a:extLst>
              </a:tr>
              <a:tr h="316717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Grand Mean</a:t>
                      </a:r>
                      <a:endParaRPr lang="en-US" sz="16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6.75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46515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676843" y="3955578"/>
            <a:ext cx="5235911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Our calculation of the MSR and MSE, and subsequently the </a:t>
            </a:r>
            <a:r>
              <a:rPr lang="en-US" dirty="0" err="1" smtClean="0"/>
              <a:t>F_observed</a:t>
            </a:r>
            <a:r>
              <a:rPr lang="en-US" dirty="0" smtClean="0"/>
              <a:t>, now relies on this SSE(A) with the between subjects variation removed.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6676844" y="2242360"/>
            <a:ext cx="5235911" cy="627331"/>
          </a:xfrm>
          <a:prstGeom prst="roundRect">
            <a:avLst/>
          </a:prstGeom>
          <a:noFill/>
          <a:ln w="28575">
            <a:solidFill>
              <a:srgbClr val="E709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1040</Words>
  <Application>Microsoft Office PowerPoint</Application>
  <PresentationFormat>Widescreen</PresentationFormat>
  <Paragraphs>561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Non-Independence in Crossed Designs</vt:lpstr>
      <vt:lpstr>Non-independence in a crossed example.</vt:lpstr>
      <vt:lpstr>Non-independence in a crossed example.</vt:lpstr>
      <vt:lpstr>Non-independence in a crossed example.</vt:lpstr>
      <vt:lpstr>Non-independence in a crossed example.</vt:lpstr>
      <vt:lpstr>Non-independence in a crossed example.</vt:lpstr>
      <vt:lpstr>Non-independence in a crossed example.</vt:lpstr>
      <vt:lpstr>Non-independence in a crossed example.</vt:lpstr>
      <vt:lpstr>Non-independence in a crossed example.</vt:lpstr>
      <vt:lpstr>Non-independence in a crossed example.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35</cp:revision>
  <dcterms:created xsi:type="dcterms:W3CDTF">2019-02-09T14:44:07Z</dcterms:created>
  <dcterms:modified xsi:type="dcterms:W3CDTF">2020-03-22T21:14:36Z</dcterms:modified>
</cp:coreProperties>
</file>